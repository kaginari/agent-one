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En vingt minutes : ce qu'est vraiment un agent IA au-delà du modèle, en quoi les harness actuels diffèrent, comment certains apprennent désormais de leurs propres exécutions — et Agent-One, le harness que nous avons construit, en direct sur nos modèles vLLM derrière notre gateway. Une idée à garder : le modèle apporte l'intelligence, le harness apporte la fiabilité.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parties. D'abord, du modèle de langage seul à l'agent, et les couches qui composent tout agent. Ensuite, les harness dont vous avez entendu parler — Claude Code, Codex, OpenCode, Pi — et ce qui les distingue vraiment. Troisièmement, l'idée la plus récente : des harness qui apprennent de leurs propres exécutions, avec Hermes et Prime Agent. Enfin, Agent-One : son modèle de sécurité, ce qu'on voit pendant qu'il travaille, sa configuration en entreprise — et une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Partons du modèle seul. Un grand modèle de langage est une fonction : du texte en entrée, du texte en sortie. Il ne peut ni lire votre dépôt, ni lancer un test, ni appeler une API — il n'a pas de mains. Il ne se souvient de rien d'un appel à l'autre. Ses connaissances s'arrêtent à sa date d'entraînement. Et il ne peut pas vérifier son propre travail : il affirme une erreur avec la même assurance qu'une bonne réponse. Tout ce que nous verrons sert à combler ces quatre manques.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agent met le modèle dans une boucle, avec des outils. Il observe — lit des fichiers, lance des commandes ; il réfléchit — le modèle choisit l'étape suivante ; il agit — appelle un outil ; il vérifie — lit le résultat, et recommence jusqu'à la fin de la tâche. Ça, c'est l'agent. Le harness, c'est tout ce qui entoure le modèle pour rendre cette boucle utile et sûre : quels outils, quel contexte, ce qu'il peut faire sans demander, comment il se souvient, comment on le suit. Même modèle, harness différent : des résultats très différents.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Construisons-le, une enveloppe à la fois. Au centre, le modèle seul : une intelligence en vase clos. Brillant dans sa boîte, mais la boîte est fermée : du texte en entrée, du texte en sortie, un savoir figé, pas de mains, pas de mémoire. Tout ce qui l'entoure désormais, c'est nous qui l'ajoutons.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enveloppe : un prompt système et des outils. Le prompt dit au modèle qui il est et quelles sont les règles ; les outils lui donnent des mains. Il peut lire un fichier, lancer une commande. C'est un agent — mais d'un seul coup : il agit une fois, et personne ne vérifie le résultat.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enveloppe : le harness. Une boucle, pour que l'agent continue jusqu'au bout et vérifie ses résultats. La gestion du contexte et la mémoire, pour que le travail long tienne et que le savoir survive à la session. Des permissions et une sandbox, pour qu'il ne fasse que ce qui est permis. Claude Code, Codex, OpenCode vivent à ce niveau.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dernière enveloppe, c'est Agent-One. Autour d'un harness complet, il ajoute ce qu'il faut à une entreprise : une garde et un gate qui appliquent les règles dans le code, pas dans le prompt ; des aperçus — dry-run, diffs, tableau de bord en direct — pour voir avant et pendant ; une équipe de sous-agents et de rôles sur plusieurs modèles ; votre gateway, votre registre, vos conteneurs ; et un espace de travail qui se souvient et apprend de chaque exécution. Même modèle au centre — une fiabilité très différente au bord.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agent, quel que soit son éditeur, est fait des mêmes couches. En bas, les modèles — un fournisseur, ou nos propres modèles derrière une gateway. Au-dessus, la boucle qui les pilote, et les outils qu'elle peut appeler, y compris les serveurs MCP. Puis le contexte et la mémoire : ce que le modèle voit, et ce qui survit à la session. Puis la sécurité : permissions, sandbox, garde-fous, validations. Enfin ce que l'on voit : observabilité et interface. Gardez ce schéma : j'y placerai chaque harness, et Agent-One.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paysage bouge chaque mois ; voici les harness que vous croiserez. Les CLI des éditeurs de modèles — Claude Code d'Anthropic, Codex d'OpenAI, Gemini CLI de Google — soignés et optimisés pour leurs propres modèles. Les ouverts et agnostiques — OpenCode, Pi, Aider, Goose de Block — fonctionnent avec n'importe quel fournisseur, y compris des modèles auto-hébergés. Les agents d'IDE — Cursor, Cline — vivent dans l'éditeur. Sous les logos, tous implémentent les mêmes couches ; ils diffèrent par qui choisit le modèle, où ils tournent, et ce qu'ils permettent d'imposer.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qui les distingue vraiment ? Quatre questions à poser à tout harness avant de l'adopter. Qui choisit le modèle — l'éditeur, ou vous, y compris vos modèles vLLM ? Où tourne-t-il — votre terminal, l'éditeur, le cloud de l'éditeur ? Jusqu'où peut-on l'étendre — skills, serveurs MCP, hooks, plugins ? Et la question qui compte le plus pour les ops : les règles sont-elles appliquées dans le code, ou seulement écrites dans un prompt que le modèle peut ignorer ? La plupart demandent avant une commande risquée ; très peu garantissent qu'une règle est respectée.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L'idée la plus récente : des harness qui s'améliorent à partir de leurs propres exécutions, sans réentraîner le modèle. Quatre niveaux. Un : se souvenir — notes et mémoire qui survivent à la session. Deux : écrire des procédures — l'agent transforme un travail répété en skill réutilisable. Trois : vérifier et réessayer — un vérificateur, tests ou validation, renvoie l'échec à l'agent au lieu de s'arrêter. Quatre : entraîner — les exécutions deviennent des données d'entraînement. Chaque niveau est plus puissant et exige plus de garde-fous : un harness qui se modifie ne doit pas pouvoir tricher avec ses propres contrôles.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Hermes Agent, de Nous Research, est construit autour d'une boucle d'apprentissage. Chaque session va dans une base interrogeable : l'agent retrouve ce qui a réellement été dit il y a des semaines — pas un résumé. Il écrit et affine ses propres skills à partir des travaux répétés, avec une option de validation humaine. Les skills se chargent par niveaux : des centaines ne coûtent presque rien tant qu'elles ne servent pas. Et ses exécutions s'exportent comme trajectoires pour entraîner des modèles par apprentissage par renforcement. La leçon : mémoire et skills, c'est là qu'un harness apprend.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 Agent, de Prime Intellect, met l'apprentissage dans la boucle elle-même. Sa validation autonome lance un contrôle avant qu'une session puisse se terminer ; en cas d'échec, le résultat revient à l'agent pour un nouvel essai — c'est le contrôle, pas le modèle, qui décide que c'est fini. Les sessions sont des fichiers à branches : on peut bifurquer et tester deux plans depuis le même point. Des « heartbeats » injectent des messages planifiés, par exemple pour surveiller un sous-agent. Les sous-agents persistants gardent leur mémoire. Et le harness peut affiner sa propre configuration. La leçon : vérificateurs et branches rendent un agent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Agent-One, c'est notre harness : un seul binaire Go, rien à installer à côté. Sa promesse est simple — les règles sont appliquées dans le code, pas écrites dans un prompt que le modèle peut ignorer. Un orchestrateur délègue à des sous-agents propriétaires de parties du code ; trois rôles se partagent le travail — un analyste lit, un juge valide, un rédacteur écrit — chacun sur son modèle, avec un repli. Il parle à tout endpoint compatible OpenAI, exactement ce qu'est notre gateway devant vLLM. Et il a une interface terminal du niveau de Claude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Agent-One sur le même schéma. Modèles : notre gateway, les modèles déclarés dans un registre, chaque rôle avec un repli. La boucle : percevoir, rappeler, planifier, agir, vérifier, consigner — chaque étape journalisée. Outils : intégrés, serveurs MCP, outils personnalisés, et un registre que l'agent interroge au lieu de tout charger. Mémoire : des notes et un index, et quand le contexte est plein, il est vidé vers la mémoire par référence, pas résumé. Sécurité : un garde-fou, l'approbation humaine, une validation, la sandbox ou un conteneur. Interfaces et observabilité : le terminal, un tableau de bord, du JSON pour la CI, l'usage et le coût.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garde-fous, en quatre couches. Le guard refuse le catastrophique avant tout — effacer un disque, supprimer le home, forcer un push, supprimer un dépôt, lire un gestionnaire de mots de passe ; aucune approbation ne peut le lancer, et la même liste protège Claude Code et OpenCode sur la même machine. L'approbation humaine classe chaque commande — lecture, écriture, sortante, destructrice — et vous demande pour les deux dernières. La validation contrôle chaque changement avant la fin du tour : le bon propriétaire, les contrôles passent, les tests n'ont pas été affaiblis, la doc a suivi — et un échec revient une fois à l'agent. Autour : une sandbox ou un conteneur. Un chiffre : sur 151 commandes réelles, 37 dangereuses passaient notre premier classifieur. Corrigé, et testé pour toujours.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Voir avant et pendant qu'il agit — la deuxième demande des équipes ops. Le dry-run : l'agent planifie et dit ce qu'il lancerait et ce qu'il demanderait, sans rien exécuter. Chaque modification affiche son diff, dans les couleurs du code, avant d'être appliquée. On voit la réflexion du modèle à mesure qu'elle arrive. Et d'une touche, on suit chaque agent : l'orchestrateur et chaque sous-agent, sa réflexion et ses étapes, en direct. Le tableau de bord montre tout l'espace de travail : qui possède quoi, sous forme de graphe, et ce que chaque modèle a coûté.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que nous avons repris des harness auto-apprenants, avec des garde-fous. De Prime : la validation qui renvoie l'échec au lieu de s'arrêter — et un mode « objectif » qui travaille jusqu'à ce qu'une commande choisie passe ; c'est le harness qui la lance, le modèle ne peut ni l'éviter ni la modifier. Contre la triche : la validation utilise les contrôles tels qu'ils étaient avant le tour, et refuse un tour qui supprime ou désactive des tests. D'Hermes : une mémoire rappelée, pas résumée ; ce que l'agent savait sans l'écrire est remonté et classé. Une note de passation relie une session à la suivante. Et deux relecteurs sur deux modèles différents, fusionnés en une liste que vous validez.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le harness mesure et soigne désormais sa propre équipe. Chaque exécution entre dans un registre de valeur — réussite, échec ou neutre — et chaque rang est noté sur son propre travail : un zone worker sur les changements qui aboutissent, un domain owner sur des verdicts qui tiennent, un coordinateur sur les plans qui aboutissent — affiché en jauges dans le terminal et le tableau de bord. Quand les exécutions d'un agent échouent encore et encore, sa tension monte : à cinq, son responsable doit répondre — réécrire la consigne, découper le travail ou escalader ; après trois réponses, cela remonte jusqu'à vous ; à sept, la zone elle-même est découpée ou retirée. Un agent sous tension dont les notes débordent évolue — scission, mutation ou renaissance — préparé et prouvé avant d'être appliqué. Et la forge transforme ce qu'une exécution a prouvé en skill, que vous approuvez.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configuration en entreprise. Elle est en YAML, par couches — globale, projet, locale, environnement, options — et peut être découpée en un fichier par partie, pour que chaque équipe possède le sien. Le registre dit d'où viennent les choses : les modèles servis par la gateway, les outils que l'agent peut trouver, notre Artifactory privé pour npm, pip et Go — chacun s'y authentifie comme il lit un identifiant, et avec la politique private-only toute commande qui va chercher des paquets ailleurs est refusée — et l'image du conteneur. Les secrets ne sont jamais que nommés : la configuration contient le nom de la variable, jamais la clé. Et une commande montre chaque valeur avec le fichier et la ligne d'où elle vient.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démo, sur nos propres modèles. Agent-One parle à notre gateway, devant vLLM qui sert trois modèles : muse-glimmer, rapide, lit ; glm-5-3 valide ; kimi-k3, le plus fort, écrit et pilote la session — chacun avec un repli d'une autre famille. Cinq étapes : status montre chaque modèle résolu depuis la configuration, avec son fichier. Puis une vraie tâche : on regarde la réflexion et les cartes d'outils. Un sous-agent prend une partie — ctrl+t pour le suivre. À la fin, le propriétaire du domaine valide et le verdict est consigné. Enfin, je lui demande de supprimer le répertoire home : le guard refuse, avant même de me demander.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idées à retenir. Un : la fiabilité vient du harness, pas seulement du modèle — le même modèle fait un travail très différent selon le harness. Deux : les règles importantes doivent être appliquées dans le code ; une règle dans un prompt est un vœu. Trois : l'étape suivante, ce sont des harness qui apprennent de leurs exécutions — mémoire, skills, vérificateurs — et cela ne marche que si le harness ne peut pas tricher avec ses propres contrôles. Agent-One, c'est là que nous mettons ces idées en œuvre, sur nos propres modèles. Merci —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A2B"/>
        </a:solidFill>
      </p:bgPr>
    </p:bg>
    <p:spTree>
      <p:nvGrpSpPr>
        <p:cNvPr id="1" name=""/>
        <p:cNvGrpSpPr/>
        <p:nvPr/>
      </p:nvGrpSpPr>
      <p:grpSpPr>
        <a:xfrm>
          <a:off x="0" y="0"/>
          <a:ext cx="0" cy="0"/>
          <a:chOff x="0" y="0"/>
          <a:chExt cx="0" cy="0"/>
        </a:xfrm>
      </p:grpSpPr>
      <p:pic>
        <p:nvPicPr>
          <p:cNvPr id="3" name="Image 0" descr="/home/monta/convention-jura/agent-one/portraits/orchestrator.png">    </p:cNvPr>
          <p:cNvPicPr>
            <a:picLocks noChangeAspect="1"/>
          </p:cNvPicPr>
          <p:nvPr/>
        </p:nvPicPr>
        <p:blipFill>
          <a:blip r:embed="rId1"/>
          <a:stretch>
            <a:fillRect/>
          </a:stretch>
        </p:blipFill>
        <p:spPr>
          <a:xfrm>
            <a:off x="548640" y="822960"/>
            <a:ext cx="1463040" cy="1463040"/>
          </a:xfrm>
          <a:prstGeom prst="rect">
            <a:avLst/>
          </a:prstGeom>
        </p:spPr>
      </p:pic>
      <p:sp>
        <p:nvSpPr>
          <p:cNvPr id="4" name="Text 0"/>
          <p:cNvSpPr txBox="1"/>
          <p:nvPr/>
        </p:nvSpPr>
        <p:spPr>
          <a:xfrm>
            <a:off x="548640" y="2560320"/>
            <a:ext cx="10972800" cy="1005840"/>
          </a:xfrm>
          <a:prstGeom prst="rect">
            <a:avLst/>
          </a:prstGeom>
          <a:noFill/>
          <a:ln/>
        </p:spPr>
        <p:txBody>
          <a:bodyPr wrap="square" lIns="0" tIns="0" rIns="0" bIns="0" rtlCol="0" anchor="ctr"/>
          <a:lstStyle/>
          <a:p>
            <a:pPr indent="0" marL="0">
              <a:buNone/>
            </a:pPr>
            <a:r>
              <a:rPr lang="en-US" sz="4800" b="1" dirty="0">
                <a:solidFill>
                  <a:srgbClr val="EEF3F9"/>
                </a:solidFill>
                <a:latin typeface="Cambria" pitchFamily="34" charset="0"/>
                <a:ea typeface="Cambria" pitchFamily="34" charset="-122"/>
                <a:cs typeface="Cambria" pitchFamily="34" charset="-120"/>
              </a:rPr>
              <a:t>Du LLM au harness</a:t>
            </a:r>
            <a:endParaRPr lang="en-US" sz="4800" dirty="0"/>
          </a:p>
        </p:txBody>
      </p:sp>
      <p:sp>
        <p:nvSpPr>
          <p:cNvPr id="5" name="Text 1"/>
          <p:cNvSpPr txBox="1"/>
          <p:nvPr/>
        </p:nvSpPr>
        <p:spPr>
          <a:xfrm>
            <a:off x="548640" y="3566160"/>
            <a:ext cx="10972800" cy="548640"/>
          </a:xfrm>
          <a:prstGeom prst="rect">
            <a:avLst/>
          </a:prstGeom>
          <a:noFill/>
          <a:ln/>
        </p:spPr>
        <p:txBody>
          <a:bodyPr wrap="square" lIns="0" tIns="0" rIns="0" bIns="0" rtlCol="0" anchor="ctr"/>
          <a:lstStyle/>
          <a:p>
            <a:pPr indent="0" marL="0">
              <a:buNone/>
            </a:pPr>
            <a:r>
              <a:rPr lang="en-US" sz="2200" dirty="0">
                <a:solidFill>
                  <a:srgbClr val="2BA3C7"/>
                </a:solidFill>
                <a:latin typeface="Calibri" pitchFamily="34" charset="0"/>
                <a:ea typeface="Calibri" pitchFamily="34" charset="-122"/>
                <a:cs typeface="Calibri" pitchFamily="34" charset="-120"/>
              </a:rPr>
              <a:t>…et Agent-One : des règles appliquées dans le code, sur nos propres modèles</a:t>
            </a:r>
            <a:endParaRPr lang="en-US" sz="2200" dirty="0"/>
          </a:p>
        </p:txBody>
      </p:sp>
      <p:sp>
        <p:nvSpPr>
          <p:cNvPr id="6" name="Text 2"/>
          <p:cNvSpPr txBox="1"/>
          <p:nvPr/>
        </p:nvSpPr>
        <p:spPr>
          <a:xfrm>
            <a:off x="548640" y="4206240"/>
            <a:ext cx="10972800" cy="365760"/>
          </a:xfrm>
          <a:prstGeom prst="rect">
            <a:avLst/>
          </a:prstGeom>
          <a:noFill/>
          <a:ln/>
        </p:spPr>
        <p:txBody>
          <a:bodyPr wrap="square" lIns="0" tIns="0" rIns="0" bIns="0" rtlCol="0" anchor="ctr"/>
          <a:lstStyle/>
          <a:p>
            <a:pPr indent="0" marL="0">
              <a:buNone/>
            </a:pPr>
            <a:r>
              <a:rPr lang="en-US" sz="1500" dirty="0">
                <a:solidFill>
                  <a:srgbClr val="8FA3B8"/>
                </a:solidFill>
                <a:latin typeface="Calibri" pitchFamily="34" charset="0"/>
                <a:ea typeface="Calibri" pitchFamily="34" charset="-122"/>
                <a:cs typeface="Calibri" pitchFamily="34" charset="-120"/>
              </a:rPr>
              <a:t>Agents · harness · auto-apprentissage · démo en direct sur vLLM</a:t>
            </a:r>
            <a:endParaRPr lang="en-US" sz="1500" dirty="0"/>
          </a:p>
        </p:txBody>
      </p:sp>
      <p:sp>
        <p:nvSpPr>
          <p:cNvPr id="7" name="Shape 3"/>
          <p:cNvSpPr/>
          <p:nvPr/>
        </p:nvSpPr>
        <p:spPr>
          <a:xfrm>
            <a:off x="548640" y="5120640"/>
            <a:ext cx="2926080" cy="384048"/>
          </a:xfrm>
          <a:prstGeom prst="roundRect">
            <a:avLst>
              <a:gd name="adj" fmla="val 50000"/>
            </a:avLst>
          </a:prstGeom>
          <a:solidFill>
            <a:srgbClr val="D4AF37"/>
          </a:solidFill>
          <a:ln w="12700">
            <a:solidFill>
              <a:srgbClr val="D4AF37"/>
            </a:solidFill>
            <a:prstDash val="solid"/>
          </a:ln>
        </p:spPr>
      </p:sp>
      <p:sp>
        <p:nvSpPr>
          <p:cNvPr id="8" name="Text 4"/>
          <p:cNvSpPr txBox="1"/>
          <p:nvPr/>
        </p:nvSpPr>
        <p:spPr>
          <a:xfrm>
            <a:off x="548640" y="5120640"/>
            <a:ext cx="2926080" cy="384048"/>
          </a:xfrm>
          <a:prstGeom prst="rect">
            <a:avLst/>
          </a:prstGeom>
          <a:noFill/>
          <a:ln/>
        </p:spPr>
        <p:txBody>
          <a:bodyPr wrap="square" lIns="0" tIns="0" rIns="0" bIns="0" rtlCol="0" anchor="ctr"/>
          <a:lstStyle/>
          <a:p>
            <a:pPr algn="ctr" indent="0" marL="0">
              <a:buNone/>
            </a:pPr>
            <a:r>
              <a:rPr lang="en-US" sz="1300" b="1" dirty="0">
                <a:solidFill>
                  <a:srgbClr val="0B1A2B"/>
                </a:solidFill>
                <a:latin typeface="Calibri" pitchFamily="34" charset="0"/>
                <a:ea typeface="Calibri" pitchFamily="34" charset="-122"/>
                <a:cs typeface="Calibri" pitchFamily="34" charset="-120"/>
              </a:rPr>
              <a:t>20 minutes · IA, ops, dev</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PROGRAMME</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Quatre étapes, vingt minutes</a:t>
            </a:r>
            <a:endParaRPr lang="en-US" sz="3400" dirty="0"/>
          </a:p>
        </p:txBody>
      </p:sp>
      <p:sp>
        <p:nvSpPr>
          <p:cNvPr id="7" name="Shape 4"/>
          <p:cNvSpPr/>
          <p:nvPr/>
        </p:nvSpPr>
        <p:spPr>
          <a:xfrm>
            <a:off x="548640" y="1737360"/>
            <a:ext cx="2651760" cy="3291840"/>
          </a:xfrm>
          <a:prstGeom prst="roundRect">
            <a:avLst>
              <a:gd name="adj" fmla="val 4138"/>
            </a:avLst>
          </a:prstGeom>
          <a:solidFill>
            <a:srgbClr val="13263B"/>
          </a:solidFill>
          <a:ln w="12700">
            <a:solidFill>
              <a:srgbClr val="13263B"/>
            </a:solidFill>
            <a:prstDash val="solid"/>
          </a:ln>
        </p:spPr>
      </p:sp>
      <p:sp>
        <p:nvSpPr>
          <p:cNvPr id="8" name="Shape 5"/>
          <p:cNvSpPr/>
          <p:nvPr/>
        </p:nvSpPr>
        <p:spPr>
          <a:xfrm>
            <a:off x="731520" y="1920240"/>
            <a:ext cx="411480" cy="411480"/>
          </a:xfrm>
          <a:prstGeom prst="ellipse">
            <a:avLst/>
          </a:prstGeom>
          <a:solidFill>
            <a:srgbClr val="2BA3C7"/>
          </a:solidFill>
          <a:ln w="12700">
            <a:solidFill>
              <a:srgbClr val="2BA3C7"/>
            </a:solidFill>
            <a:prstDash val="solid"/>
          </a:ln>
        </p:spPr>
      </p:sp>
      <p:sp>
        <p:nvSpPr>
          <p:cNvPr id="9" name="Text 6"/>
          <p:cNvSpPr txBox="1"/>
          <p:nvPr/>
        </p:nvSpPr>
        <p:spPr>
          <a:xfrm>
            <a:off x="731520"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1901952"/>
            <a:ext cx="173736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Du LLM à l'agent</a:t>
            </a:r>
            <a:endParaRPr lang="en-US" sz="1700" dirty="0"/>
          </a:p>
        </p:txBody>
      </p:sp>
      <p:sp>
        <p:nvSpPr>
          <p:cNvPr id="11" name="Text 8"/>
          <p:cNvSpPr txBox="1"/>
          <p:nvPr/>
        </p:nvSpPr>
        <p:spPr>
          <a:xfrm>
            <a:off x="777240" y="2423160"/>
            <a:ext cx="2194560" cy="2468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la boucle, les couches</a:t>
            </a:r>
            <a:endParaRPr lang="en-US" sz="1400" dirty="0"/>
          </a:p>
        </p:txBody>
      </p:sp>
      <p:sp>
        <p:nvSpPr>
          <p:cNvPr id="12" name="Text 9"/>
          <p:cNvSpPr txBox="1"/>
          <p:nvPr/>
        </p:nvSpPr>
        <p:spPr>
          <a:xfrm>
            <a:off x="777240" y="4206240"/>
            <a:ext cx="2194560" cy="640080"/>
          </a:xfrm>
          <a:prstGeom prst="rect">
            <a:avLst/>
          </a:prstGeom>
          <a:noFill/>
          <a:ln/>
        </p:spPr>
        <p:txBody>
          <a:bodyPr wrap="square" lIns="0" tIns="0" rIns="0" bIns="0" rtlCol="0" anchor="ctr"/>
          <a:lstStyle/>
          <a:p>
            <a:pPr indent="0" marL="0">
              <a:buNone/>
            </a:pPr>
            <a:r>
              <a:rPr lang="en-US" sz="3600" b="1" dirty="0">
                <a:solidFill>
                  <a:srgbClr val="2BA3C7"/>
                </a:solidFill>
                <a:latin typeface="Cambria" pitchFamily="34" charset="0"/>
                <a:ea typeface="Cambria" pitchFamily="34" charset="-122"/>
                <a:cs typeface="Cambria" pitchFamily="34" charset="-120"/>
              </a:rPr>
              <a:t>3'</a:t>
            </a:r>
            <a:endParaRPr lang="en-US" sz="3600" dirty="0"/>
          </a:p>
        </p:txBody>
      </p:sp>
      <p:sp>
        <p:nvSpPr>
          <p:cNvPr id="13" name="Shape 10"/>
          <p:cNvSpPr/>
          <p:nvPr/>
        </p:nvSpPr>
        <p:spPr>
          <a:xfrm>
            <a:off x="3364992" y="1737360"/>
            <a:ext cx="2651760" cy="3291840"/>
          </a:xfrm>
          <a:prstGeom prst="roundRect">
            <a:avLst>
              <a:gd name="adj" fmla="val 4138"/>
            </a:avLst>
          </a:prstGeom>
          <a:solidFill>
            <a:srgbClr val="13263B"/>
          </a:solidFill>
          <a:ln w="12700">
            <a:solidFill>
              <a:srgbClr val="13263B"/>
            </a:solidFill>
            <a:prstDash val="solid"/>
          </a:ln>
        </p:spPr>
      </p:sp>
      <p:sp>
        <p:nvSpPr>
          <p:cNvPr id="14" name="Shape 11"/>
          <p:cNvSpPr/>
          <p:nvPr/>
        </p:nvSpPr>
        <p:spPr>
          <a:xfrm>
            <a:off x="3547872" y="1920240"/>
            <a:ext cx="411480" cy="411480"/>
          </a:xfrm>
          <a:prstGeom prst="ellipse">
            <a:avLst/>
          </a:prstGeom>
          <a:solidFill>
            <a:srgbClr val="8E72E6"/>
          </a:solidFill>
          <a:ln w="12700">
            <a:solidFill>
              <a:srgbClr val="8E72E6"/>
            </a:solidFill>
            <a:prstDash val="solid"/>
          </a:ln>
        </p:spPr>
      </p:sp>
      <p:sp>
        <p:nvSpPr>
          <p:cNvPr id="15" name="Text 12"/>
          <p:cNvSpPr txBox="1"/>
          <p:nvPr/>
        </p:nvSpPr>
        <p:spPr>
          <a:xfrm>
            <a:off x="3547872"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6" name="Text 13"/>
          <p:cNvSpPr txBox="1"/>
          <p:nvPr/>
        </p:nvSpPr>
        <p:spPr>
          <a:xfrm>
            <a:off x="4096512" y="1901952"/>
            <a:ext cx="173736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Les harness aujourd'hui</a:t>
            </a:r>
            <a:endParaRPr lang="en-US" sz="1700" dirty="0"/>
          </a:p>
        </p:txBody>
      </p:sp>
      <p:sp>
        <p:nvSpPr>
          <p:cNvPr id="17" name="Text 14"/>
          <p:cNvSpPr txBox="1"/>
          <p:nvPr/>
        </p:nvSpPr>
        <p:spPr>
          <a:xfrm>
            <a:off x="3593592" y="2423160"/>
            <a:ext cx="2194560" cy="2468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Claude Code, Codex, OpenCode, Pi…</a:t>
            </a:r>
            <a:endParaRPr lang="en-US" sz="1400" dirty="0"/>
          </a:p>
        </p:txBody>
      </p:sp>
      <p:sp>
        <p:nvSpPr>
          <p:cNvPr id="18" name="Text 15"/>
          <p:cNvSpPr txBox="1"/>
          <p:nvPr/>
        </p:nvSpPr>
        <p:spPr>
          <a:xfrm>
            <a:off x="3593592" y="4206240"/>
            <a:ext cx="2194560" cy="640080"/>
          </a:xfrm>
          <a:prstGeom prst="rect">
            <a:avLst/>
          </a:prstGeom>
          <a:noFill/>
          <a:ln/>
        </p:spPr>
        <p:txBody>
          <a:bodyPr wrap="square" lIns="0" tIns="0" rIns="0" bIns="0" rtlCol="0" anchor="ctr"/>
          <a:lstStyle/>
          <a:p>
            <a:pPr indent="0" marL="0">
              <a:buNone/>
            </a:pPr>
            <a:r>
              <a:rPr lang="en-US" sz="3600" b="1" dirty="0">
                <a:solidFill>
                  <a:srgbClr val="8E72E6"/>
                </a:solidFill>
                <a:latin typeface="Cambria" pitchFamily="34" charset="0"/>
                <a:ea typeface="Cambria" pitchFamily="34" charset="-122"/>
                <a:cs typeface="Cambria" pitchFamily="34" charset="-120"/>
              </a:rPr>
              <a:t>4'</a:t>
            </a:r>
            <a:endParaRPr lang="en-US" sz="3600" dirty="0"/>
          </a:p>
        </p:txBody>
      </p:sp>
      <p:sp>
        <p:nvSpPr>
          <p:cNvPr id="19" name="Shape 16"/>
          <p:cNvSpPr/>
          <p:nvPr/>
        </p:nvSpPr>
        <p:spPr>
          <a:xfrm>
            <a:off x="6181344" y="1737360"/>
            <a:ext cx="2651760" cy="3291840"/>
          </a:xfrm>
          <a:prstGeom prst="roundRect">
            <a:avLst>
              <a:gd name="adj" fmla="val 4138"/>
            </a:avLst>
          </a:prstGeom>
          <a:solidFill>
            <a:srgbClr val="13263B"/>
          </a:solidFill>
          <a:ln w="12700">
            <a:solidFill>
              <a:srgbClr val="13263B"/>
            </a:solidFill>
            <a:prstDash val="solid"/>
          </a:ln>
        </p:spPr>
      </p:sp>
      <p:sp>
        <p:nvSpPr>
          <p:cNvPr id="20" name="Shape 17"/>
          <p:cNvSpPr/>
          <p:nvPr/>
        </p:nvSpPr>
        <p:spPr>
          <a:xfrm>
            <a:off x="6364224" y="1920240"/>
            <a:ext cx="411480" cy="411480"/>
          </a:xfrm>
          <a:prstGeom prst="ellipse">
            <a:avLst/>
          </a:prstGeom>
          <a:solidFill>
            <a:srgbClr val="D4AF37"/>
          </a:solidFill>
          <a:ln w="12700">
            <a:solidFill>
              <a:srgbClr val="D4AF37"/>
            </a:solidFill>
            <a:prstDash val="solid"/>
          </a:ln>
        </p:spPr>
      </p:sp>
      <p:sp>
        <p:nvSpPr>
          <p:cNvPr id="21" name="Text 18"/>
          <p:cNvSpPr txBox="1"/>
          <p:nvPr/>
        </p:nvSpPr>
        <p:spPr>
          <a:xfrm>
            <a:off x="6364224"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2" name="Text 19"/>
          <p:cNvSpPr txBox="1"/>
          <p:nvPr/>
        </p:nvSpPr>
        <p:spPr>
          <a:xfrm>
            <a:off x="6912864" y="1901952"/>
            <a:ext cx="173736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Harness auto-apprenants</a:t>
            </a:r>
            <a:endParaRPr lang="en-US" sz="1700" dirty="0"/>
          </a:p>
        </p:txBody>
      </p:sp>
      <p:sp>
        <p:nvSpPr>
          <p:cNvPr id="23" name="Text 20"/>
          <p:cNvSpPr txBox="1"/>
          <p:nvPr/>
        </p:nvSpPr>
        <p:spPr>
          <a:xfrm>
            <a:off x="6409944" y="2423160"/>
            <a:ext cx="2194560" cy="2468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Hermes, Prime Agent</a:t>
            </a:r>
            <a:endParaRPr lang="en-US" sz="1400" dirty="0"/>
          </a:p>
        </p:txBody>
      </p:sp>
      <p:sp>
        <p:nvSpPr>
          <p:cNvPr id="24" name="Text 21"/>
          <p:cNvSpPr txBox="1"/>
          <p:nvPr/>
        </p:nvSpPr>
        <p:spPr>
          <a:xfrm>
            <a:off x="6409944" y="4206240"/>
            <a:ext cx="2194560" cy="640080"/>
          </a:xfrm>
          <a:prstGeom prst="rect">
            <a:avLst/>
          </a:prstGeom>
          <a:noFill/>
          <a:ln/>
        </p:spPr>
        <p:txBody>
          <a:bodyPr wrap="square" lIns="0" tIns="0" rIns="0" bIns="0" rtlCol="0" anchor="ctr"/>
          <a:lstStyle/>
          <a:p>
            <a:pPr indent="0" marL="0">
              <a:buNone/>
            </a:pPr>
            <a:r>
              <a:rPr lang="en-US" sz="3600" b="1" dirty="0">
                <a:solidFill>
                  <a:srgbClr val="D4AF37"/>
                </a:solidFill>
                <a:latin typeface="Cambria" pitchFamily="34" charset="0"/>
                <a:ea typeface="Cambria" pitchFamily="34" charset="-122"/>
                <a:cs typeface="Cambria" pitchFamily="34" charset="-120"/>
              </a:rPr>
              <a:t>4'</a:t>
            </a:r>
            <a:endParaRPr lang="en-US" sz="3600" dirty="0"/>
          </a:p>
        </p:txBody>
      </p:sp>
      <p:sp>
        <p:nvSpPr>
          <p:cNvPr id="25" name="Shape 22"/>
          <p:cNvSpPr/>
          <p:nvPr/>
        </p:nvSpPr>
        <p:spPr>
          <a:xfrm>
            <a:off x="8997696" y="1737360"/>
            <a:ext cx="2651760" cy="3291840"/>
          </a:xfrm>
          <a:prstGeom prst="roundRect">
            <a:avLst>
              <a:gd name="adj" fmla="val 4138"/>
            </a:avLst>
          </a:prstGeom>
          <a:solidFill>
            <a:srgbClr val="13263B"/>
          </a:solidFill>
          <a:ln w="12700">
            <a:solidFill>
              <a:srgbClr val="13263B"/>
            </a:solidFill>
            <a:prstDash val="solid"/>
          </a:ln>
        </p:spPr>
      </p:sp>
      <p:sp>
        <p:nvSpPr>
          <p:cNvPr id="26" name="Shape 23"/>
          <p:cNvSpPr/>
          <p:nvPr/>
        </p:nvSpPr>
        <p:spPr>
          <a:xfrm>
            <a:off x="9180576" y="1920240"/>
            <a:ext cx="411480" cy="411480"/>
          </a:xfrm>
          <a:prstGeom prst="ellipse">
            <a:avLst/>
          </a:prstGeom>
          <a:solidFill>
            <a:srgbClr val="5FBF7A"/>
          </a:solidFill>
          <a:ln w="12700">
            <a:solidFill>
              <a:srgbClr val="5FBF7A"/>
            </a:solidFill>
            <a:prstDash val="solid"/>
          </a:ln>
        </p:spPr>
      </p:sp>
      <p:sp>
        <p:nvSpPr>
          <p:cNvPr id="27" name="Text 24"/>
          <p:cNvSpPr txBox="1"/>
          <p:nvPr/>
        </p:nvSpPr>
        <p:spPr>
          <a:xfrm>
            <a:off x="9180576"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28" name="Text 25"/>
          <p:cNvSpPr txBox="1"/>
          <p:nvPr/>
        </p:nvSpPr>
        <p:spPr>
          <a:xfrm>
            <a:off x="9729216" y="1901952"/>
            <a:ext cx="173736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Agent-One + démo</a:t>
            </a:r>
            <a:endParaRPr lang="en-US" sz="1700" dirty="0"/>
          </a:p>
        </p:txBody>
      </p:sp>
      <p:sp>
        <p:nvSpPr>
          <p:cNvPr id="29" name="Text 26"/>
          <p:cNvSpPr txBox="1"/>
          <p:nvPr/>
        </p:nvSpPr>
        <p:spPr>
          <a:xfrm>
            <a:off x="9226296" y="2423160"/>
            <a:ext cx="2194560" cy="2468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garde-fous, aperçus, config, en direct</a:t>
            </a:r>
            <a:endParaRPr lang="en-US" sz="1400" dirty="0"/>
          </a:p>
        </p:txBody>
      </p:sp>
      <p:sp>
        <p:nvSpPr>
          <p:cNvPr id="30" name="Text 27"/>
          <p:cNvSpPr txBox="1"/>
          <p:nvPr/>
        </p:nvSpPr>
        <p:spPr>
          <a:xfrm>
            <a:off x="9226296" y="4206240"/>
            <a:ext cx="2194560" cy="640080"/>
          </a:xfrm>
          <a:prstGeom prst="rect">
            <a:avLst/>
          </a:prstGeom>
          <a:noFill/>
          <a:ln/>
        </p:spPr>
        <p:txBody>
          <a:bodyPr wrap="square" lIns="0" tIns="0" rIns="0" bIns="0" rtlCol="0" anchor="ctr"/>
          <a:lstStyle/>
          <a:p>
            <a:pPr indent="0" marL="0">
              <a:buNone/>
            </a:pPr>
            <a:r>
              <a:rPr lang="en-US" sz="3600" b="1" dirty="0">
                <a:solidFill>
                  <a:srgbClr val="5FBF7A"/>
                </a:solidFill>
                <a:latin typeface="Cambria" pitchFamily="34" charset="0"/>
                <a:ea typeface="Cambria" pitchFamily="34" charset="-122"/>
                <a:cs typeface="Cambria" pitchFamily="34" charset="-120"/>
              </a:rPr>
              <a:t>9'</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3</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DU LLM À L'AGENT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Un modèle seul : du texte en entrée, du texte en sortie</a:t>
            </a:r>
            <a:endParaRPr lang="en-US" sz="3400" dirty="0"/>
          </a:p>
        </p:txBody>
      </p:sp>
      <p:sp>
        <p:nvSpPr>
          <p:cNvPr id="7" name="Shape 4"/>
          <p:cNvSpPr/>
          <p:nvPr/>
        </p:nvSpPr>
        <p:spPr>
          <a:xfrm>
            <a:off x="548640" y="2011680"/>
            <a:ext cx="2011680" cy="1097280"/>
          </a:xfrm>
          <a:prstGeom prst="roundRect">
            <a:avLst>
              <a:gd name="adj" fmla="val 10000"/>
            </a:avLst>
          </a:prstGeom>
          <a:solidFill>
            <a:srgbClr val="13263B"/>
          </a:solidFill>
          <a:ln w="12700">
            <a:solidFill>
              <a:srgbClr val="13263B"/>
            </a:solidFill>
            <a:prstDash val="solid"/>
          </a:ln>
        </p:spPr>
      </p:sp>
      <p:sp>
        <p:nvSpPr>
          <p:cNvPr id="8" name="Text 5"/>
          <p:cNvSpPr txBox="1"/>
          <p:nvPr/>
        </p:nvSpPr>
        <p:spPr>
          <a:xfrm>
            <a:off x="777240" y="2176272"/>
            <a:ext cx="1600200" cy="457200"/>
          </a:xfrm>
          <a:prstGeom prst="rect">
            <a:avLst/>
          </a:prstGeom>
          <a:noFill/>
          <a:ln/>
        </p:spPr>
        <p:txBody>
          <a:bodyPr wrap="square" lIns="0" tIns="0" rIns="0" bIns="0" rtlCol="0" anchor="ctr"/>
          <a:lstStyle/>
          <a:p>
            <a:pPr indent="0" marL="0">
              <a:buNone/>
            </a:pPr>
            <a:r>
              <a:rPr lang="en-US" sz="1800" b="1" dirty="0">
                <a:solidFill>
                  <a:srgbClr val="8FA3B8"/>
                </a:solidFill>
                <a:latin typeface="Calibri" pitchFamily="34" charset="0"/>
                <a:ea typeface="Calibri" pitchFamily="34" charset="-122"/>
                <a:cs typeface="Calibri" pitchFamily="34" charset="-120"/>
              </a:rPr>
              <a:t>Prompt</a:t>
            </a:r>
            <a:endParaRPr lang="en-US" sz="1800" dirty="0"/>
          </a:p>
        </p:txBody>
      </p:sp>
      <p:sp>
        <p:nvSpPr>
          <p:cNvPr id="9" name="Shape 6"/>
          <p:cNvSpPr/>
          <p:nvPr/>
        </p:nvSpPr>
        <p:spPr>
          <a:xfrm>
            <a:off x="2651760" y="2560320"/>
            <a:ext cx="640080" cy="0"/>
          </a:xfrm>
          <a:prstGeom prst="line">
            <a:avLst/>
          </a:prstGeom>
          <a:noFill/>
          <a:ln w="25400">
            <a:solidFill>
              <a:srgbClr val="8FA3B8"/>
            </a:solidFill>
            <a:prstDash val="solid"/>
            <a:tailEnd type="triangle"/>
          </a:ln>
        </p:spPr>
      </p:sp>
      <p:sp>
        <p:nvSpPr>
          <p:cNvPr id="10" name="Shape 7"/>
          <p:cNvSpPr/>
          <p:nvPr/>
        </p:nvSpPr>
        <p:spPr>
          <a:xfrm>
            <a:off x="3383280" y="1783080"/>
            <a:ext cx="2194560" cy="1554480"/>
          </a:xfrm>
          <a:prstGeom prst="roundRect">
            <a:avLst>
              <a:gd name="adj" fmla="val 11765"/>
            </a:avLst>
          </a:prstGeom>
          <a:solidFill>
            <a:srgbClr val="8E72E6"/>
          </a:solidFill>
          <a:ln w="12700">
            <a:solidFill>
              <a:srgbClr val="8E72E6"/>
            </a:solidFill>
            <a:prstDash val="solid"/>
          </a:ln>
        </p:spPr>
      </p:sp>
      <p:sp>
        <p:nvSpPr>
          <p:cNvPr id="11" name="Text 8"/>
          <p:cNvSpPr txBox="1"/>
          <p:nvPr/>
        </p:nvSpPr>
        <p:spPr>
          <a:xfrm>
            <a:off x="3383280" y="1783080"/>
            <a:ext cx="2194560" cy="1554480"/>
          </a:xfrm>
          <a:prstGeom prst="rect">
            <a:avLst/>
          </a:prstGeom>
          <a:noFill/>
          <a:ln/>
        </p:spPr>
        <p:txBody>
          <a:bodyPr wrap="square" lIns="0" tIns="0" rIns="0" bIns="0" rtlCol="0" anchor="ctr"/>
          <a:lstStyle/>
          <a:p>
            <a:pPr algn="ctr" indent="0" marL="0">
              <a:buNone/>
            </a:pPr>
            <a:r>
              <a:rPr lang="en-US" sz="3400" b="1" dirty="0">
                <a:solidFill>
                  <a:srgbClr val="0B1A2B"/>
                </a:solidFill>
                <a:latin typeface="Cambria" pitchFamily="34" charset="0"/>
                <a:ea typeface="Cambria" pitchFamily="34" charset="-122"/>
                <a:cs typeface="Cambria" pitchFamily="34" charset="-120"/>
              </a:rPr>
              <a:t>LLM</a:t>
            </a:r>
            <a:endParaRPr lang="en-US" sz="3400" dirty="0"/>
          </a:p>
        </p:txBody>
      </p:sp>
      <p:sp>
        <p:nvSpPr>
          <p:cNvPr id="12" name="Shape 9"/>
          <p:cNvSpPr/>
          <p:nvPr/>
        </p:nvSpPr>
        <p:spPr>
          <a:xfrm>
            <a:off x="5669280" y="2560320"/>
            <a:ext cx="640080" cy="0"/>
          </a:xfrm>
          <a:prstGeom prst="line">
            <a:avLst/>
          </a:prstGeom>
          <a:noFill/>
          <a:ln w="25400">
            <a:solidFill>
              <a:srgbClr val="8FA3B8"/>
            </a:solidFill>
            <a:prstDash val="solid"/>
            <a:tailEnd type="triangle"/>
          </a:ln>
        </p:spPr>
      </p:sp>
      <p:sp>
        <p:nvSpPr>
          <p:cNvPr id="13" name="Shape 10"/>
          <p:cNvSpPr/>
          <p:nvPr/>
        </p:nvSpPr>
        <p:spPr>
          <a:xfrm>
            <a:off x="6400800" y="2011680"/>
            <a:ext cx="2011680" cy="1097280"/>
          </a:xfrm>
          <a:prstGeom prst="roundRect">
            <a:avLst>
              <a:gd name="adj" fmla="val 10000"/>
            </a:avLst>
          </a:prstGeom>
          <a:solidFill>
            <a:srgbClr val="13263B"/>
          </a:solidFill>
          <a:ln w="12700">
            <a:solidFill>
              <a:srgbClr val="13263B"/>
            </a:solidFill>
            <a:prstDash val="solid"/>
          </a:ln>
        </p:spPr>
      </p:sp>
      <p:sp>
        <p:nvSpPr>
          <p:cNvPr id="14" name="Text 11"/>
          <p:cNvSpPr txBox="1"/>
          <p:nvPr/>
        </p:nvSpPr>
        <p:spPr>
          <a:xfrm>
            <a:off x="6629400" y="2176272"/>
            <a:ext cx="1600200" cy="457200"/>
          </a:xfrm>
          <a:prstGeom prst="rect">
            <a:avLst/>
          </a:prstGeom>
          <a:noFill/>
          <a:ln/>
        </p:spPr>
        <p:txBody>
          <a:bodyPr wrap="square" lIns="0" tIns="0" rIns="0" bIns="0" rtlCol="0" anchor="ctr"/>
          <a:lstStyle/>
          <a:p>
            <a:pPr indent="0" marL="0">
              <a:buNone/>
            </a:pPr>
            <a:r>
              <a:rPr lang="en-US" sz="1800" b="1" dirty="0">
                <a:solidFill>
                  <a:srgbClr val="8FA3B8"/>
                </a:solidFill>
                <a:latin typeface="Calibri" pitchFamily="34" charset="0"/>
                <a:ea typeface="Calibri" pitchFamily="34" charset="-122"/>
                <a:cs typeface="Calibri" pitchFamily="34" charset="-120"/>
              </a:rPr>
              <a:t>Texte</a:t>
            </a:r>
            <a:endParaRPr lang="en-US" sz="1800" dirty="0"/>
          </a:p>
        </p:txBody>
      </p:sp>
      <p:sp>
        <p:nvSpPr>
          <p:cNvPr id="15" name="Shape 12"/>
          <p:cNvSpPr/>
          <p:nvPr/>
        </p:nvSpPr>
        <p:spPr>
          <a:xfrm>
            <a:off x="548640" y="3840480"/>
            <a:ext cx="2651760" cy="1737360"/>
          </a:xfrm>
          <a:prstGeom prst="roundRect">
            <a:avLst>
              <a:gd name="adj" fmla="val 6316"/>
            </a:avLst>
          </a:prstGeom>
          <a:solidFill>
            <a:srgbClr val="13263B"/>
          </a:solidFill>
          <a:ln w="12700">
            <a:solidFill>
              <a:srgbClr val="13263B"/>
            </a:solidFill>
            <a:prstDash val="solid"/>
          </a:ln>
        </p:spPr>
      </p:sp>
      <p:sp>
        <p:nvSpPr>
          <p:cNvPr id="16" name="Text 13"/>
          <p:cNvSpPr txBox="1"/>
          <p:nvPr/>
        </p:nvSpPr>
        <p:spPr>
          <a:xfrm>
            <a:off x="777240" y="4005072"/>
            <a:ext cx="224028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Pas de mains</a:t>
            </a:r>
            <a:endParaRPr lang="en-US" sz="1700" dirty="0"/>
          </a:p>
        </p:txBody>
      </p:sp>
      <p:sp>
        <p:nvSpPr>
          <p:cNvPr id="17" name="Text 14"/>
          <p:cNvSpPr txBox="1"/>
          <p:nvPr/>
        </p:nvSpPr>
        <p:spPr>
          <a:xfrm>
            <a:off x="777240" y="4526280"/>
            <a:ext cx="2194560" cy="91440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ne lit pas de fichiers, ne lance pas de tests</a:t>
            </a:r>
            <a:endParaRPr lang="en-US" sz="1400" dirty="0"/>
          </a:p>
        </p:txBody>
      </p:sp>
      <p:sp>
        <p:nvSpPr>
          <p:cNvPr id="18" name="Shape 15"/>
          <p:cNvSpPr/>
          <p:nvPr/>
        </p:nvSpPr>
        <p:spPr>
          <a:xfrm>
            <a:off x="3364992" y="3840480"/>
            <a:ext cx="2651760" cy="1737360"/>
          </a:xfrm>
          <a:prstGeom prst="roundRect">
            <a:avLst>
              <a:gd name="adj" fmla="val 6316"/>
            </a:avLst>
          </a:prstGeom>
          <a:solidFill>
            <a:srgbClr val="13263B"/>
          </a:solidFill>
          <a:ln w="12700">
            <a:solidFill>
              <a:srgbClr val="13263B"/>
            </a:solidFill>
            <a:prstDash val="solid"/>
          </a:ln>
        </p:spPr>
      </p:sp>
      <p:sp>
        <p:nvSpPr>
          <p:cNvPr id="19" name="Text 16"/>
          <p:cNvSpPr txBox="1"/>
          <p:nvPr/>
        </p:nvSpPr>
        <p:spPr>
          <a:xfrm>
            <a:off x="3593592" y="4005072"/>
            <a:ext cx="224028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Pas de mémoire</a:t>
            </a:r>
            <a:endParaRPr lang="en-US" sz="1700" dirty="0"/>
          </a:p>
        </p:txBody>
      </p:sp>
      <p:sp>
        <p:nvSpPr>
          <p:cNvPr id="20" name="Text 17"/>
          <p:cNvSpPr txBox="1"/>
          <p:nvPr/>
        </p:nvSpPr>
        <p:spPr>
          <a:xfrm>
            <a:off x="3593592" y="4526280"/>
            <a:ext cx="2194560" cy="91440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chaque appel repart de zéro</a:t>
            </a:r>
            <a:endParaRPr lang="en-US" sz="1400" dirty="0"/>
          </a:p>
        </p:txBody>
      </p:sp>
      <p:sp>
        <p:nvSpPr>
          <p:cNvPr id="21" name="Shape 18"/>
          <p:cNvSpPr/>
          <p:nvPr/>
        </p:nvSpPr>
        <p:spPr>
          <a:xfrm>
            <a:off x="6181344" y="3840480"/>
            <a:ext cx="2651760" cy="1737360"/>
          </a:xfrm>
          <a:prstGeom prst="roundRect">
            <a:avLst>
              <a:gd name="adj" fmla="val 6316"/>
            </a:avLst>
          </a:prstGeom>
          <a:solidFill>
            <a:srgbClr val="13263B"/>
          </a:solidFill>
          <a:ln w="12700">
            <a:solidFill>
              <a:srgbClr val="13263B"/>
            </a:solidFill>
            <a:prstDash val="solid"/>
          </a:ln>
        </p:spPr>
      </p:sp>
      <p:sp>
        <p:nvSpPr>
          <p:cNvPr id="22" name="Text 19"/>
          <p:cNvSpPr txBox="1"/>
          <p:nvPr/>
        </p:nvSpPr>
        <p:spPr>
          <a:xfrm>
            <a:off x="6409944" y="4005072"/>
            <a:ext cx="224028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Savoir figé</a:t>
            </a:r>
            <a:endParaRPr lang="en-US" sz="1700" dirty="0"/>
          </a:p>
        </p:txBody>
      </p:sp>
      <p:sp>
        <p:nvSpPr>
          <p:cNvPr id="23" name="Text 20"/>
          <p:cNvSpPr txBox="1"/>
          <p:nvPr/>
        </p:nvSpPr>
        <p:spPr>
          <a:xfrm>
            <a:off x="6409944" y="4526280"/>
            <a:ext cx="2194560" cy="91440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s'arrête à la date d'entraînement</a:t>
            </a:r>
            <a:endParaRPr lang="en-US" sz="1400" dirty="0"/>
          </a:p>
        </p:txBody>
      </p:sp>
      <p:sp>
        <p:nvSpPr>
          <p:cNvPr id="24" name="Shape 21"/>
          <p:cNvSpPr/>
          <p:nvPr/>
        </p:nvSpPr>
        <p:spPr>
          <a:xfrm>
            <a:off x="8997696" y="3840480"/>
            <a:ext cx="2651760" cy="1737360"/>
          </a:xfrm>
          <a:prstGeom prst="roundRect">
            <a:avLst>
              <a:gd name="adj" fmla="val 6316"/>
            </a:avLst>
          </a:prstGeom>
          <a:solidFill>
            <a:srgbClr val="13263B"/>
          </a:solidFill>
          <a:ln w="12700">
            <a:solidFill>
              <a:srgbClr val="13263B"/>
            </a:solidFill>
            <a:prstDash val="solid"/>
          </a:ln>
        </p:spPr>
      </p:sp>
      <p:sp>
        <p:nvSpPr>
          <p:cNvPr id="25" name="Text 22"/>
          <p:cNvSpPr txBox="1"/>
          <p:nvPr/>
        </p:nvSpPr>
        <p:spPr>
          <a:xfrm>
            <a:off x="9226296" y="4005072"/>
            <a:ext cx="224028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Ne se vérifie pas</a:t>
            </a:r>
            <a:endParaRPr lang="en-US" sz="1700" dirty="0"/>
          </a:p>
        </p:txBody>
      </p:sp>
      <p:sp>
        <p:nvSpPr>
          <p:cNvPr id="26" name="Text 23"/>
          <p:cNvSpPr txBox="1"/>
          <p:nvPr/>
        </p:nvSpPr>
        <p:spPr>
          <a:xfrm>
            <a:off x="9226296" y="4526280"/>
            <a:ext cx="2194560" cy="91440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le faux sonne comme le vrai</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4</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DU LLM À L'AGENT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Un agent : un modèle dans une boucle, avec des outils</a:t>
            </a:r>
            <a:endParaRPr lang="en-US" sz="3400" dirty="0"/>
          </a:p>
        </p:txBody>
      </p:sp>
      <p:sp>
        <p:nvSpPr>
          <p:cNvPr id="7" name="Shape 4"/>
          <p:cNvSpPr/>
          <p:nvPr/>
        </p:nvSpPr>
        <p:spPr>
          <a:xfrm>
            <a:off x="2194560" y="2103120"/>
            <a:ext cx="1645920" cy="640080"/>
          </a:xfrm>
          <a:prstGeom prst="roundRect">
            <a:avLst>
              <a:gd name="adj" fmla="val 50000"/>
            </a:avLst>
          </a:prstGeom>
          <a:solidFill>
            <a:srgbClr val="2BA3C7"/>
          </a:solidFill>
          <a:ln w="12700">
            <a:solidFill>
              <a:srgbClr val="2BA3C7"/>
            </a:solidFill>
            <a:prstDash val="solid"/>
          </a:ln>
        </p:spPr>
      </p:sp>
      <p:sp>
        <p:nvSpPr>
          <p:cNvPr id="8" name="Text 5"/>
          <p:cNvSpPr txBox="1"/>
          <p:nvPr/>
        </p:nvSpPr>
        <p:spPr>
          <a:xfrm>
            <a:off x="2194560" y="2103120"/>
            <a:ext cx="1645920" cy="640080"/>
          </a:xfrm>
          <a:prstGeom prst="rect">
            <a:avLst/>
          </a:prstGeom>
          <a:noFill/>
          <a:ln/>
        </p:spPr>
        <p:txBody>
          <a:bodyPr wrap="square" lIns="0" tIns="0" rIns="0" bIns="0" rtlCol="0" anchor="ctr"/>
          <a:lstStyle/>
          <a:p>
            <a:pPr algn="ctr" indent="0" marL="0">
              <a:buNone/>
            </a:pPr>
            <a:r>
              <a:rPr lang="en-US" sz="1600" b="1" dirty="0">
                <a:solidFill>
                  <a:srgbClr val="0B1A2B"/>
                </a:solidFill>
                <a:latin typeface="Calibri" pitchFamily="34" charset="0"/>
                <a:ea typeface="Calibri" pitchFamily="34" charset="-122"/>
                <a:cs typeface="Calibri" pitchFamily="34" charset="-120"/>
              </a:rPr>
              <a:t>Observer</a:t>
            </a:r>
            <a:endParaRPr lang="en-US" sz="1600" dirty="0"/>
          </a:p>
        </p:txBody>
      </p:sp>
      <p:sp>
        <p:nvSpPr>
          <p:cNvPr id="9" name="Shape 6"/>
          <p:cNvSpPr/>
          <p:nvPr/>
        </p:nvSpPr>
        <p:spPr>
          <a:xfrm>
            <a:off x="3611880" y="3520440"/>
            <a:ext cx="1645920" cy="640080"/>
          </a:xfrm>
          <a:prstGeom prst="roundRect">
            <a:avLst>
              <a:gd name="adj" fmla="val 50000"/>
            </a:avLst>
          </a:prstGeom>
          <a:solidFill>
            <a:srgbClr val="8E72E6"/>
          </a:solidFill>
          <a:ln w="12700">
            <a:solidFill>
              <a:srgbClr val="8E72E6"/>
            </a:solidFill>
            <a:prstDash val="solid"/>
          </a:ln>
        </p:spPr>
      </p:sp>
      <p:sp>
        <p:nvSpPr>
          <p:cNvPr id="10" name="Text 7"/>
          <p:cNvSpPr txBox="1"/>
          <p:nvPr/>
        </p:nvSpPr>
        <p:spPr>
          <a:xfrm>
            <a:off x="3611880" y="3520440"/>
            <a:ext cx="1645920" cy="640080"/>
          </a:xfrm>
          <a:prstGeom prst="rect">
            <a:avLst/>
          </a:prstGeom>
          <a:noFill/>
          <a:ln/>
        </p:spPr>
        <p:txBody>
          <a:bodyPr wrap="square" lIns="0" tIns="0" rIns="0" bIns="0" rtlCol="0" anchor="ctr"/>
          <a:lstStyle/>
          <a:p>
            <a:pPr algn="ctr" indent="0" marL="0">
              <a:buNone/>
            </a:pPr>
            <a:r>
              <a:rPr lang="en-US" sz="1600" b="1" dirty="0">
                <a:solidFill>
                  <a:srgbClr val="0B1A2B"/>
                </a:solidFill>
                <a:latin typeface="Calibri" pitchFamily="34" charset="0"/>
                <a:ea typeface="Calibri" pitchFamily="34" charset="-122"/>
                <a:cs typeface="Calibri" pitchFamily="34" charset="-120"/>
              </a:rPr>
              <a:t>Réfléchir</a:t>
            </a:r>
            <a:endParaRPr lang="en-US" sz="1600" dirty="0"/>
          </a:p>
        </p:txBody>
      </p:sp>
      <p:sp>
        <p:nvSpPr>
          <p:cNvPr id="11" name="Shape 8"/>
          <p:cNvSpPr/>
          <p:nvPr/>
        </p:nvSpPr>
        <p:spPr>
          <a:xfrm>
            <a:off x="2194560" y="4937760"/>
            <a:ext cx="1645920" cy="640080"/>
          </a:xfrm>
          <a:prstGeom prst="roundRect">
            <a:avLst>
              <a:gd name="adj" fmla="val 50000"/>
            </a:avLst>
          </a:prstGeom>
          <a:solidFill>
            <a:srgbClr val="D4AF37"/>
          </a:solidFill>
          <a:ln w="12700">
            <a:solidFill>
              <a:srgbClr val="D4AF37"/>
            </a:solidFill>
            <a:prstDash val="solid"/>
          </a:ln>
        </p:spPr>
      </p:sp>
      <p:sp>
        <p:nvSpPr>
          <p:cNvPr id="12" name="Text 9"/>
          <p:cNvSpPr txBox="1"/>
          <p:nvPr/>
        </p:nvSpPr>
        <p:spPr>
          <a:xfrm>
            <a:off x="2194560" y="4937760"/>
            <a:ext cx="1645920" cy="640080"/>
          </a:xfrm>
          <a:prstGeom prst="rect">
            <a:avLst/>
          </a:prstGeom>
          <a:noFill/>
          <a:ln/>
        </p:spPr>
        <p:txBody>
          <a:bodyPr wrap="square" lIns="0" tIns="0" rIns="0" bIns="0" rtlCol="0" anchor="ctr"/>
          <a:lstStyle/>
          <a:p>
            <a:pPr algn="ctr" indent="0" marL="0">
              <a:buNone/>
            </a:pPr>
            <a:r>
              <a:rPr lang="en-US" sz="1600" b="1" dirty="0">
                <a:solidFill>
                  <a:srgbClr val="0B1A2B"/>
                </a:solidFill>
                <a:latin typeface="Calibri" pitchFamily="34" charset="0"/>
                <a:ea typeface="Calibri" pitchFamily="34" charset="-122"/>
                <a:cs typeface="Calibri" pitchFamily="34" charset="-120"/>
              </a:rPr>
              <a:t>Agir</a:t>
            </a:r>
            <a:endParaRPr lang="en-US" sz="1600" dirty="0"/>
          </a:p>
        </p:txBody>
      </p:sp>
      <p:sp>
        <p:nvSpPr>
          <p:cNvPr id="13" name="Shape 10"/>
          <p:cNvSpPr/>
          <p:nvPr/>
        </p:nvSpPr>
        <p:spPr>
          <a:xfrm>
            <a:off x="777240" y="3520440"/>
            <a:ext cx="1645920" cy="640080"/>
          </a:xfrm>
          <a:prstGeom prst="roundRect">
            <a:avLst>
              <a:gd name="adj" fmla="val 50000"/>
            </a:avLst>
          </a:prstGeom>
          <a:solidFill>
            <a:srgbClr val="5FBF7A"/>
          </a:solidFill>
          <a:ln w="12700">
            <a:solidFill>
              <a:srgbClr val="5FBF7A"/>
            </a:solidFill>
            <a:prstDash val="solid"/>
          </a:ln>
        </p:spPr>
      </p:sp>
      <p:sp>
        <p:nvSpPr>
          <p:cNvPr id="14" name="Text 11"/>
          <p:cNvSpPr txBox="1"/>
          <p:nvPr/>
        </p:nvSpPr>
        <p:spPr>
          <a:xfrm>
            <a:off x="777240" y="3520440"/>
            <a:ext cx="1645920" cy="640080"/>
          </a:xfrm>
          <a:prstGeom prst="rect">
            <a:avLst/>
          </a:prstGeom>
          <a:noFill/>
          <a:ln/>
        </p:spPr>
        <p:txBody>
          <a:bodyPr wrap="square" lIns="0" tIns="0" rIns="0" bIns="0" rtlCol="0" anchor="ctr"/>
          <a:lstStyle/>
          <a:p>
            <a:pPr algn="ctr" indent="0" marL="0">
              <a:buNone/>
            </a:pPr>
            <a:r>
              <a:rPr lang="en-US" sz="1600" b="1" dirty="0">
                <a:solidFill>
                  <a:srgbClr val="0B1A2B"/>
                </a:solidFill>
                <a:latin typeface="Calibri" pitchFamily="34" charset="0"/>
                <a:ea typeface="Calibri" pitchFamily="34" charset="-122"/>
                <a:cs typeface="Calibri" pitchFamily="34" charset="-120"/>
              </a:rPr>
              <a:t>Vérifier</a:t>
            </a:r>
            <a:endParaRPr lang="en-US" sz="1600" dirty="0"/>
          </a:p>
        </p:txBody>
      </p:sp>
      <p:sp>
        <p:nvSpPr>
          <p:cNvPr id="15" name="Text 12"/>
          <p:cNvSpPr txBox="1"/>
          <p:nvPr/>
        </p:nvSpPr>
        <p:spPr>
          <a:xfrm>
            <a:off x="2560320" y="3383280"/>
            <a:ext cx="914400" cy="914400"/>
          </a:xfrm>
          <a:prstGeom prst="rect">
            <a:avLst/>
          </a:prstGeom>
          <a:noFill/>
          <a:ln/>
        </p:spPr>
        <p:txBody>
          <a:bodyPr wrap="square" lIns="0" tIns="0" rIns="0" bIns="0" rtlCol="0" anchor="ctr"/>
          <a:lstStyle/>
          <a:p>
            <a:pPr algn="ctr" indent="0" marL="0">
              <a:buNone/>
            </a:pPr>
            <a:r>
              <a:rPr lang="en-US" sz="4000" dirty="0">
                <a:solidFill>
                  <a:srgbClr val="8FA3B8"/>
                </a:solidFill>
                <a:latin typeface="Calibri" pitchFamily="34" charset="0"/>
                <a:ea typeface="Calibri" pitchFamily="34" charset="-122"/>
                <a:cs typeface="Calibri" pitchFamily="34" charset="-120"/>
              </a:rPr>
              <a:t>↻</a:t>
            </a:r>
            <a:endParaRPr lang="en-US" sz="4000" dirty="0"/>
          </a:p>
        </p:txBody>
      </p:sp>
      <p:sp>
        <p:nvSpPr>
          <p:cNvPr id="16" name="Shape 13"/>
          <p:cNvSpPr/>
          <p:nvPr/>
        </p:nvSpPr>
        <p:spPr>
          <a:xfrm>
            <a:off x="6035040" y="1737360"/>
            <a:ext cx="5577840" cy="1554480"/>
          </a:xfrm>
          <a:prstGeom prst="roundRect">
            <a:avLst>
              <a:gd name="adj" fmla="val 7059"/>
            </a:avLst>
          </a:prstGeom>
          <a:solidFill>
            <a:srgbClr val="13263B"/>
          </a:solidFill>
          <a:ln w="12700">
            <a:solidFill>
              <a:srgbClr val="13263B"/>
            </a:solidFill>
            <a:prstDash val="solid"/>
          </a:ln>
        </p:spPr>
      </p:sp>
      <p:sp>
        <p:nvSpPr>
          <p:cNvPr id="17" name="Text 14"/>
          <p:cNvSpPr txBox="1"/>
          <p:nvPr/>
        </p:nvSpPr>
        <p:spPr>
          <a:xfrm>
            <a:off x="6263640" y="1901952"/>
            <a:ext cx="516636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Agent</a:t>
            </a:r>
            <a:endParaRPr lang="en-US" sz="1700" dirty="0"/>
          </a:p>
        </p:txBody>
      </p:sp>
      <p:sp>
        <p:nvSpPr>
          <p:cNvPr id="18" name="Text 15"/>
          <p:cNvSpPr txBox="1"/>
          <p:nvPr/>
        </p:nvSpPr>
        <p:spPr>
          <a:xfrm>
            <a:off x="6263640" y="2423160"/>
            <a:ext cx="5120640" cy="7315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le modèle qui décide, étape après étape, quel outil utiliser — jusqu'à la fin de la tâche</a:t>
            </a:r>
            <a:endParaRPr lang="en-US" sz="1500" dirty="0"/>
          </a:p>
        </p:txBody>
      </p:sp>
      <p:sp>
        <p:nvSpPr>
          <p:cNvPr id="19" name="Shape 16"/>
          <p:cNvSpPr/>
          <p:nvPr/>
        </p:nvSpPr>
        <p:spPr>
          <a:xfrm>
            <a:off x="6035040" y="3474720"/>
            <a:ext cx="5577840" cy="2377440"/>
          </a:xfrm>
          <a:prstGeom prst="roundRect">
            <a:avLst>
              <a:gd name="adj" fmla="val 4615"/>
            </a:avLst>
          </a:prstGeom>
          <a:solidFill>
            <a:srgbClr val="13263B"/>
          </a:solidFill>
          <a:ln w="12700">
            <a:solidFill>
              <a:srgbClr val="13263B"/>
            </a:solidFill>
            <a:prstDash val="solid"/>
          </a:ln>
        </p:spPr>
      </p:sp>
      <p:sp>
        <p:nvSpPr>
          <p:cNvPr id="20" name="Text 17"/>
          <p:cNvSpPr txBox="1"/>
          <p:nvPr/>
        </p:nvSpPr>
        <p:spPr>
          <a:xfrm>
            <a:off x="6263640" y="3639312"/>
            <a:ext cx="516636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Harness</a:t>
            </a:r>
            <a:endParaRPr lang="en-US" sz="1700" dirty="0"/>
          </a:p>
        </p:txBody>
      </p:sp>
      <p:sp>
        <p:nvSpPr>
          <p:cNvPr id="21" name="Text 18"/>
          <p:cNvSpPr txBox="1"/>
          <p:nvPr/>
        </p:nvSpPr>
        <p:spPr>
          <a:xfrm>
            <a:off x="6263640" y="4160520"/>
            <a:ext cx="5120640" cy="155448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tout ce qui entoure le modèle : les outils, le contexte qu'il voit, ce qu'il peut faire sans demander, sa mémoire, ses garde-fous, comment on le suit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5</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DU LLM À L'AGENT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Chaque couche enveloppe la précédente</a:t>
            </a:r>
            <a:endParaRPr lang="en-US" sz="3400" dirty="0"/>
          </a:p>
        </p:txBody>
      </p:sp>
      <p:sp>
        <p:nvSpPr>
          <p:cNvPr id="7" name="Shape 4"/>
          <p:cNvSpPr/>
          <p:nvPr/>
        </p:nvSpPr>
        <p:spPr>
          <a:xfrm>
            <a:off x="1645920" y="2834640"/>
            <a:ext cx="4937760" cy="2377440"/>
          </a:xfrm>
          <a:prstGeom prst="roundRect">
            <a:avLst>
              <a:gd name="adj" fmla="val 6923"/>
            </a:avLst>
          </a:prstGeom>
          <a:solidFill>
            <a:srgbClr val="8E72E6"/>
          </a:solidFill>
          <a:ln w="25400">
            <a:solidFill>
              <a:srgbClr val="8E72E6"/>
            </a:solidFill>
            <a:prstDash val="solid"/>
          </a:ln>
        </p:spPr>
      </p:sp>
      <p:sp>
        <p:nvSpPr>
          <p:cNvPr id="8" name="Text 5"/>
          <p:cNvSpPr txBox="1"/>
          <p:nvPr/>
        </p:nvSpPr>
        <p:spPr>
          <a:xfrm>
            <a:off x="1645920" y="3154680"/>
            <a:ext cx="4937760" cy="822960"/>
          </a:xfrm>
          <a:prstGeom prst="rect">
            <a:avLst/>
          </a:prstGeom>
          <a:noFill/>
          <a:ln/>
        </p:spPr>
        <p:txBody>
          <a:bodyPr wrap="square" lIns="0" tIns="0" rIns="0" bIns="0" rtlCol="0" anchor="ctr"/>
          <a:lstStyle/>
          <a:p>
            <a:pPr algn="ctr" indent="0" marL="0">
              <a:buNone/>
            </a:pPr>
            <a:r>
              <a:rPr lang="en-US" sz="4000" b="1" dirty="0">
                <a:solidFill>
                  <a:srgbClr val="0B1A2B"/>
                </a:solidFill>
                <a:latin typeface="Cambria" pitchFamily="34" charset="0"/>
                <a:ea typeface="Cambria" pitchFamily="34" charset="-122"/>
                <a:cs typeface="Cambria" pitchFamily="34" charset="-120"/>
              </a:rPr>
              <a:t>LLM</a:t>
            </a:r>
            <a:endParaRPr lang="en-US" sz="4000" dirty="0"/>
          </a:p>
        </p:txBody>
      </p:sp>
      <p:sp>
        <p:nvSpPr>
          <p:cNvPr id="9" name="Text 6"/>
          <p:cNvSpPr txBox="1"/>
          <p:nvPr/>
        </p:nvSpPr>
        <p:spPr>
          <a:xfrm>
            <a:off x="1645920" y="4023360"/>
            <a:ext cx="4937760" cy="457200"/>
          </a:xfrm>
          <a:prstGeom prst="rect">
            <a:avLst/>
          </a:prstGeom>
          <a:noFill/>
          <a:ln/>
        </p:spPr>
        <p:txBody>
          <a:bodyPr wrap="square" lIns="0" tIns="0" rIns="0" bIns="0" rtlCol="0" anchor="ctr"/>
          <a:lstStyle/>
          <a:p>
            <a:pPr algn="ctr" indent="0" marL="0">
              <a:buNone/>
            </a:pPr>
            <a:r>
              <a:rPr lang="en-US" sz="1500" dirty="0">
                <a:solidFill>
                  <a:srgbClr val="0B1A2B"/>
                </a:solidFill>
                <a:latin typeface="Calibri" pitchFamily="34" charset="0"/>
                <a:ea typeface="Calibri" pitchFamily="34" charset="-122"/>
                <a:cs typeface="Calibri" pitchFamily="34" charset="-120"/>
              </a:rPr>
              <a:t>en vase clos · texte entrant, texte sortant</a:t>
            </a:r>
            <a:endParaRPr lang="en-US" sz="1500" dirty="0"/>
          </a:p>
        </p:txBody>
      </p:sp>
      <p:sp>
        <p:nvSpPr>
          <p:cNvPr id="10" name="Text 7"/>
          <p:cNvSpPr txBox="1"/>
          <p:nvPr/>
        </p:nvSpPr>
        <p:spPr>
          <a:xfrm>
            <a:off x="1645920" y="4480560"/>
            <a:ext cx="4937760" cy="411480"/>
          </a:xfrm>
          <a:prstGeom prst="rect">
            <a:avLst/>
          </a:prstGeom>
          <a:noFill/>
          <a:ln/>
        </p:spPr>
        <p:txBody>
          <a:bodyPr wrap="square" lIns="0" tIns="0" rIns="0" bIns="0" rtlCol="0" anchor="ctr"/>
          <a:lstStyle/>
          <a:p>
            <a:pPr algn="ctr" indent="0" marL="0">
              <a:buNone/>
            </a:pPr>
            <a:r>
              <a:rPr lang="en-US" sz="1200" dirty="0">
                <a:solidFill>
                  <a:srgbClr val="0B1A2B"/>
                </a:solidFill>
                <a:latin typeface="Calibri" pitchFamily="34" charset="0"/>
                <a:ea typeface="Calibri" pitchFamily="34" charset="-122"/>
                <a:cs typeface="Calibri" pitchFamily="34" charset="-120"/>
              </a:rPr>
              <a:t>savoir figé · pas de mains · pas de mémoire</a:t>
            </a:r>
            <a:endParaRPr lang="en-US" sz="1200" dirty="0"/>
          </a:p>
        </p:txBody>
      </p:sp>
      <p:sp>
        <p:nvSpPr>
          <p:cNvPr id="11" name="Text 8"/>
          <p:cNvSpPr txBox="1"/>
          <p:nvPr/>
        </p:nvSpPr>
        <p:spPr>
          <a:xfrm>
            <a:off x="8001000" y="1463040"/>
            <a:ext cx="1097280" cy="320040"/>
          </a:xfrm>
          <a:prstGeom prst="rect">
            <a:avLst/>
          </a:prstGeom>
          <a:noFill/>
          <a:ln/>
        </p:spPr>
        <p:txBody>
          <a:bodyPr wrap="square" lIns="0" tIns="0" rIns="0" bIns="0" rtlCol="0" anchor="ctr"/>
          <a:lstStyle/>
          <a:p>
            <a:pPr indent="0" marL="0">
              <a:buNone/>
            </a:pPr>
            <a:r>
              <a:rPr lang="en-US" sz="1200" b="1" dirty="0">
                <a:solidFill>
                  <a:srgbClr val="8E72E6"/>
                </a:solidFill>
                <a:latin typeface="Calibri" pitchFamily="34" charset="0"/>
                <a:ea typeface="Calibri" pitchFamily="34" charset="-122"/>
                <a:cs typeface="Calibri" pitchFamily="34" charset="-120"/>
              </a:rPr>
              <a:t>1 / 4</a:t>
            </a:r>
            <a:endParaRPr lang="en-US" sz="1200" dirty="0"/>
          </a:p>
        </p:txBody>
      </p:sp>
      <p:sp>
        <p:nvSpPr>
          <p:cNvPr id="12" name="Text 9"/>
          <p:cNvSpPr txBox="1"/>
          <p:nvPr/>
        </p:nvSpPr>
        <p:spPr>
          <a:xfrm>
            <a:off x="8001000" y="1783080"/>
            <a:ext cx="3657600" cy="914400"/>
          </a:xfrm>
          <a:prstGeom prst="rect">
            <a:avLst/>
          </a:prstGeom>
          <a:noFill/>
          <a:ln/>
        </p:spPr>
        <p:txBody>
          <a:bodyPr wrap="square" lIns="0" tIns="0" rIns="0" bIns="0" rtlCol="0" anchor="t"/>
          <a:lstStyle/>
          <a:p>
            <a:pPr indent="0" marL="0">
              <a:buNone/>
            </a:pPr>
            <a:r>
              <a:rPr lang="en-US" sz="1800" b="1" dirty="0">
                <a:solidFill>
                  <a:srgbClr val="EEF3F9"/>
                </a:solidFill>
                <a:latin typeface="Cambria" pitchFamily="34" charset="0"/>
                <a:ea typeface="Cambria" pitchFamily="34" charset="-122"/>
                <a:cs typeface="Cambria" pitchFamily="34" charset="-120"/>
              </a:rPr>
              <a:t>Le LLM seul — une intelligence en vase clos</a:t>
            </a:r>
            <a:endParaRPr lang="en-US" sz="1800" dirty="0"/>
          </a:p>
        </p:txBody>
      </p:sp>
      <p:sp>
        <p:nvSpPr>
          <p:cNvPr id="13" name="Text 10"/>
          <p:cNvSpPr txBox="1"/>
          <p:nvPr/>
        </p:nvSpPr>
        <p:spPr>
          <a:xfrm>
            <a:off x="8001000" y="2834640"/>
            <a:ext cx="365760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du texte en entrée, du texte en sortie</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un savoir figé à sa date d'entraînement</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pas de mains : il ne touche à rien</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aucune mémoire d'un appel à l'autre</a:t>
            </a:r>
            <a:endParaRPr lang="en-US" sz="1300" dirty="0"/>
          </a:p>
        </p:txBody>
      </p:sp>
      <p:sp>
        <p:nvSpPr>
          <p:cNvPr id="14" name="Shape 11"/>
          <p:cNvSpPr/>
          <p:nvPr/>
        </p:nvSpPr>
        <p:spPr>
          <a:xfrm>
            <a:off x="8001000" y="5394960"/>
            <a:ext cx="3657600" cy="731520"/>
          </a:xfrm>
          <a:prstGeom prst="roundRect">
            <a:avLst>
              <a:gd name="adj" fmla="val 15000"/>
            </a:avLst>
          </a:prstGeom>
          <a:solidFill>
            <a:srgbClr val="13263B"/>
          </a:solidFill>
          <a:ln w="19050">
            <a:solidFill>
              <a:srgbClr val="8E72E6"/>
            </a:solidFill>
            <a:prstDash val="solid"/>
          </a:ln>
        </p:spPr>
      </p:sp>
      <p:sp>
        <p:nvSpPr>
          <p:cNvPr id="15" name="Text 12"/>
          <p:cNvSpPr txBox="1"/>
          <p:nvPr/>
        </p:nvSpPr>
        <p:spPr>
          <a:xfrm>
            <a:off x="8138160" y="5394960"/>
            <a:ext cx="3383280" cy="731520"/>
          </a:xfrm>
          <a:prstGeom prst="rect">
            <a:avLst/>
          </a:prstGeom>
          <a:noFill/>
          <a:ln/>
        </p:spPr>
        <p:txBody>
          <a:bodyPr wrap="square" lIns="0" tIns="0" rIns="0" bIns="0" rtlCol="0" anchor="ctr"/>
          <a:lstStyle/>
          <a:p>
            <a:pPr indent="0" marL="0">
              <a:buNone/>
            </a:pPr>
            <a:r>
              <a:rPr lang="en-US" sz="1200" b="1" dirty="0">
                <a:solidFill>
                  <a:srgbClr val="8E72E6"/>
                </a:solidFill>
                <a:latin typeface="Courier New" pitchFamily="34" charset="0"/>
                <a:ea typeface="Courier New" pitchFamily="34" charset="-122"/>
                <a:cs typeface="Courier New" pitchFamily="34" charset="-120"/>
              </a:rPr>
              <a:t>LLM = une intelligence en vase clos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6</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DU LLM À L'AGENT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Chaque couche enveloppe la précédente</a:t>
            </a:r>
            <a:endParaRPr lang="en-US" sz="3400" dirty="0"/>
          </a:p>
        </p:txBody>
      </p:sp>
      <p:sp>
        <p:nvSpPr>
          <p:cNvPr id="7" name="Shape 4"/>
          <p:cNvSpPr/>
          <p:nvPr/>
        </p:nvSpPr>
        <p:spPr>
          <a:xfrm>
            <a:off x="1280160" y="2377440"/>
            <a:ext cx="5669280" cy="3291840"/>
          </a:xfrm>
          <a:prstGeom prst="roundRect">
            <a:avLst>
              <a:gd name="adj" fmla="val 5556"/>
            </a:avLst>
          </a:prstGeom>
          <a:solidFill>
            <a:srgbClr val="18304A"/>
          </a:solidFill>
          <a:ln w="38100">
            <a:solidFill>
              <a:srgbClr val="2BA3C7"/>
            </a:solidFill>
            <a:prstDash val="solid"/>
          </a:ln>
        </p:spPr>
      </p:sp>
      <p:sp>
        <p:nvSpPr>
          <p:cNvPr id="8" name="Text 5"/>
          <p:cNvSpPr txBox="1"/>
          <p:nvPr/>
        </p:nvSpPr>
        <p:spPr>
          <a:xfrm>
            <a:off x="1463040" y="2432304"/>
            <a:ext cx="1188720" cy="329184"/>
          </a:xfrm>
          <a:prstGeom prst="rect">
            <a:avLst/>
          </a:prstGeom>
          <a:noFill/>
          <a:ln/>
        </p:spPr>
        <p:txBody>
          <a:bodyPr wrap="square" lIns="0" tIns="0" rIns="0" bIns="0" rtlCol="0" anchor="ctr"/>
          <a:lstStyle/>
          <a:p>
            <a:pPr indent="0" marL="0">
              <a:buNone/>
            </a:pPr>
            <a:r>
              <a:rPr lang="en-US" sz="1400" b="1" dirty="0">
                <a:solidFill>
                  <a:srgbClr val="2BA3C7"/>
                </a:solidFill>
                <a:latin typeface="Calibri" pitchFamily="34" charset="0"/>
                <a:ea typeface="Calibri" pitchFamily="34" charset="-122"/>
                <a:cs typeface="Calibri" pitchFamily="34" charset="-120"/>
              </a:rPr>
              <a:t>Agent</a:t>
            </a:r>
            <a:endParaRPr lang="en-US" sz="1400" dirty="0"/>
          </a:p>
        </p:txBody>
      </p:sp>
      <p:sp>
        <p:nvSpPr>
          <p:cNvPr id="9" name="Shape 6"/>
          <p:cNvSpPr/>
          <p:nvPr/>
        </p:nvSpPr>
        <p:spPr>
          <a:xfrm>
            <a:off x="2651760" y="2450592"/>
            <a:ext cx="2020824" cy="292608"/>
          </a:xfrm>
          <a:prstGeom prst="roundRect">
            <a:avLst>
              <a:gd name="adj" fmla="val 50000"/>
            </a:avLst>
          </a:prstGeom>
          <a:solidFill>
            <a:srgbClr val="2BA3C7"/>
          </a:solidFill>
          <a:ln w="12700">
            <a:solidFill>
              <a:srgbClr val="2BA3C7"/>
            </a:solidFill>
            <a:prstDash val="solid"/>
          </a:ln>
        </p:spPr>
      </p:sp>
      <p:sp>
        <p:nvSpPr>
          <p:cNvPr id="10" name="Text 7"/>
          <p:cNvSpPr txBox="1"/>
          <p:nvPr/>
        </p:nvSpPr>
        <p:spPr>
          <a:xfrm>
            <a:off x="2651760" y="2450592"/>
            <a:ext cx="202082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prompt système</a:t>
            </a:r>
            <a:endParaRPr lang="en-US" sz="1000" dirty="0"/>
          </a:p>
        </p:txBody>
      </p:sp>
      <p:sp>
        <p:nvSpPr>
          <p:cNvPr id="11" name="Shape 8"/>
          <p:cNvSpPr/>
          <p:nvPr/>
        </p:nvSpPr>
        <p:spPr>
          <a:xfrm>
            <a:off x="4745736" y="2450592"/>
            <a:ext cx="2020824" cy="292608"/>
          </a:xfrm>
          <a:prstGeom prst="roundRect">
            <a:avLst>
              <a:gd name="adj" fmla="val 50000"/>
            </a:avLst>
          </a:prstGeom>
          <a:solidFill>
            <a:srgbClr val="2BA3C7"/>
          </a:solidFill>
          <a:ln w="12700">
            <a:solidFill>
              <a:srgbClr val="2BA3C7"/>
            </a:solidFill>
            <a:prstDash val="solid"/>
          </a:ln>
        </p:spPr>
      </p:sp>
      <p:sp>
        <p:nvSpPr>
          <p:cNvPr id="12" name="Text 9"/>
          <p:cNvSpPr txBox="1"/>
          <p:nvPr/>
        </p:nvSpPr>
        <p:spPr>
          <a:xfrm>
            <a:off x="4745736" y="2450592"/>
            <a:ext cx="202082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outils</a:t>
            </a:r>
            <a:endParaRPr lang="en-US" sz="1000" dirty="0"/>
          </a:p>
        </p:txBody>
      </p:sp>
      <p:sp>
        <p:nvSpPr>
          <p:cNvPr id="13" name="Shape 10"/>
          <p:cNvSpPr/>
          <p:nvPr/>
        </p:nvSpPr>
        <p:spPr>
          <a:xfrm>
            <a:off x="1645920" y="2834640"/>
            <a:ext cx="4937760" cy="2377440"/>
          </a:xfrm>
          <a:prstGeom prst="roundRect">
            <a:avLst>
              <a:gd name="adj" fmla="val 6923"/>
            </a:avLst>
          </a:prstGeom>
          <a:solidFill>
            <a:srgbClr val="18304A"/>
          </a:solidFill>
          <a:ln w="25400">
            <a:solidFill>
              <a:srgbClr val="8E72E6"/>
            </a:solidFill>
            <a:prstDash val="solid"/>
          </a:ln>
        </p:spPr>
      </p:sp>
      <p:sp>
        <p:nvSpPr>
          <p:cNvPr id="14" name="Text 11"/>
          <p:cNvSpPr txBox="1"/>
          <p:nvPr/>
        </p:nvSpPr>
        <p:spPr>
          <a:xfrm>
            <a:off x="1645920" y="3154680"/>
            <a:ext cx="4937760" cy="822960"/>
          </a:xfrm>
          <a:prstGeom prst="rect">
            <a:avLst/>
          </a:prstGeom>
          <a:noFill/>
          <a:ln/>
        </p:spPr>
        <p:txBody>
          <a:bodyPr wrap="square" lIns="0" tIns="0" rIns="0" bIns="0" rtlCol="0" anchor="ctr"/>
          <a:lstStyle/>
          <a:p>
            <a:pPr algn="ctr" indent="0" marL="0">
              <a:buNone/>
            </a:pPr>
            <a:r>
              <a:rPr lang="en-US" sz="4000" b="1" dirty="0">
                <a:solidFill>
                  <a:srgbClr val="8E72E6"/>
                </a:solidFill>
                <a:latin typeface="Cambria" pitchFamily="34" charset="0"/>
                <a:ea typeface="Cambria" pitchFamily="34" charset="-122"/>
                <a:cs typeface="Cambria" pitchFamily="34" charset="-120"/>
              </a:rPr>
              <a:t>LLM</a:t>
            </a:r>
            <a:endParaRPr lang="en-US" sz="4000" dirty="0"/>
          </a:p>
        </p:txBody>
      </p:sp>
      <p:sp>
        <p:nvSpPr>
          <p:cNvPr id="15" name="Text 12"/>
          <p:cNvSpPr txBox="1"/>
          <p:nvPr/>
        </p:nvSpPr>
        <p:spPr>
          <a:xfrm>
            <a:off x="1645920" y="4023360"/>
            <a:ext cx="4937760" cy="457200"/>
          </a:xfrm>
          <a:prstGeom prst="rect">
            <a:avLst/>
          </a:prstGeom>
          <a:noFill/>
          <a:ln/>
        </p:spPr>
        <p:txBody>
          <a:bodyPr wrap="square" lIns="0" tIns="0" rIns="0" bIns="0" rtlCol="0" anchor="ctr"/>
          <a:lstStyle/>
          <a:p>
            <a:pPr algn="ctr" indent="0" marL="0">
              <a:buNone/>
            </a:pPr>
            <a:r>
              <a:rPr lang="en-US" sz="1500" dirty="0">
                <a:solidFill>
                  <a:srgbClr val="EEF3F9"/>
                </a:solidFill>
                <a:latin typeface="Calibri" pitchFamily="34" charset="0"/>
                <a:ea typeface="Calibri" pitchFamily="34" charset="-122"/>
                <a:cs typeface="Calibri" pitchFamily="34" charset="-120"/>
              </a:rPr>
              <a:t>en vase clos · texte entrant, texte sortant</a:t>
            </a:r>
            <a:endParaRPr lang="en-US" sz="1500" dirty="0"/>
          </a:p>
        </p:txBody>
      </p:sp>
      <p:sp>
        <p:nvSpPr>
          <p:cNvPr id="16" name="Text 13"/>
          <p:cNvSpPr txBox="1"/>
          <p:nvPr/>
        </p:nvSpPr>
        <p:spPr>
          <a:xfrm>
            <a:off x="1645920" y="4480560"/>
            <a:ext cx="4937760" cy="411480"/>
          </a:xfrm>
          <a:prstGeom prst="rect">
            <a:avLst/>
          </a:prstGeom>
          <a:noFill/>
          <a:ln/>
        </p:spPr>
        <p:txBody>
          <a:bodyPr wrap="square" lIns="0" tIns="0" rIns="0" bIns="0" rtlCol="0" anchor="ctr"/>
          <a:lstStyle/>
          <a:p>
            <a:pPr algn="ctr" indent="0" marL="0">
              <a:buNone/>
            </a:pPr>
            <a:r>
              <a:rPr lang="en-US" sz="1200" dirty="0">
                <a:solidFill>
                  <a:srgbClr val="8FA3B8"/>
                </a:solidFill>
                <a:latin typeface="Calibri" pitchFamily="34" charset="0"/>
                <a:ea typeface="Calibri" pitchFamily="34" charset="-122"/>
                <a:cs typeface="Calibri" pitchFamily="34" charset="-120"/>
              </a:rPr>
              <a:t>savoir figé · pas de mains · pas de mémoire</a:t>
            </a:r>
            <a:endParaRPr lang="en-US" sz="1200" dirty="0"/>
          </a:p>
        </p:txBody>
      </p:sp>
      <p:sp>
        <p:nvSpPr>
          <p:cNvPr id="17" name="Text 14"/>
          <p:cNvSpPr txBox="1"/>
          <p:nvPr/>
        </p:nvSpPr>
        <p:spPr>
          <a:xfrm>
            <a:off x="8001000" y="1463040"/>
            <a:ext cx="1097280" cy="320040"/>
          </a:xfrm>
          <a:prstGeom prst="rect">
            <a:avLst/>
          </a:prstGeom>
          <a:noFill/>
          <a:ln/>
        </p:spPr>
        <p:txBody>
          <a:bodyPr wrap="square" lIns="0" tIns="0" rIns="0" bIns="0" rtlCol="0" anchor="ctr"/>
          <a:lstStyle/>
          <a:p>
            <a:pPr indent="0" marL="0">
              <a:buNone/>
            </a:pPr>
            <a:r>
              <a:rPr lang="en-US" sz="1200" b="1" dirty="0">
                <a:solidFill>
                  <a:srgbClr val="2BA3C7"/>
                </a:solidFill>
                <a:latin typeface="Calibri" pitchFamily="34" charset="0"/>
                <a:ea typeface="Calibri" pitchFamily="34" charset="-122"/>
                <a:cs typeface="Calibri" pitchFamily="34" charset="-120"/>
              </a:rPr>
              <a:t>2 / 4</a:t>
            </a:r>
            <a:endParaRPr lang="en-US" sz="1200" dirty="0"/>
          </a:p>
        </p:txBody>
      </p:sp>
      <p:sp>
        <p:nvSpPr>
          <p:cNvPr id="18" name="Text 15"/>
          <p:cNvSpPr txBox="1"/>
          <p:nvPr/>
        </p:nvSpPr>
        <p:spPr>
          <a:xfrm>
            <a:off x="8001000" y="1783080"/>
            <a:ext cx="3657600" cy="914400"/>
          </a:xfrm>
          <a:prstGeom prst="rect">
            <a:avLst/>
          </a:prstGeom>
          <a:noFill/>
          <a:ln/>
        </p:spPr>
        <p:txBody>
          <a:bodyPr wrap="square" lIns="0" tIns="0" rIns="0" bIns="0" rtlCol="0" anchor="t"/>
          <a:lstStyle/>
          <a:p>
            <a:pPr indent="0" marL="0">
              <a:buNone/>
            </a:pPr>
            <a:r>
              <a:rPr lang="en-US" sz="1800" b="1" dirty="0">
                <a:solidFill>
                  <a:srgbClr val="EEF3F9"/>
                </a:solidFill>
                <a:latin typeface="Cambria" pitchFamily="34" charset="0"/>
                <a:ea typeface="Cambria" pitchFamily="34" charset="-122"/>
                <a:cs typeface="Cambria" pitchFamily="34" charset="-120"/>
              </a:rPr>
              <a:t>+ un prompt système et des outils = un agent</a:t>
            </a:r>
            <a:endParaRPr lang="en-US" sz="1800" dirty="0"/>
          </a:p>
        </p:txBody>
      </p:sp>
      <p:sp>
        <p:nvSpPr>
          <p:cNvPr id="19" name="Text 16"/>
          <p:cNvSpPr txBox="1"/>
          <p:nvPr/>
        </p:nvSpPr>
        <p:spPr>
          <a:xfrm>
            <a:off x="8001000" y="2834640"/>
            <a:ext cx="365760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le prompt système lui donne un rôle, des règles, le contexte de la tâche</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les outils lui donnent des mains : lire, exécuter, appeler des API</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il peut désormais agir sur le monde — une fois par réponse</a:t>
            </a:r>
            <a:endParaRPr lang="en-US" sz="1300" dirty="0"/>
          </a:p>
        </p:txBody>
      </p:sp>
      <p:sp>
        <p:nvSpPr>
          <p:cNvPr id="20" name="Shape 17"/>
          <p:cNvSpPr/>
          <p:nvPr/>
        </p:nvSpPr>
        <p:spPr>
          <a:xfrm>
            <a:off x="8001000" y="5394960"/>
            <a:ext cx="3657600" cy="731520"/>
          </a:xfrm>
          <a:prstGeom prst="roundRect">
            <a:avLst>
              <a:gd name="adj" fmla="val 15000"/>
            </a:avLst>
          </a:prstGeom>
          <a:solidFill>
            <a:srgbClr val="13263B"/>
          </a:solidFill>
          <a:ln w="19050">
            <a:solidFill>
              <a:srgbClr val="2BA3C7"/>
            </a:solidFill>
            <a:prstDash val="solid"/>
          </a:ln>
        </p:spPr>
      </p:sp>
      <p:sp>
        <p:nvSpPr>
          <p:cNvPr id="21" name="Text 18"/>
          <p:cNvSpPr txBox="1"/>
          <p:nvPr/>
        </p:nvSpPr>
        <p:spPr>
          <a:xfrm>
            <a:off x="8138160" y="5394960"/>
            <a:ext cx="3383280" cy="731520"/>
          </a:xfrm>
          <a:prstGeom prst="rect">
            <a:avLst/>
          </a:prstGeom>
          <a:noFill/>
          <a:ln/>
        </p:spPr>
        <p:txBody>
          <a:bodyPr wrap="square" lIns="0" tIns="0" rIns="0" bIns="0" rtlCol="0" anchor="ctr"/>
          <a:lstStyle/>
          <a:p>
            <a:pPr indent="0" marL="0">
              <a:buNone/>
            </a:pPr>
            <a:r>
              <a:rPr lang="en-US" sz="1200" b="1" dirty="0">
                <a:solidFill>
                  <a:srgbClr val="2BA3C7"/>
                </a:solidFill>
                <a:latin typeface="Courier New" pitchFamily="34" charset="0"/>
                <a:ea typeface="Courier New" pitchFamily="34" charset="-122"/>
                <a:cs typeface="Courier New" pitchFamily="34" charset="-120"/>
              </a:rPr>
              <a:t>LLM + prompt système + outils = agent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7</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DU LLM À L'AGENT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Chaque couche enveloppe la précédente</a:t>
            </a:r>
            <a:endParaRPr lang="en-US" sz="3400" dirty="0"/>
          </a:p>
        </p:txBody>
      </p:sp>
      <p:sp>
        <p:nvSpPr>
          <p:cNvPr id="7" name="Shape 4"/>
          <p:cNvSpPr/>
          <p:nvPr/>
        </p:nvSpPr>
        <p:spPr>
          <a:xfrm>
            <a:off x="914400" y="1920240"/>
            <a:ext cx="6400800" cy="4114800"/>
          </a:xfrm>
          <a:prstGeom prst="roundRect">
            <a:avLst>
              <a:gd name="adj" fmla="val 4444"/>
            </a:avLst>
          </a:prstGeom>
          <a:solidFill>
            <a:srgbClr val="18304A"/>
          </a:solidFill>
          <a:ln w="38100">
            <a:solidFill>
              <a:srgbClr val="5FBF7A"/>
            </a:solidFill>
            <a:prstDash val="solid"/>
          </a:ln>
        </p:spPr>
      </p:sp>
      <p:sp>
        <p:nvSpPr>
          <p:cNvPr id="8" name="Text 5"/>
          <p:cNvSpPr txBox="1"/>
          <p:nvPr/>
        </p:nvSpPr>
        <p:spPr>
          <a:xfrm>
            <a:off x="1097280" y="1975104"/>
            <a:ext cx="1188720" cy="329184"/>
          </a:xfrm>
          <a:prstGeom prst="rect">
            <a:avLst/>
          </a:prstGeom>
          <a:noFill/>
          <a:ln/>
        </p:spPr>
        <p:txBody>
          <a:bodyPr wrap="square" lIns="0" tIns="0" rIns="0" bIns="0" rtlCol="0" anchor="ctr"/>
          <a:lstStyle/>
          <a:p>
            <a:pPr indent="0" marL="0">
              <a:buNone/>
            </a:pPr>
            <a:r>
              <a:rPr lang="en-US" sz="1400" b="1" dirty="0">
                <a:solidFill>
                  <a:srgbClr val="5FBF7A"/>
                </a:solidFill>
                <a:latin typeface="Calibri" pitchFamily="34" charset="0"/>
                <a:ea typeface="Calibri" pitchFamily="34" charset="-122"/>
                <a:cs typeface="Calibri" pitchFamily="34" charset="-120"/>
              </a:rPr>
              <a:t>Harness</a:t>
            </a:r>
            <a:endParaRPr lang="en-US" sz="1400" dirty="0"/>
          </a:p>
        </p:txBody>
      </p:sp>
      <p:sp>
        <p:nvSpPr>
          <p:cNvPr id="9" name="Shape 6"/>
          <p:cNvSpPr/>
          <p:nvPr/>
        </p:nvSpPr>
        <p:spPr>
          <a:xfrm>
            <a:off x="2286000" y="1993392"/>
            <a:ext cx="1566672" cy="292608"/>
          </a:xfrm>
          <a:prstGeom prst="roundRect">
            <a:avLst>
              <a:gd name="adj" fmla="val 50000"/>
            </a:avLst>
          </a:prstGeom>
          <a:solidFill>
            <a:srgbClr val="5FBF7A"/>
          </a:solidFill>
          <a:ln w="12700">
            <a:solidFill>
              <a:srgbClr val="5FBF7A"/>
            </a:solidFill>
            <a:prstDash val="solid"/>
          </a:ln>
        </p:spPr>
      </p:sp>
      <p:sp>
        <p:nvSpPr>
          <p:cNvPr id="10" name="Text 7"/>
          <p:cNvSpPr txBox="1"/>
          <p:nvPr/>
        </p:nvSpPr>
        <p:spPr>
          <a:xfrm>
            <a:off x="2286000" y="1993392"/>
            <a:ext cx="1566672"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la boucle</a:t>
            </a:r>
            <a:endParaRPr lang="en-US" sz="1000" dirty="0"/>
          </a:p>
        </p:txBody>
      </p:sp>
      <p:sp>
        <p:nvSpPr>
          <p:cNvPr id="11" name="Shape 8"/>
          <p:cNvSpPr/>
          <p:nvPr/>
        </p:nvSpPr>
        <p:spPr>
          <a:xfrm>
            <a:off x="3925824" y="1993392"/>
            <a:ext cx="1566672" cy="292608"/>
          </a:xfrm>
          <a:prstGeom prst="roundRect">
            <a:avLst>
              <a:gd name="adj" fmla="val 50000"/>
            </a:avLst>
          </a:prstGeom>
          <a:solidFill>
            <a:srgbClr val="5FBF7A"/>
          </a:solidFill>
          <a:ln w="12700">
            <a:solidFill>
              <a:srgbClr val="5FBF7A"/>
            </a:solidFill>
            <a:prstDash val="solid"/>
          </a:ln>
        </p:spPr>
      </p:sp>
      <p:sp>
        <p:nvSpPr>
          <p:cNvPr id="12" name="Text 9"/>
          <p:cNvSpPr txBox="1"/>
          <p:nvPr/>
        </p:nvSpPr>
        <p:spPr>
          <a:xfrm>
            <a:off x="3925824" y="1993392"/>
            <a:ext cx="1566672"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contexte &amp; mémoire</a:t>
            </a:r>
            <a:endParaRPr lang="en-US" sz="1000" dirty="0"/>
          </a:p>
        </p:txBody>
      </p:sp>
      <p:sp>
        <p:nvSpPr>
          <p:cNvPr id="13" name="Shape 10"/>
          <p:cNvSpPr/>
          <p:nvPr/>
        </p:nvSpPr>
        <p:spPr>
          <a:xfrm>
            <a:off x="5565648" y="1993392"/>
            <a:ext cx="1566672" cy="292608"/>
          </a:xfrm>
          <a:prstGeom prst="roundRect">
            <a:avLst>
              <a:gd name="adj" fmla="val 50000"/>
            </a:avLst>
          </a:prstGeom>
          <a:solidFill>
            <a:srgbClr val="5FBF7A"/>
          </a:solidFill>
          <a:ln w="12700">
            <a:solidFill>
              <a:srgbClr val="5FBF7A"/>
            </a:solidFill>
            <a:prstDash val="solid"/>
          </a:ln>
        </p:spPr>
      </p:sp>
      <p:sp>
        <p:nvSpPr>
          <p:cNvPr id="14" name="Text 11"/>
          <p:cNvSpPr txBox="1"/>
          <p:nvPr/>
        </p:nvSpPr>
        <p:spPr>
          <a:xfrm>
            <a:off x="5565648" y="1993392"/>
            <a:ext cx="1566672"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permissions &amp; sandbox</a:t>
            </a:r>
            <a:endParaRPr lang="en-US" sz="1000" dirty="0"/>
          </a:p>
        </p:txBody>
      </p:sp>
      <p:sp>
        <p:nvSpPr>
          <p:cNvPr id="15" name="Shape 12"/>
          <p:cNvSpPr/>
          <p:nvPr/>
        </p:nvSpPr>
        <p:spPr>
          <a:xfrm>
            <a:off x="1280160" y="2377440"/>
            <a:ext cx="5669280" cy="3291840"/>
          </a:xfrm>
          <a:prstGeom prst="roundRect">
            <a:avLst>
              <a:gd name="adj" fmla="val 5556"/>
            </a:avLst>
          </a:prstGeom>
          <a:solidFill>
            <a:srgbClr val="13263B"/>
          </a:solidFill>
          <a:ln w="15875">
            <a:solidFill>
              <a:srgbClr val="2BA3C7"/>
            </a:solidFill>
            <a:prstDash val="dash"/>
          </a:ln>
        </p:spPr>
      </p:sp>
      <p:sp>
        <p:nvSpPr>
          <p:cNvPr id="16" name="Text 13"/>
          <p:cNvSpPr txBox="1"/>
          <p:nvPr/>
        </p:nvSpPr>
        <p:spPr>
          <a:xfrm>
            <a:off x="1463040" y="2432304"/>
            <a:ext cx="1188720" cy="329184"/>
          </a:xfrm>
          <a:prstGeom prst="rect">
            <a:avLst/>
          </a:prstGeom>
          <a:noFill/>
          <a:ln/>
        </p:spPr>
        <p:txBody>
          <a:bodyPr wrap="square" lIns="0" tIns="0" rIns="0" bIns="0" rtlCol="0" anchor="ctr"/>
          <a:lstStyle/>
          <a:p>
            <a:pPr indent="0" marL="0">
              <a:buNone/>
            </a:pPr>
            <a:r>
              <a:rPr lang="en-US" sz="1400" b="1" dirty="0">
                <a:solidFill>
                  <a:srgbClr val="2BA3C7"/>
                </a:solidFill>
                <a:latin typeface="Calibri" pitchFamily="34" charset="0"/>
                <a:ea typeface="Calibri" pitchFamily="34" charset="-122"/>
                <a:cs typeface="Calibri" pitchFamily="34" charset="-120"/>
              </a:rPr>
              <a:t>Agent</a:t>
            </a:r>
            <a:endParaRPr lang="en-US" sz="1400" dirty="0"/>
          </a:p>
        </p:txBody>
      </p:sp>
      <p:sp>
        <p:nvSpPr>
          <p:cNvPr id="17" name="Shape 14"/>
          <p:cNvSpPr/>
          <p:nvPr/>
        </p:nvSpPr>
        <p:spPr>
          <a:xfrm>
            <a:off x="2651760" y="2450592"/>
            <a:ext cx="2020824" cy="292608"/>
          </a:xfrm>
          <a:prstGeom prst="roundRect">
            <a:avLst>
              <a:gd name="adj" fmla="val 50000"/>
            </a:avLst>
          </a:prstGeom>
          <a:solidFill>
            <a:srgbClr val="13263B"/>
          </a:solidFill>
          <a:ln w="12700">
            <a:solidFill>
              <a:srgbClr val="2BA3C7"/>
            </a:solidFill>
            <a:prstDash val="solid"/>
          </a:ln>
        </p:spPr>
      </p:sp>
      <p:sp>
        <p:nvSpPr>
          <p:cNvPr id="18" name="Text 15"/>
          <p:cNvSpPr txBox="1"/>
          <p:nvPr/>
        </p:nvSpPr>
        <p:spPr>
          <a:xfrm>
            <a:off x="2651760" y="2450592"/>
            <a:ext cx="2020824" cy="292608"/>
          </a:xfrm>
          <a:prstGeom prst="rect">
            <a:avLst/>
          </a:prstGeom>
          <a:noFill/>
          <a:ln/>
        </p:spPr>
        <p:txBody>
          <a:bodyPr wrap="square" lIns="0" tIns="0" rIns="0" bIns="0" rtlCol="0" anchor="ctr"/>
          <a:lstStyle/>
          <a:p>
            <a:pPr algn="ctr" indent="0" marL="0">
              <a:buNone/>
            </a:pPr>
            <a:r>
              <a:rPr lang="en-US" sz="1000" b="1" dirty="0">
                <a:solidFill>
                  <a:srgbClr val="2BA3C7"/>
                </a:solidFill>
                <a:latin typeface="Calibri" pitchFamily="34" charset="0"/>
                <a:ea typeface="Calibri" pitchFamily="34" charset="-122"/>
                <a:cs typeface="Calibri" pitchFamily="34" charset="-120"/>
              </a:rPr>
              <a:t>prompt système</a:t>
            </a:r>
            <a:endParaRPr lang="en-US" sz="1000" dirty="0"/>
          </a:p>
        </p:txBody>
      </p:sp>
      <p:sp>
        <p:nvSpPr>
          <p:cNvPr id="19" name="Shape 16"/>
          <p:cNvSpPr/>
          <p:nvPr/>
        </p:nvSpPr>
        <p:spPr>
          <a:xfrm>
            <a:off x="4745736" y="2450592"/>
            <a:ext cx="2020824" cy="292608"/>
          </a:xfrm>
          <a:prstGeom prst="roundRect">
            <a:avLst>
              <a:gd name="adj" fmla="val 50000"/>
            </a:avLst>
          </a:prstGeom>
          <a:solidFill>
            <a:srgbClr val="13263B"/>
          </a:solidFill>
          <a:ln w="12700">
            <a:solidFill>
              <a:srgbClr val="2BA3C7"/>
            </a:solidFill>
            <a:prstDash val="solid"/>
          </a:ln>
        </p:spPr>
      </p:sp>
      <p:sp>
        <p:nvSpPr>
          <p:cNvPr id="20" name="Text 17"/>
          <p:cNvSpPr txBox="1"/>
          <p:nvPr/>
        </p:nvSpPr>
        <p:spPr>
          <a:xfrm>
            <a:off x="4745736" y="2450592"/>
            <a:ext cx="2020824" cy="292608"/>
          </a:xfrm>
          <a:prstGeom prst="rect">
            <a:avLst/>
          </a:prstGeom>
          <a:noFill/>
          <a:ln/>
        </p:spPr>
        <p:txBody>
          <a:bodyPr wrap="square" lIns="0" tIns="0" rIns="0" bIns="0" rtlCol="0" anchor="ctr"/>
          <a:lstStyle/>
          <a:p>
            <a:pPr algn="ctr" indent="0" marL="0">
              <a:buNone/>
            </a:pPr>
            <a:r>
              <a:rPr lang="en-US" sz="1000" b="1" dirty="0">
                <a:solidFill>
                  <a:srgbClr val="2BA3C7"/>
                </a:solidFill>
                <a:latin typeface="Calibri" pitchFamily="34" charset="0"/>
                <a:ea typeface="Calibri" pitchFamily="34" charset="-122"/>
                <a:cs typeface="Calibri" pitchFamily="34" charset="-120"/>
              </a:rPr>
              <a:t>outils</a:t>
            </a:r>
            <a:endParaRPr lang="en-US" sz="1000" dirty="0"/>
          </a:p>
        </p:txBody>
      </p:sp>
      <p:sp>
        <p:nvSpPr>
          <p:cNvPr id="21" name="Shape 18"/>
          <p:cNvSpPr/>
          <p:nvPr/>
        </p:nvSpPr>
        <p:spPr>
          <a:xfrm>
            <a:off x="1645920" y="2834640"/>
            <a:ext cx="4937760" cy="2377440"/>
          </a:xfrm>
          <a:prstGeom prst="roundRect">
            <a:avLst>
              <a:gd name="adj" fmla="val 6923"/>
            </a:avLst>
          </a:prstGeom>
          <a:solidFill>
            <a:srgbClr val="18304A"/>
          </a:solidFill>
          <a:ln w="25400">
            <a:solidFill>
              <a:srgbClr val="8E72E6"/>
            </a:solidFill>
            <a:prstDash val="solid"/>
          </a:ln>
        </p:spPr>
      </p:sp>
      <p:sp>
        <p:nvSpPr>
          <p:cNvPr id="22" name="Text 19"/>
          <p:cNvSpPr txBox="1"/>
          <p:nvPr/>
        </p:nvSpPr>
        <p:spPr>
          <a:xfrm>
            <a:off x="1645920" y="3154680"/>
            <a:ext cx="4937760" cy="822960"/>
          </a:xfrm>
          <a:prstGeom prst="rect">
            <a:avLst/>
          </a:prstGeom>
          <a:noFill/>
          <a:ln/>
        </p:spPr>
        <p:txBody>
          <a:bodyPr wrap="square" lIns="0" tIns="0" rIns="0" bIns="0" rtlCol="0" anchor="ctr"/>
          <a:lstStyle/>
          <a:p>
            <a:pPr algn="ctr" indent="0" marL="0">
              <a:buNone/>
            </a:pPr>
            <a:r>
              <a:rPr lang="en-US" sz="4000" b="1" dirty="0">
                <a:solidFill>
                  <a:srgbClr val="8E72E6"/>
                </a:solidFill>
                <a:latin typeface="Cambria" pitchFamily="34" charset="0"/>
                <a:ea typeface="Cambria" pitchFamily="34" charset="-122"/>
                <a:cs typeface="Cambria" pitchFamily="34" charset="-120"/>
              </a:rPr>
              <a:t>LLM</a:t>
            </a:r>
            <a:endParaRPr lang="en-US" sz="4000" dirty="0"/>
          </a:p>
        </p:txBody>
      </p:sp>
      <p:sp>
        <p:nvSpPr>
          <p:cNvPr id="23" name="Text 20"/>
          <p:cNvSpPr txBox="1"/>
          <p:nvPr/>
        </p:nvSpPr>
        <p:spPr>
          <a:xfrm>
            <a:off x="1645920" y="4023360"/>
            <a:ext cx="4937760" cy="457200"/>
          </a:xfrm>
          <a:prstGeom prst="rect">
            <a:avLst/>
          </a:prstGeom>
          <a:noFill/>
          <a:ln/>
        </p:spPr>
        <p:txBody>
          <a:bodyPr wrap="square" lIns="0" tIns="0" rIns="0" bIns="0" rtlCol="0" anchor="ctr"/>
          <a:lstStyle/>
          <a:p>
            <a:pPr algn="ctr" indent="0" marL="0">
              <a:buNone/>
            </a:pPr>
            <a:r>
              <a:rPr lang="en-US" sz="1500" dirty="0">
                <a:solidFill>
                  <a:srgbClr val="EEF3F9"/>
                </a:solidFill>
                <a:latin typeface="Calibri" pitchFamily="34" charset="0"/>
                <a:ea typeface="Calibri" pitchFamily="34" charset="-122"/>
                <a:cs typeface="Calibri" pitchFamily="34" charset="-120"/>
              </a:rPr>
              <a:t>en vase clos · texte entrant, texte sortant</a:t>
            </a:r>
            <a:endParaRPr lang="en-US" sz="1500" dirty="0"/>
          </a:p>
        </p:txBody>
      </p:sp>
      <p:sp>
        <p:nvSpPr>
          <p:cNvPr id="24" name="Text 21"/>
          <p:cNvSpPr txBox="1"/>
          <p:nvPr/>
        </p:nvSpPr>
        <p:spPr>
          <a:xfrm>
            <a:off x="1645920" y="4480560"/>
            <a:ext cx="4937760" cy="411480"/>
          </a:xfrm>
          <a:prstGeom prst="rect">
            <a:avLst/>
          </a:prstGeom>
          <a:noFill/>
          <a:ln/>
        </p:spPr>
        <p:txBody>
          <a:bodyPr wrap="square" lIns="0" tIns="0" rIns="0" bIns="0" rtlCol="0" anchor="ctr"/>
          <a:lstStyle/>
          <a:p>
            <a:pPr algn="ctr" indent="0" marL="0">
              <a:buNone/>
            </a:pPr>
            <a:r>
              <a:rPr lang="en-US" sz="1200" dirty="0">
                <a:solidFill>
                  <a:srgbClr val="8FA3B8"/>
                </a:solidFill>
                <a:latin typeface="Calibri" pitchFamily="34" charset="0"/>
                <a:ea typeface="Calibri" pitchFamily="34" charset="-122"/>
                <a:cs typeface="Calibri" pitchFamily="34" charset="-120"/>
              </a:rPr>
              <a:t>savoir figé · pas de mains · pas de mémoire</a:t>
            </a:r>
            <a:endParaRPr lang="en-US" sz="1200" dirty="0"/>
          </a:p>
        </p:txBody>
      </p:sp>
      <p:sp>
        <p:nvSpPr>
          <p:cNvPr id="25" name="Text 22"/>
          <p:cNvSpPr txBox="1"/>
          <p:nvPr/>
        </p:nvSpPr>
        <p:spPr>
          <a:xfrm>
            <a:off x="8001000" y="1463040"/>
            <a:ext cx="1097280" cy="320040"/>
          </a:xfrm>
          <a:prstGeom prst="rect">
            <a:avLst/>
          </a:prstGeom>
          <a:noFill/>
          <a:ln/>
        </p:spPr>
        <p:txBody>
          <a:bodyPr wrap="square" lIns="0" tIns="0" rIns="0" bIns="0" rtlCol="0" anchor="ctr"/>
          <a:lstStyle/>
          <a:p>
            <a:pPr indent="0" marL="0">
              <a:buNone/>
            </a:pPr>
            <a:r>
              <a:rPr lang="en-US" sz="1200" b="1" dirty="0">
                <a:solidFill>
                  <a:srgbClr val="5FBF7A"/>
                </a:solidFill>
                <a:latin typeface="Calibri" pitchFamily="34" charset="0"/>
                <a:ea typeface="Calibri" pitchFamily="34" charset="-122"/>
                <a:cs typeface="Calibri" pitchFamily="34" charset="-120"/>
              </a:rPr>
              <a:t>3 / 4</a:t>
            </a:r>
            <a:endParaRPr lang="en-US" sz="1200" dirty="0"/>
          </a:p>
        </p:txBody>
      </p:sp>
      <p:sp>
        <p:nvSpPr>
          <p:cNvPr id="26" name="Text 23"/>
          <p:cNvSpPr txBox="1"/>
          <p:nvPr/>
        </p:nvSpPr>
        <p:spPr>
          <a:xfrm>
            <a:off x="8001000" y="1783080"/>
            <a:ext cx="3657600" cy="914400"/>
          </a:xfrm>
          <a:prstGeom prst="rect">
            <a:avLst/>
          </a:prstGeom>
          <a:noFill/>
          <a:ln/>
        </p:spPr>
        <p:txBody>
          <a:bodyPr wrap="square" lIns="0" tIns="0" rIns="0" bIns="0" rtlCol="0" anchor="t"/>
          <a:lstStyle/>
          <a:p>
            <a:pPr indent="0" marL="0">
              <a:buNone/>
            </a:pPr>
            <a:r>
              <a:rPr lang="en-US" sz="1800" b="1" dirty="0">
                <a:solidFill>
                  <a:srgbClr val="EEF3F9"/>
                </a:solidFill>
                <a:latin typeface="Cambria" pitchFamily="34" charset="0"/>
                <a:ea typeface="Cambria" pitchFamily="34" charset="-122"/>
                <a:cs typeface="Cambria" pitchFamily="34" charset="-120"/>
              </a:rPr>
              <a:t>+ une boucle, de la mémoire, des permissions = un harness</a:t>
            </a:r>
            <a:endParaRPr lang="en-US" sz="1800" dirty="0"/>
          </a:p>
        </p:txBody>
      </p:sp>
      <p:sp>
        <p:nvSpPr>
          <p:cNvPr id="27" name="Text 24"/>
          <p:cNvSpPr txBox="1"/>
          <p:nvPr/>
        </p:nvSpPr>
        <p:spPr>
          <a:xfrm>
            <a:off x="8001000" y="2834640"/>
            <a:ext cx="365760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la boucle : observer → réfléchir → agir → vérifier, jusqu'au bout</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contexte et mémoire : ce qu'il voit, ce qui survit à la session</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permissions et sandbox : ce qu'il peut faire sans demander</a:t>
            </a:r>
            <a:endParaRPr lang="en-US" sz="1300" dirty="0"/>
          </a:p>
        </p:txBody>
      </p:sp>
      <p:sp>
        <p:nvSpPr>
          <p:cNvPr id="28" name="Shape 25"/>
          <p:cNvSpPr/>
          <p:nvPr/>
        </p:nvSpPr>
        <p:spPr>
          <a:xfrm>
            <a:off x="8001000" y="5394960"/>
            <a:ext cx="3657600" cy="731520"/>
          </a:xfrm>
          <a:prstGeom prst="roundRect">
            <a:avLst>
              <a:gd name="adj" fmla="val 15000"/>
            </a:avLst>
          </a:prstGeom>
          <a:solidFill>
            <a:srgbClr val="13263B"/>
          </a:solidFill>
          <a:ln w="19050">
            <a:solidFill>
              <a:srgbClr val="5FBF7A"/>
            </a:solidFill>
            <a:prstDash val="solid"/>
          </a:ln>
        </p:spPr>
      </p:sp>
      <p:sp>
        <p:nvSpPr>
          <p:cNvPr id="29" name="Text 26"/>
          <p:cNvSpPr txBox="1"/>
          <p:nvPr/>
        </p:nvSpPr>
        <p:spPr>
          <a:xfrm>
            <a:off x="8138160" y="5394960"/>
            <a:ext cx="3383280" cy="731520"/>
          </a:xfrm>
          <a:prstGeom prst="rect">
            <a:avLst/>
          </a:prstGeom>
          <a:noFill/>
          <a:ln/>
        </p:spPr>
        <p:txBody>
          <a:bodyPr wrap="square" lIns="0" tIns="0" rIns="0" bIns="0" rtlCol="0" anchor="ctr"/>
          <a:lstStyle/>
          <a:p>
            <a:pPr indent="0" marL="0">
              <a:buNone/>
            </a:pPr>
            <a:r>
              <a:rPr lang="en-US" sz="1200" b="1" dirty="0">
                <a:solidFill>
                  <a:srgbClr val="5FBF7A"/>
                </a:solidFill>
                <a:latin typeface="Courier New" pitchFamily="34" charset="0"/>
                <a:ea typeface="Courier New" pitchFamily="34" charset="-122"/>
                <a:cs typeface="Courier New" pitchFamily="34" charset="-120"/>
              </a:rPr>
              <a:t>agent + boucle + mémoire + permissions = harness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8</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DU LLM À L'AGENT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Chaque couche enveloppe la précédente</a:t>
            </a:r>
            <a:endParaRPr lang="en-US" sz="3400" dirty="0"/>
          </a:p>
        </p:txBody>
      </p:sp>
      <p:sp>
        <p:nvSpPr>
          <p:cNvPr id="7" name="Shape 4"/>
          <p:cNvSpPr/>
          <p:nvPr/>
        </p:nvSpPr>
        <p:spPr>
          <a:xfrm>
            <a:off x="457200" y="1463040"/>
            <a:ext cx="7223760" cy="4937760"/>
          </a:xfrm>
          <a:prstGeom prst="roundRect">
            <a:avLst>
              <a:gd name="adj" fmla="val 3704"/>
            </a:avLst>
          </a:prstGeom>
          <a:solidFill>
            <a:srgbClr val="18304A"/>
          </a:solidFill>
          <a:ln w="38100">
            <a:solidFill>
              <a:srgbClr val="D4AF37"/>
            </a:solidFill>
            <a:prstDash val="solid"/>
          </a:ln>
        </p:spPr>
      </p:sp>
      <p:sp>
        <p:nvSpPr>
          <p:cNvPr id="8" name="Text 5"/>
          <p:cNvSpPr txBox="1"/>
          <p:nvPr/>
        </p:nvSpPr>
        <p:spPr>
          <a:xfrm>
            <a:off x="640080" y="1517904"/>
            <a:ext cx="1188720" cy="329184"/>
          </a:xfrm>
          <a:prstGeom prst="rect">
            <a:avLst/>
          </a:prstGeom>
          <a:noFill/>
          <a:ln/>
        </p:spPr>
        <p:txBody>
          <a:bodyPr wrap="square" lIns="0" tIns="0" rIns="0" bIns="0" rtlCol="0" anchor="ctr"/>
          <a:lstStyle/>
          <a:p>
            <a:pPr indent="0" marL="0">
              <a:buNone/>
            </a:pPr>
            <a:r>
              <a:rPr lang="en-US" sz="1400" b="1" dirty="0">
                <a:solidFill>
                  <a:srgbClr val="D4AF37"/>
                </a:solidFill>
                <a:latin typeface="Calibri" pitchFamily="34" charset="0"/>
                <a:ea typeface="Calibri" pitchFamily="34" charset="-122"/>
                <a:cs typeface="Calibri" pitchFamily="34" charset="-120"/>
              </a:rPr>
              <a:t>Agent-One</a:t>
            </a:r>
            <a:endParaRPr lang="en-US" sz="1400" dirty="0"/>
          </a:p>
        </p:txBody>
      </p:sp>
      <p:sp>
        <p:nvSpPr>
          <p:cNvPr id="9" name="Shape 6"/>
          <p:cNvSpPr/>
          <p:nvPr/>
        </p:nvSpPr>
        <p:spPr>
          <a:xfrm>
            <a:off x="1828800" y="1536192"/>
            <a:ext cx="1075334" cy="292608"/>
          </a:xfrm>
          <a:prstGeom prst="roundRect">
            <a:avLst>
              <a:gd name="adj" fmla="val 50000"/>
            </a:avLst>
          </a:prstGeom>
          <a:solidFill>
            <a:srgbClr val="D4AF37"/>
          </a:solidFill>
          <a:ln w="12700">
            <a:solidFill>
              <a:srgbClr val="D4AF37"/>
            </a:solidFill>
            <a:prstDash val="solid"/>
          </a:ln>
        </p:spPr>
      </p:sp>
      <p:sp>
        <p:nvSpPr>
          <p:cNvPr id="10" name="Text 7"/>
          <p:cNvSpPr txBox="1"/>
          <p:nvPr/>
        </p:nvSpPr>
        <p:spPr>
          <a:xfrm>
            <a:off x="1828800"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garde &amp; gate</a:t>
            </a:r>
            <a:endParaRPr lang="en-US" sz="1000" dirty="0"/>
          </a:p>
        </p:txBody>
      </p:sp>
      <p:sp>
        <p:nvSpPr>
          <p:cNvPr id="11" name="Shape 8"/>
          <p:cNvSpPr/>
          <p:nvPr/>
        </p:nvSpPr>
        <p:spPr>
          <a:xfrm>
            <a:off x="2977286" y="1536192"/>
            <a:ext cx="1075334" cy="292608"/>
          </a:xfrm>
          <a:prstGeom prst="roundRect">
            <a:avLst>
              <a:gd name="adj" fmla="val 50000"/>
            </a:avLst>
          </a:prstGeom>
          <a:solidFill>
            <a:srgbClr val="D4AF37"/>
          </a:solidFill>
          <a:ln w="12700">
            <a:solidFill>
              <a:srgbClr val="D4AF37"/>
            </a:solidFill>
            <a:prstDash val="solid"/>
          </a:ln>
        </p:spPr>
      </p:sp>
      <p:sp>
        <p:nvSpPr>
          <p:cNvPr id="12" name="Text 9"/>
          <p:cNvSpPr txBox="1"/>
          <p:nvPr/>
        </p:nvSpPr>
        <p:spPr>
          <a:xfrm>
            <a:off x="2977286"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aperçus</a:t>
            </a:r>
            <a:endParaRPr lang="en-US" sz="1000" dirty="0"/>
          </a:p>
        </p:txBody>
      </p:sp>
      <p:sp>
        <p:nvSpPr>
          <p:cNvPr id="13" name="Shape 10"/>
          <p:cNvSpPr/>
          <p:nvPr/>
        </p:nvSpPr>
        <p:spPr>
          <a:xfrm>
            <a:off x="4125773" y="1536192"/>
            <a:ext cx="1075334" cy="292608"/>
          </a:xfrm>
          <a:prstGeom prst="roundRect">
            <a:avLst>
              <a:gd name="adj" fmla="val 50000"/>
            </a:avLst>
          </a:prstGeom>
          <a:solidFill>
            <a:srgbClr val="D4AF37"/>
          </a:solidFill>
          <a:ln w="12700">
            <a:solidFill>
              <a:srgbClr val="D4AF37"/>
            </a:solidFill>
            <a:prstDash val="solid"/>
          </a:ln>
        </p:spPr>
      </p:sp>
      <p:sp>
        <p:nvSpPr>
          <p:cNvPr id="14" name="Text 11"/>
          <p:cNvSpPr txBox="1"/>
          <p:nvPr/>
        </p:nvSpPr>
        <p:spPr>
          <a:xfrm>
            <a:off x="4125773"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sous-agents</a:t>
            </a:r>
            <a:endParaRPr lang="en-US" sz="1000" dirty="0"/>
          </a:p>
        </p:txBody>
      </p:sp>
      <p:sp>
        <p:nvSpPr>
          <p:cNvPr id="15" name="Shape 12"/>
          <p:cNvSpPr/>
          <p:nvPr/>
        </p:nvSpPr>
        <p:spPr>
          <a:xfrm>
            <a:off x="5274259" y="1536192"/>
            <a:ext cx="1075334" cy="292608"/>
          </a:xfrm>
          <a:prstGeom prst="roundRect">
            <a:avLst>
              <a:gd name="adj" fmla="val 50000"/>
            </a:avLst>
          </a:prstGeom>
          <a:solidFill>
            <a:srgbClr val="D4AF37"/>
          </a:solidFill>
          <a:ln w="12700">
            <a:solidFill>
              <a:srgbClr val="D4AF37"/>
            </a:solidFill>
            <a:prstDash val="solid"/>
          </a:ln>
        </p:spPr>
      </p:sp>
      <p:sp>
        <p:nvSpPr>
          <p:cNvPr id="16" name="Text 13"/>
          <p:cNvSpPr txBox="1"/>
          <p:nvPr/>
        </p:nvSpPr>
        <p:spPr>
          <a:xfrm>
            <a:off x="5274259"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gateway · registre</a:t>
            </a:r>
            <a:endParaRPr lang="en-US" sz="1000" dirty="0"/>
          </a:p>
        </p:txBody>
      </p:sp>
      <p:sp>
        <p:nvSpPr>
          <p:cNvPr id="17" name="Shape 14"/>
          <p:cNvSpPr/>
          <p:nvPr/>
        </p:nvSpPr>
        <p:spPr>
          <a:xfrm>
            <a:off x="6422746" y="1536192"/>
            <a:ext cx="1075334" cy="292608"/>
          </a:xfrm>
          <a:prstGeom prst="roundRect">
            <a:avLst>
              <a:gd name="adj" fmla="val 50000"/>
            </a:avLst>
          </a:prstGeom>
          <a:solidFill>
            <a:srgbClr val="D4AF37"/>
          </a:solidFill>
          <a:ln w="12700">
            <a:solidFill>
              <a:srgbClr val="D4AF37"/>
            </a:solidFill>
            <a:prstDash val="solid"/>
          </a:ln>
        </p:spPr>
      </p:sp>
      <p:sp>
        <p:nvSpPr>
          <p:cNvPr id="18" name="Text 15"/>
          <p:cNvSpPr txBox="1"/>
          <p:nvPr/>
        </p:nvSpPr>
        <p:spPr>
          <a:xfrm>
            <a:off x="6422746" y="1536192"/>
            <a:ext cx="1075334" cy="292608"/>
          </a:xfrm>
          <a:prstGeom prst="rect">
            <a:avLst/>
          </a:prstGeom>
          <a:noFill/>
          <a:ln/>
        </p:spPr>
        <p:txBody>
          <a:bodyPr wrap="square" lIns="0" tIns="0" rIns="0" bIns="0" rtlCol="0" anchor="ctr"/>
          <a:lstStyle/>
          <a:p>
            <a:pPr algn="ctr" indent="0" marL="0">
              <a:buNone/>
            </a:pPr>
            <a:r>
              <a:rPr lang="en-US" sz="1000" b="1" dirty="0">
                <a:solidFill>
                  <a:srgbClr val="0B1A2B"/>
                </a:solidFill>
                <a:latin typeface="Calibri" pitchFamily="34" charset="0"/>
                <a:ea typeface="Calibri" pitchFamily="34" charset="-122"/>
                <a:cs typeface="Calibri" pitchFamily="34" charset="-120"/>
              </a:rPr>
              <a:t>il apprend</a:t>
            </a:r>
            <a:endParaRPr lang="en-US" sz="1000" dirty="0"/>
          </a:p>
        </p:txBody>
      </p:sp>
      <p:sp>
        <p:nvSpPr>
          <p:cNvPr id="19" name="Shape 16"/>
          <p:cNvSpPr/>
          <p:nvPr/>
        </p:nvSpPr>
        <p:spPr>
          <a:xfrm>
            <a:off x="914400" y="1920240"/>
            <a:ext cx="6400800" cy="4114800"/>
          </a:xfrm>
          <a:prstGeom prst="roundRect">
            <a:avLst>
              <a:gd name="adj" fmla="val 4444"/>
            </a:avLst>
          </a:prstGeom>
          <a:solidFill>
            <a:srgbClr val="13263B"/>
          </a:solidFill>
          <a:ln w="15875">
            <a:solidFill>
              <a:srgbClr val="5FBF7A"/>
            </a:solidFill>
            <a:prstDash val="dash"/>
          </a:ln>
        </p:spPr>
      </p:sp>
      <p:sp>
        <p:nvSpPr>
          <p:cNvPr id="20" name="Text 17"/>
          <p:cNvSpPr txBox="1"/>
          <p:nvPr/>
        </p:nvSpPr>
        <p:spPr>
          <a:xfrm>
            <a:off x="1097280" y="1975104"/>
            <a:ext cx="1188720" cy="329184"/>
          </a:xfrm>
          <a:prstGeom prst="rect">
            <a:avLst/>
          </a:prstGeom>
          <a:noFill/>
          <a:ln/>
        </p:spPr>
        <p:txBody>
          <a:bodyPr wrap="square" lIns="0" tIns="0" rIns="0" bIns="0" rtlCol="0" anchor="ctr"/>
          <a:lstStyle/>
          <a:p>
            <a:pPr indent="0" marL="0">
              <a:buNone/>
            </a:pPr>
            <a:r>
              <a:rPr lang="en-US" sz="1400" b="1" dirty="0">
                <a:solidFill>
                  <a:srgbClr val="5FBF7A"/>
                </a:solidFill>
                <a:latin typeface="Calibri" pitchFamily="34" charset="0"/>
                <a:ea typeface="Calibri" pitchFamily="34" charset="-122"/>
                <a:cs typeface="Calibri" pitchFamily="34" charset="-120"/>
              </a:rPr>
              <a:t>Harness</a:t>
            </a:r>
            <a:endParaRPr lang="en-US" sz="1400" dirty="0"/>
          </a:p>
        </p:txBody>
      </p:sp>
      <p:sp>
        <p:nvSpPr>
          <p:cNvPr id="21" name="Shape 18"/>
          <p:cNvSpPr/>
          <p:nvPr/>
        </p:nvSpPr>
        <p:spPr>
          <a:xfrm>
            <a:off x="2286000" y="1993392"/>
            <a:ext cx="1566672" cy="292608"/>
          </a:xfrm>
          <a:prstGeom prst="roundRect">
            <a:avLst>
              <a:gd name="adj" fmla="val 50000"/>
            </a:avLst>
          </a:prstGeom>
          <a:solidFill>
            <a:srgbClr val="13263B"/>
          </a:solidFill>
          <a:ln w="12700">
            <a:solidFill>
              <a:srgbClr val="5FBF7A"/>
            </a:solidFill>
            <a:prstDash val="solid"/>
          </a:ln>
        </p:spPr>
      </p:sp>
      <p:sp>
        <p:nvSpPr>
          <p:cNvPr id="22" name="Text 19"/>
          <p:cNvSpPr txBox="1"/>
          <p:nvPr/>
        </p:nvSpPr>
        <p:spPr>
          <a:xfrm>
            <a:off x="2286000" y="1993392"/>
            <a:ext cx="1566672" cy="292608"/>
          </a:xfrm>
          <a:prstGeom prst="rect">
            <a:avLst/>
          </a:prstGeom>
          <a:noFill/>
          <a:ln/>
        </p:spPr>
        <p:txBody>
          <a:bodyPr wrap="square" lIns="0" tIns="0" rIns="0" bIns="0" rtlCol="0" anchor="ctr"/>
          <a:lstStyle/>
          <a:p>
            <a:pPr algn="ctr" indent="0" marL="0">
              <a:buNone/>
            </a:pPr>
            <a:r>
              <a:rPr lang="en-US" sz="1000" b="1" dirty="0">
                <a:solidFill>
                  <a:srgbClr val="5FBF7A"/>
                </a:solidFill>
                <a:latin typeface="Calibri" pitchFamily="34" charset="0"/>
                <a:ea typeface="Calibri" pitchFamily="34" charset="-122"/>
                <a:cs typeface="Calibri" pitchFamily="34" charset="-120"/>
              </a:rPr>
              <a:t>la boucle</a:t>
            </a:r>
            <a:endParaRPr lang="en-US" sz="1000" dirty="0"/>
          </a:p>
        </p:txBody>
      </p:sp>
      <p:sp>
        <p:nvSpPr>
          <p:cNvPr id="23" name="Shape 20"/>
          <p:cNvSpPr/>
          <p:nvPr/>
        </p:nvSpPr>
        <p:spPr>
          <a:xfrm>
            <a:off x="3925824" y="1993392"/>
            <a:ext cx="1566672" cy="292608"/>
          </a:xfrm>
          <a:prstGeom prst="roundRect">
            <a:avLst>
              <a:gd name="adj" fmla="val 50000"/>
            </a:avLst>
          </a:prstGeom>
          <a:solidFill>
            <a:srgbClr val="13263B"/>
          </a:solidFill>
          <a:ln w="12700">
            <a:solidFill>
              <a:srgbClr val="5FBF7A"/>
            </a:solidFill>
            <a:prstDash val="solid"/>
          </a:ln>
        </p:spPr>
      </p:sp>
      <p:sp>
        <p:nvSpPr>
          <p:cNvPr id="24" name="Text 21"/>
          <p:cNvSpPr txBox="1"/>
          <p:nvPr/>
        </p:nvSpPr>
        <p:spPr>
          <a:xfrm>
            <a:off x="3925824" y="1993392"/>
            <a:ext cx="1566672" cy="292608"/>
          </a:xfrm>
          <a:prstGeom prst="rect">
            <a:avLst/>
          </a:prstGeom>
          <a:noFill/>
          <a:ln/>
        </p:spPr>
        <p:txBody>
          <a:bodyPr wrap="square" lIns="0" tIns="0" rIns="0" bIns="0" rtlCol="0" anchor="ctr"/>
          <a:lstStyle/>
          <a:p>
            <a:pPr algn="ctr" indent="0" marL="0">
              <a:buNone/>
            </a:pPr>
            <a:r>
              <a:rPr lang="en-US" sz="1000" b="1" dirty="0">
                <a:solidFill>
                  <a:srgbClr val="5FBF7A"/>
                </a:solidFill>
                <a:latin typeface="Calibri" pitchFamily="34" charset="0"/>
                <a:ea typeface="Calibri" pitchFamily="34" charset="-122"/>
                <a:cs typeface="Calibri" pitchFamily="34" charset="-120"/>
              </a:rPr>
              <a:t>contexte &amp; mémoire</a:t>
            </a:r>
            <a:endParaRPr lang="en-US" sz="1000" dirty="0"/>
          </a:p>
        </p:txBody>
      </p:sp>
      <p:sp>
        <p:nvSpPr>
          <p:cNvPr id="25" name="Shape 22"/>
          <p:cNvSpPr/>
          <p:nvPr/>
        </p:nvSpPr>
        <p:spPr>
          <a:xfrm>
            <a:off x="5565648" y="1993392"/>
            <a:ext cx="1566672" cy="292608"/>
          </a:xfrm>
          <a:prstGeom prst="roundRect">
            <a:avLst>
              <a:gd name="adj" fmla="val 50000"/>
            </a:avLst>
          </a:prstGeom>
          <a:solidFill>
            <a:srgbClr val="13263B"/>
          </a:solidFill>
          <a:ln w="12700">
            <a:solidFill>
              <a:srgbClr val="5FBF7A"/>
            </a:solidFill>
            <a:prstDash val="solid"/>
          </a:ln>
        </p:spPr>
      </p:sp>
      <p:sp>
        <p:nvSpPr>
          <p:cNvPr id="26" name="Text 23"/>
          <p:cNvSpPr txBox="1"/>
          <p:nvPr/>
        </p:nvSpPr>
        <p:spPr>
          <a:xfrm>
            <a:off x="5565648" y="1993392"/>
            <a:ext cx="1566672" cy="292608"/>
          </a:xfrm>
          <a:prstGeom prst="rect">
            <a:avLst/>
          </a:prstGeom>
          <a:noFill/>
          <a:ln/>
        </p:spPr>
        <p:txBody>
          <a:bodyPr wrap="square" lIns="0" tIns="0" rIns="0" bIns="0" rtlCol="0" anchor="ctr"/>
          <a:lstStyle/>
          <a:p>
            <a:pPr algn="ctr" indent="0" marL="0">
              <a:buNone/>
            </a:pPr>
            <a:r>
              <a:rPr lang="en-US" sz="1000" b="1" dirty="0">
                <a:solidFill>
                  <a:srgbClr val="5FBF7A"/>
                </a:solidFill>
                <a:latin typeface="Calibri" pitchFamily="34" charset="0"/>
                <a:ea typeface="Calibri" pitchFamily="34" charset="-122"/>
                <a:cs typeface="Calibri" pitchFamily="34" charset="-120"/>
              </a:rPr>
              <a:t>permissions &amp; sandbox</a:t>
            </a:r>
            <a:endParaRPr lang="en-US" sz="1000" dirty="0"/>
          </a:p>
        </p:txBody>
      </p:sp>
      <p:sp>
        <p:nvSpPr>
          <p:cNvPr id="27" name="Shape 24"/>
          <p:cNvSpPr/>
          <p:nvPr/>
        </p:nvSpPr>
        <p:spPr>
          <a:xfrm>
            <a:off x="1280160" y="2377440"/>
            <a:ext cx="5669280" cy="3291840"/>
          </a:xfrm>
          <a:prstGeom prst="roundRect">
            <a:avLst>
              <a:gd name="adj" fmla="val 5556"/>
            </a:avLst>
          </a:prstGeom>
          <a:solidFill>
            <a:srgbClr val="13263B"/>
          </a:solidFill>
          <a:ln w="15875">
            <a:solidFill>
              <a:srgbClr val="2BA3C7"/>
            </a:solidFill>
            <a:prstDash val="dash"/>
          </a:ln>
        </p:spPr>
      </p:sp>
      <p:sp>
        <p:nvSpPr>
          <p:cNvPr id="28" name="Text 25"/>
          <p:cNvSpPr txBox="1"/>
          <p:nvPr/>
        </p:nvSpPr>
        <p:spPr>
          <a:xfrm>
            <a:off x="1463040" y="2432304"/>
            <a:ext cx="1188720" cy="329184"/>
          </a:xfrm>
          <a:prstGeom prst="rect">
            <a:avLst/>
          </a:prstGeom>
          <a:noFill/>
          <a:ln/>
        </p:spPr>
        <p:txBody>
          <a:bodyPr wrap="square" lIns="0" tIns="0" rIns="0" bIns="0" rtlCol="0" anchor="ctr"/>
          <a:lstStyle/>
          <a:p>
            <a:pPr indent="0" marL="0">
              <a:buNone/>
            </a:pPr>
            <a:r>
              <a:rPr lang="en-US" sz="1400" b="1" dirty="0">
                <a:solidFill>
                  <a:srgbClr val="2BA3C7"/>
                </a:solidFill>
                <a:latin typeface="Calibri" pitchFamily="34" charset="0"/>
                <a:ea typeface="Calibri" pitchFamily="34" charset="-122"/>
                <a:cs typeface="Calibri" pitchFamily="34" charset="-120"/>
              </a:rPr>
              <a:t>Agent</a:t>
            </a:r>
            <a:endParaRPr lang="en-US" sz="1400" dirty="0"/>
          </a:p>
        </p:txBody>
      </p:sp>
      <p:sp>
        <p:nvSpPr>
          <p:cNvPr id="29" name="Shape 26"/>
          <p:cNvSpPr/>
          <p:nvPr/>
        </p:nvSpPr>
        <p:spPr>
          <a:xfrm>
            <a:off x="2651760" y="2450592"/>
            <a:ext cx="2020824" cy="292608"/>
          </a:xfrm>
          <a:prstGeom prst="roundRect">
            <a:avLst>
              <a:gd name="adj" fmla="val 50000"/>
            </a:avLst>
          </a:prstGeom>
          <a:solidFill>
            <a:srgbClr val="13263B"/>
          </a:solidFill>
          <a:ln w="12700">
            <a:solidFill>
              <a:srgbClr val="2BA3C7"/>
            </a:solidFill>
            <a:prstDash val="solid"/>
          </a:ln>
        </p:spPr>
      </p:sp>
      <p:sp>
        <p:nvSpPr>
          <p:cNvPr id="30" name="Text 27"/>
          <p:cNvSpPr txBox="1"/>
          <p:nvPr/>
        </p:nvSpPr>
        <p:spPr>
          <a:xfrm>
            <a:off x="2651760" y="2450592"/>
            <a:ext cx="2020824" cy="292608"/>
          </a:xfrm>
          <a:prstGeom prst="rect">
            <a:avLst/>
          </a:prstGeom>
          <a:noFill/>
          <a:ln/>
        </p:spPr>
        <p:txBody>
          <a:bodyPr wrap="square" lIns="0" tIns="0" rIns="0" bIns="0" rtlCol="0" anchor="ctr"/>
          <a:lstStyle/>
          <a:p>
            <a:pPr algn="ctr" indent="0" marL="0">
              <a:buNone/>
            </a:pPr>
            <a:r>
              <a:rPr lang="en-US" sz="1000" b="1" dirty="0">
                <a:solidFill>
                  <a:srgbClr val="2BA3C7"/>
                </a:solidFill>
                <a:latin typeface="Calibri" pitchFamily="34" charset="0"/>
                <a:ea typeface="Calibri" pitchFamily="34" charset="-122"/>
                <a:cs typeface="Calibri" pitchFamily="34" charset="-120"/>
              </a:rPr>
              <a:t>prompt système</a:t>
            </a:r>
            <a:endParaRPr lang="en-US" sz="1000" dirty="0"/>
          </a:p>
        </p:txBody>
      </p:sp>
      <p:sp>
        <p:nvSpPr>
          <p:cNvPr id="31" name="Shape 28"/>
          <p:cNvSpPr/>
          <p:nvPr/>
        </p:nvSpPr>
        <p:spPr>
          <a:xfrm>
            <a:off x="4745736" y="2450592"/>
            <a:ext cx="2020824" cy="292608"/>
          </a:xfrm>
          <a:prstGeom prst="roundRect">
            <a:avLst>
              <a:gd name="adj" fmla="val 50000"/>
            </a:avLst>
          </a:prstGeom>
          <a:solidFill>
            <a:srgbClr val="13263B"/>
          </a:solidFill>
          <a:ln w="12700">
            <a:solidFill>
              <a:srgbClr val="2BA3C7"/>
            </a:solidFill>
            <a:prstDash val="solid"/>
          </a:ln>
        </p:spPr>
      </p:sp>
      <p:sp>
        <p:nvSpPr>
          <p:cNvPr id="32" name="Text 29"/>
          <p:cNvSpPr txBox="1"/>
          <p:nvPr/>
        </p:nvSpPr>
        <p:spPr>
          <a:xfrm>
            <a:off x="4745736" y="2450592"/>
            <a:ext cx="2020824" cy="292608"/>
          </a:xfrm>
          <a:prstGeom prst="rect">
            <a:avLst/>
          </a:prstGeom>
          <a:noFill/>
          <a:ln/>
        </p:spPr>
        <p:txBody>
          <a:bodyPr wrap="square" lIns="0" tIns="0" rIns="0" bIns="0" rtlCol="0" anchor="ctr"/>
          <a:lstStyle/>
          <a:p>
            <a:pPr algn="ctr" indent="0" marL="0">
              <a:buNone/>
            </a:pPr>
            <a:r>
              <a:rPr lang="en-US" sz="1000" b="1" dirty="0">
                <a:solidFill>
                  <a:srgbClr val="2BA3C7"/>
                </a:solidFill>
                <a:latin typeface="Calibri" pitchFamily="34" charset="0"/>
                <a:ea typeface="Calibri" pitchFamily="34" charset="-122"/>
                <a:cs typeface="Calibri" pitchFamily="34" charset="-120"/>
              </a:rPr>
              <a:t>outils</a:t>
            </a:r>
            <a:endParaRPr lang="en-US" sz="1000" dirty="0"/>
          </a:p>
        </p:txBody>
      </p:sp>
      <p:sp>
        <p:nvSpPr>
          <p:cNvPr id="33" name="Shape 30"/>
          <p:cNvSpPr/>
          <p:nvPr/>
        </p:nvSpPr>
        <p:spPr>
          <a:xfrm>
            <a:off x="1645920" y="2834640"/>
            <a:ext cx="4937760" cy="2377440"/>
          </a:xfrm>
          <a:prstGeom prst="roundRect">
            <a:avLst>
              <a:gd name="adj" fmla="val 6923"/>
            </a:avLst>
          </a:prstGeom>
          <a:solidFill>
            <a:srgbClr val="18304A"/>
          </a:solidFill>
          <a:ln w="25400">
            <a:solidFill>
              <a:srgbClr val="8E72E6"/>
            </a:solidFill>
            <a:prstDash val="solid"/>
          </a:ln>
        </p:spPr>
      </p:sp>
      <p:sp>
        <p:nvSpPr>
          <p:cNvPr id="34" name="Text 31"/>
          <p:cNvSpPr txBox="1"/>
          <p:nvPr/>
        </p:nvSpPr>
        <p:spPr>
          <a:xfrm>
            <a:off x="1645920" y="3154680"/>
            <a:ext cx="4937760" cy="822960"/>
          </a:xfrm>
          <a:prstGeom prst="rect">
            <a:avLst/>
          </a:prstGeom>
          <a:noFill/>
          <a:ln/>
        </p:spPr>
        <p:txBody>
          <a:bodyPr wrap="square" lIns="0" tIns="0" rIns="0" bIns="0" rtlCol="0" anchor="ctr"/>
          <a:lstStyle/>
          <a:p>
            <a:pPr algn="ctr" indent="0" marL="0">
              <a:buNone/>
            </a:pPr>
            <a:r>
              <a:rPr lang="en-US" sz="4000" b="1" dirty="0">
                <a:solidFill>
                  <a:srgbClr val="8E72E6"/>
                </a:solidFill>
                <a:latin typeface="Cambria" pitchFamily="34" charset="0"/>
                <a:ea typeface="Cambria" pitchFamily="34" charset="-122"/>
                <a:cs typeface="Cambria" pitchFamily="34" charset="-120"/>
              </a:rPr>
              <a:t>LLM</a:t>
            </a:r>
            <a:endParaRPr lang="en-US" sz="4000" dirty="0"/>
          </a:p>
        </p:txBody>
      </p:sp>
      <p:sp>
        <p:nvSpPr>
          <p:cNvPr id="35" name="Text 32"/>
          <p:cNvSpPr txBox="1"/>
          <p:nvPr/>
        </p:nvSpPr>
        <p:spPr>
          <a:xfrm>
            <a:off x="1645920" y="4023360"/>
            <a:ext cx="4937760" cy="457200"/>
          </a:xfrm>
          <a:prstGeom prst="rect">
            <a:avLst/>
          </a:prstGeom>
          <a:noFill/>
          <a:ln/>
        </p:spPr>
        <p:txBody>
          <a:bodyPr wrap="square" lIns="0" tIns="0" rIns="0" bIns="0" rtlCol="0" anchor="ctr"/>
          <a:lstStyle/>
          <a:p>
            <a:pPr algn="ctr" indent="0" marL="0">
              <a:buNone/>
            </a:pPr>
            <a:r>
              <a:rPr lang="en-US" sz="1500" dirty="0">
                <a:solidFill>
                  <a:srgbClr val="EEF3F9"/>
                </a:solidFill>
                <a:latin typeface="Calibri" pitchFamily="34" charset="0"/>
                <a:ea typeface="Calibri" pitchFamily="34" charset="-122"/>
                <a:cs typeface="Calibri" pitchFamily="34" charset="-120"/>
              </a:rPr>
              <a:t>en vase clos · texte entrant, texte sortant</a:t>
            </a:r>
            <a:endParaRPr lang="en-US" sz="1500" dirty="0"/>
          </a:p>
        </p:txBody>
      </p:sp>
      <p:sp>
        <p:nvSpPr>
          <p:cNvPr id="36" name="Text 33"/>
          <p:cNvSpPr txBox="1"/>
          <p:nvPr/>
        </p:nvSpPr>
        <p:spPr>
          <a:xfrm>
            <a:off x="1645920" y="4480560"/>
            <a:ext cx="4937760" cy="411480"/>
          </a:xfrm>
          <a:prstGeom prst="rect">
            <a:avLst/>
          </a:prstGeom>
          <a:noFill/>
          <a:ln/>
        </p:spPr>
        <p:txBody>
          <a:bodyPr wrap="square" lIns="0" tIns="0" rIns="0" bIns="0" rtlCol="0" anchor="ctr"/>
          <a:lstStyle/>
          <a:p>
            <a:pPr algn="ctr" indent="0" marL="0">
              <a:buNone/>
            </a:pPr>
            <a:r>
              <a:rPr lang="en-US" sz="1200" dirty="0">
                <a:solidFill>
                  <a:srgbClr val="8FA3B8"/>
                </a:solidFill>
                <a:latin typeface="Calibri" pitchFamily="34" charset="0"/>
                <a:ea typeface="Calibri" pitchFamily="34" charset="-122"/>
                <a:cs typeface="Calibri" pitchFamily="34" charset="-120"/>
              </a:rPr>
              <a:t>savoir figé · pas de mains · pas de mémoire</a:t>
            </a:r>
            <a:endParaRPr lang="en-US" sz="1200" dirty="0"/>
          </a:p>
        </p:txBody>
      </p:sp>
      <p:sp>
        <p:nvSpPr>
          <p:cNvPr id="37" name="Text 34"/>
          <p:cNvSpPr txBox="1"/>
          <p:nvPr/>
        </p:nvSpPr>
        <p:spPr>
          <a:xfrm>
            <a:off x="8001000" y="1463040"/>
            <a:ext cx="1097280" cy="320040"/>
          </a:xfrm>
          <a:prstGeom prst="rect">
            <a:avLst/>
          </a:prstGeom>
          <a:noFill/>
          <a:ln/>
        </p:spPr>
        <p:txBody>
          <a:bodyPr wrap="square" lIns="0" tIns="0" rIns="0" bIns="0" rtlCol="0" anchor="ctr"/>
          <a:lstStyle/>
          <a:p>
            <a:pPr indent="0" marL="0">
              <a:buNone/>
            </a:pPr>
            <a:r>
              <a:rPr lang="en-US" sz="1200" b="1" dirty="0">
                <a:solidFill>
                  <a:srgbClr val="D4AF37"/>
                </a:solidFill>
                <a:latin typeface="Calibri" pitchFamily="34" charset="0"/>
                <a:ea typeface="Calibri" pitchFamily="34" charset="-122"/>
                <a:cs typeface="Calibri" pitchFamily="34" charset="-120"/>
              </a:rPr>
              <a:t>4 / 4</a:t>
            </a:r>
            <a:endParaRPr lang="en-US" sz="1200" dirty="0"/>
          </a:p>
        </p:txBody>
      </p:sp>
      <p:sp>
        <p:nvSpPr>
          <p:cNvPr id="38" name="Text 35"/>
          <p:cNvSpPr txBox="1"/>
          <p:nvPr/>
        </p:nvSpPr>
        <p:spPr>
          <a:xfrm>
            <a:off x="8001000" y="1783080"/>
            <a:ext cx="3657600" cy="914400"/>
          </a:xfrm>
          <a:prstGeom prst="rect">
            <a:avLst/>
          </a:prstGeom>
          <a:noFill/>
          <a:ln/>
        </p:spPr>
        <p:txBody>
          <a:bodyPr wrap="square" lIns="0" tIns="0" rIns="0" bIns="0" rtlCol="0" anchor="t"/>
          <a:lstStyle/>
          <a:p>
            <a:pPr indent="0" marL="0">
              <a:buNone/>
            </a:pPr>
            <a:r>
              <a:rPr lang="en-US" sz="1800" b="1" dirty="0">
                <a:solidFill>
                  <a:srgbClr val="EEF3F9"/>
                </a:solidFill>
                <a:latin typeface="Cambria" pitchFamily="34" charset="0"/>
                <a:ea typeface="Cambria" pitchFamily="34" charset="-122"/>
                <a:cs typeface="Cambria" pitchFamily="34" charset="-120"/>
              </a:rPr>
              <a:t>+ des règles dans le code, des aperçus, une équipe = Agent-One</a:t>
            </a:r>
            <a:endParaRPr lang="en-US" sz="1800" dirty="0"/>
          </a:p>
        </p:txBody>
      </p:sp>
      <p:sp>
        <p:nvSpPr>
          <p:cNvPr id="39" name="Text 36"/>
          <p:cNvSpPr txBox="1"/>
          <p:nvPr/>
        </p:nvSpPr>
        <p:spPr>
          <a:xfrm>
            <a:off x="8001000" y="2834640"/>
            <a:ext cx="3657600" cy="237744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la garde et le gate : refusé ou vérifié dans le code, pas par le prompt</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aperçus : dry-run, diffs, tableau de bord en direct</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sous-agents et rôles sur plusieurs modèles, une revue fusionnée</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votre gateway, votre registre, vos conteneurs</a:t>
            </a:r>
            <a:endParaRPr lang="en-US" sz="1300" dirty="0"/>
          </a:p>
          <a:p>
            <a:pPr marL="203200" indent="-203200">
              <a:spcAft>
                <a:spcPts val="800"/>
              </a:spcAft>
              <a:buSzPct val="100000"/>
              <a:buChar char="•"/>
            </a:pPr>
            <a:r>
              <a:rPr lang="en-US" sz="1300" dirty="0">
                <a:solidFill>
                  <a:srgbClr val="EEF3F9"/>
                </a:solidFill>
                <a:latin typeface="Calibri" pitchFamily="34" charset="0"/>
                <a:ea typeface="Calibri" pitchFamily="34" charset="-122"/>
                <a:cs typeface="Calibri" pitchFamily="34" charset="-120"/>
              </a:rPr>
              <a:t>un espace de travail qui se souvient et apprend</a:t>
            </a:r>
            <a:endParaRPr lang="en-US" sz="1300" dirty="0"/>
          </a:p>
        </p:txBody>
      </p:sp>
      <p:sp>
        <p:nvSpPr>
          <p:cNvPr id="40" name="Shape 37"/>
          <p:cNvSpPr/>
          <p:nvPr/>
        </p:nvSpPr>
        <p:spPr>
          <a:xfrm>
            <a:off x="8001000" y="5394960"/>
            <a:ext cx="3657600" cy="731520"/>
          </a:xfrm>
          <a:prstGeom prst="roundRect">
            <a:avLst>
              <a:gd name="adj" fmla="val 15000"/>
            </a:avLst>
          </a:prstGeom>
          <a:solidFill>
            <a:srgbClr val="13263B"/>
          </a:solidFill>
          <a:ln w="19050">
            <a:solidFill>
              <a:srgbClr val="D4AF37"/>
            </a:solidFill>
            <a:prstDash val="solid"/>
          </a:ln>
        </p:spPr>
      </p:sp>
      <p:sp>
        <p:nvSpPr>
          <p:cNvPr id="41" name="Text 38"/>
          <p:cNvSpPr txBox="1"/>
          <p:nvPr/>
        </p:nvSpPr>
        <p:spPr>
          <a:xfrm>
            <a:off x="8138160" y="5394960"/>
            <a:ext cx="3383280" cy="731520"/>
          </a:xfrm>
          <a:prstGeom prst="rect">
            <a:avLst/>
          </a:prstGeom>
          <a:noFill/>
          <a:ln/>
        </p:spPr>
        <p:txBody>
          <a:bodyPr wrap="square" lIns="0" tIns="0" rIns="0" bIns="0" rtlCol="0" anchor="ctr"/>
          <a:lstStyle/>
          <a:p>
            <a:pPr indent="0" marL="0">
              <a:buNone/>
            </a:pPr>
            <a:r>
              <a:rPr lang="en-US" sz="1200" b="1" dirty="0">
                <a:solidFill>
                  <a:srgbClr val="D4AF37"/>
                </a:solidFill>
                <a:latin typeface="Courier New" pitchFamily="34" charset="0"/>
                <a:ea typeface="Courier New" pitchFamily="34" charset="-122"/>
                <a:cs typeface="Courier New" pitchFamily="34" charset="-120"/>
              </a:rPr>
              <a:t>harness + règles dans le code + une équipe = Agent-One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9</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1 · LES COUCHES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Tout agent est fait des mêmes couches</a:t>
            </a:r>
            <a:endParaRPr lang="en-US" sz="3400" dirty="0"/>
          </a:p>
        </p:txBody>
      </p:sp>
      <p:sp>
        <p:nvSpPr>
          <p:cNvPr id="7" name="Shape 4"/>
          <p:cNvSpPr/>
          <p:nvPr/>
        </p:nvSpPr>
        <p:spPr>
          <a:xfrm>
            <a:off x="548640" y="1554480"/>
            <a:ext cx="6766560" cy="566928"/>
          </a:xfrm>
          <a:prstGeom prst="roundRect">
            <a:avLst>
              <a:gd name="adj" fmla="val 16129"/>
            </a:avLst>
          </a:prstGeom>
          <a:solidFill>
            <a:srgbClr val="13263B"/>
          </a:solidFill>
          <a:ln w="19050">
            <a:solidFill>
              <a:srgbClr val="2BA3C7"/>
            </a:solidFill>
            <a:prstDash val="solid"/>
          </a:ln>
        </p:spPr>
      </p:sp>
      <p:sp>
        <p:nvSpPr>
          <p:cNvPr id="8" name="Text 5"/>
          <p:cNvSpPr txBox="1"/>
          <p:nvPr/>
        </p:nvSpPr>
        <p:spPr>
          <a:xfrm>
            <a:off x="731520" y="1554480"/>
            <a:ext cx="2377440" cy="566928"/>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Interfaces</a:t>
            </a:r>
            <a:endParaRPr lang="en-US" sz="1500" dirty="0"/>
          </a:p>
        </p:txBody>
      </p:sp>
      <p:sp>
        <p:nvSpPr>
          <p:cNvPr id="9" name="Text 6"/>
          <p:cNvSpPr txBox="1"/>
          <p:nvPr/>
        </p:nvSpPr>
        <p:spPr>
          <a:xfrm>
            <a:off x="3108960" y="1554480"/>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terminal, IDE, CI, tableaux de bord</a:t>
            </a:r>
            <a:endParaRPr lang="en-US" sz="1300" dirty="0"/>
          </a:p>
        </p:txBody>
      </p:sp>
      <p:sp>
        <p:nvSpPr>
          <p:cNvPr id="10" name="Shape 7"/>
          <p:cNvSpPr/>
          <p:nvPr/>
        </p:nvSpPr>
        <p:spPr>
          <a:xfrm>
            <a:off x="548640" y="2212848"/>
            <a:ext cx="6766560" cy="566928"/>
          </a:xfrm>
          <a:prstGeom prst="roundRect">
            <a:avLst>
              <a:gd name="adj" fmla="val 16129"/>
            </a:avLst>
          </a:prstGeom>
          <a:solidFill>
            <a:srgbClr val="13263B"/>
          </a:solidFill>
          <a:ln w="19050">
            <a:solidFill>
              <a:srgbClr val="8FA3B8"/>
            </a:solidFill>
            <a:prstDash val="solid"/>
          </a:ln>
        </p:spPr>
      </p:sp>
      <p:sp>
        <p:nvSpPr>
          <p:cNvPr id="11" name="Text 8"/>
          <p:cNvSpPr txBox="1"/>
          <p:nvPr/>
        </p:nvSpPr>
        <p:spPr>
          <a:xfrm>
            <a:off x="731520" y="2212848"/>
            <a:ext cx="2377440" cy="566928"/>
          </a:xfrm>
          <a:prstGeom prst="rect">
            <a:avLst/>
          </a:prstGeom>
          <a:noFill/>
          <a:ln/>
        </p:spPr>
        <p:txBody>
          <a:bodyPr wrap="square" lIns="0" tIns="0" rIns="0" bIns="0" rtlCol="0" anchor="ctr"/>
          <a:lstStyle/>
          <a:p>
            <a:pPr indent="0" marL="0">
              <a:buNone/>
            </a:pPr>
            <a:r>
              <a:rPr lang="en-US" sz="1500" b="1" dirty="0">
                <a:solidFill>
                  <a:srgbClr val="8FA3B8"/>
                </a:solidFill>
                <a:latin typeface="Calibri" pitchFamily="34" charset="0"/>
                <a:ea typeface="Calibri" pitchFamily="34" charset="-122"/>
                <a:cs typeface="Calibri" pitchFamily="34" charset="-120"/>
              </a:rPr>
              <a:t>Observabilité</a:t>
            </a:r>
            <a:endParaRPr lang="en-US" sz="1500" dirty="0"/>
          </a:p>
        </p:txBody>
      </p:sp>
      <p:sp>
        <p:nvSpPr>
          <p:cNvPr id="12" name="Text 9"/>
          <p:cNvSpPr txBox="1"/>
          <p:nvPr/>
        </p:nvSpPr>
        <p:spPr>
          <a:xfrm>
            <a:off x="3108960" y="2212848"/>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journaux, traces, usage et coût</a:t>
            </a:r>
            <a:endParaRPr lang="en-US" sz="1300" dirty="0"/>
          </a:p>
        </p:txBody>
      </p:sp>
      <p:sp>
        <p:nvSpPr>
          <p:cNvPr id="13" name="Shape 10"/>
          <p:cNvSpPr/>
          <p:nvPr/>
        </p:nvSpPr>
        <p:spPr>
          <a:xfrm>
            <a:off x="548640" y="2871216"/>
            <a:ext cx="6766560" cy="566928"/>
          </a:xfrm>
          <a:prstGeom prst="roundRect">
            <a:avLst>
              <a:gd name="adj" fmla="val 16129"/>
            </a:avLst>
          </a:prstGeom>
          <a:solidFill>
            <a:srgbClr val="13263B"/>
          </a:solidFill>
          <a:ln w="19050">
            <a:solidFill>
              <a:srgbClr val="E0645A"/>
            </a:solidFill>
            <a:prstDash val="solid"/>
          </a:ln>
        </p:spPr>
      </p:sp>
      <p:sp>
        <p:nvSpPr>
          <p:cNvPr id="14" name="Text 11"/>
          <p:cNvSpPr txBox="1"/>
          <p:nvPr/>
        </p:nvSpPr>
        <p:spPr>
          <a:xfrm>
            <a:off x="731520" y="2871216"/>
            <a:ext cx="2377440" cy="566928"/>
          </a:xfrm>
          <a:prstGeom prst="rect">
            <a:avLst/>
          </a:prstGeom>
          <a:noFill/>
          <a:ln/>
        </p:spPr>
        <p:txBody>
          <a:bodyPr wrap="square" lIns="0" tIns="0" rIns="0" bIns="0" rtlCol="0" anchor="ctr"/>
          <a:lstStyle/>
          <a:p>
            <a:pPr indent="0" marL="0">
              <a:buNone/>
            </a:pPr>
            <a:r>
              <a:rPr lang="en-US" sz="1500" b="1" dirty="0">
                <a:solidFill>
                  <a:srgbClr val="E0645A"/>
                </a:solidFill>
                <a:latin typeface="Calibri" pitchFamily="34" charset="0"/>
                <a:ea typeface="Calibri" pitchFamily="34" charset="-122"/>
                <a:cs typeface="Calibri" pitchFamily="34" charset="-120"/>
              </a:rPr>
              <a:t>Sécurité</a:t>
            </a:r>
            <a:endParaRPr lang="en-US" sz="1500" dirty="0"/>
          </a:p>
        </p:txBody>
      </p:sp>
      <p:sp>
        <p:nvSpPr>
          <p:cNvPr id="15" name="Text 12"/>
          <p:cNvSpPr txBox="1"/>
          <p:nvPr/>
        </p:nvSpPr>
        <p:spPr>
          <a:xfrm>
            <a:off x="3108960" y="2871216"/>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permissions, sandbox, garde-fous, validation</a:t>
            </a:r>
            <a:endParaRPr lang="en-US" sz="1300" dirty="0"/>
          </a:p>
        </p:txBody>
      </p:sp>
      <p:sp>
        <p:nvSpPr>
          <p:cNvPr id="16" name="Shape 13"/>
          <p:cNvSpPr/>
          <p:nvPr/>
        </p:nvSpPr>
        <p:spPr>
          <a:xfrm>
            <a:off x="548640" y="3529584"/>
            <a:ext cx="6766560" cy="566928"/>
          </a:xfrm>
          <a:prstGeom prst="roundRect">
            <a:avLst>
              <a:gd name="adj" fmla="val 16129"/>
            </a:avLst>
          </a:prstGeom>
          <a:solidFill>
            <a:srgbClr val="13263B"/>
          </a:solidFill>
          <a:ln w="19050">
            <a:solidFill>
              <a:srgbClr val="D4AF37"/>
            </a:solidFill>
            <a:prstDash val="solid"/>
          </a:ln>
        </p:spPr>
      </p:sp>
      <p:sp>
        <p:nvSpPr>
          <p:cNvPr id="17" name="Text 14"/>
          <p:cNvSpPr txBox="1"/>
          <p:nvPr/>
        </p:nvSpPr>
        <p:spPr>
          <a:xfrm>
            <a:off x="731520" y="3529584"/>
            <a:ext cx="2377440" cy="566928"/>
          </a:xfrm>
          <a:prstGeom prst="rect">
            <a:avLst/>
          </a:prstGeom>
          <a:noFill/>
          <a:ln/>
        </p:spPr>
        <p:txBody>
          <a:bodyPr wrap="square" lIns="0" tIns="0" rIns="0" bIns="0" rtlCol="0" anchor="ctr"/>
          <a:lstStyle/>
          <a:p>
            <a:pPr indent="0" marL="0">
              <a:buNone/>
            </a:pPr>
            <a:r>
              <a:rPr lang="en-US" sz="1500" b="1" dirty="0">
                <a:solidFill>
                  <a:srgbClr val="D4AF37"/>
                </a:solidFill>
                <a:latin typeface="Calibri" pitchFamily="34" charset="0"/>
                <a:ea typeface="Calibri" pitchFamily="34" charset="-122"/>
                <a:cs typeface="Calibri" pitchFamily="34" charset="-120"/>
              </a:rPr>
              <a:t>Contexte &amp; mémoire</a:t>
            </a:r>
            <a:endParaRPr lang="en-US" sz="1500" dirty="0"/>
          </a:p>
        </p:txBody>
      </p:sp>
      <p:sp>
        <p:nvSpPr>
          <p:cNvPr id="18" name="Text 15"/>
          <p:cNvSpPr txBox="1"/>
          <p:nvPr/>
        </p:nvSpPr>
        <p:spPr>
          <a:xfrm>
            <a:off x="3108960" y="3529584"/>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ce que voit le modèle ; ce qui survit à la session</a:t>
            </a:r>
            <a:endParaRPr lang="en-US" sz="1300" dirty="0"/>
          </a:p>
        </p:txBody>
      </p:sp>
      <p:sp>
        <p:nvSpPr>
          <p:cNvPr id="19" name="Shape 16"/>
          <p:cNvSpPr/>
          <p:nvPr/>
        </p:nvSpPr>
        <p:spPr>
          <a:xfrm>
            <a:off x="548640" y="4187952"/>
            <a:ext cx="6766560" cy="566928"/>
          </a:xfrm>
          <a:prstGeom prst="roundRect">
            <a:avLst>
              <a:gd name="adj" fmla="val 16129"/>
            </a:avLst>
          </a:prstGeom>
          <a:solidFill>
            <a:srgbClr val="13263B"/>
          </a:solidFill>
          <a:ln w="19050">
            <a:solidFill>
              <a:srgbClr val="5FBF7A"/>
            </a:solidFill>
            <a:prstDash val="solid"/>
          </a:ln>
        </p:spPr>
      </p:sp>
      <p:sp>
        <p:nvSpPr>
          <p:cNvPr id="20" name="Text 17"/>
          <p:cNvSpPr txBox="1"/>
          <p:nvPr/>
        </p:nvSpPr>
        <p:spPr>
          <a:xfrm>
            <a:off x="731520" y="4187952"/>
            <a:ext cx="2377440" cy="566928"/>
          </a:xfrm>
          <a:prstGeom prst="rect">
            <a:avLst/>
          </a:prstGeom>
          <a:noFill/>
          <a:ln/>
        </p:spPr>
        <p:txBody>
          <a:bodyPr wrap="square" lIns="0" tIns="0" rIns="0" bIns="0" rtlCol="0" anchor="ctr"/>
          <a:lstStyle/>
          <a:p>
            <a:pPr indent="0" marL="0">
              <a:buNone/>
            </a:pPr>
            <a:r>
              <a:rPr lang="en-US" sz="1500" b="1" dirty="0">
                <a:solidFill>
                  <a:srgbClr val="5FBF7A"/>
                </a:solidFill>
                <a:latin typeface="Calibri" pitchFamily="34" charset="0"/>
                <a:ea typeface="Calibri" pitchFamily="34" charset="-122"/>
                <a:cs typeface="Calibri" pitchFamily="34" charset="-120"/>
              </a:rPr>
              <a:t>Outils &amp; MCP</a:t>
            </a:r>
            <a:endParaRPr lang="en-US" sz="1500" dirty="0"/>
          </a:p>
        </p:txBody>
      </p:sp>
      <p:sp>
        <p:nvSpPr>
          <p:cNvPr id="21" name="Text 18"/>
          <p:cNvSpPr txBox="1"/>
          <p:nvPr/>
        </p:nvSpPr>
        <p:spPr>
          <a:xfrm>
            <a:off x="3108960" y="4187952"/>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fichiers, shell, web, API, skills</a:t>
            </a:r>
            <a:endParaRPr lang="en-US" sz="1300" dirty="0"/>
          </a:p>
        </p:txBody>
      </p:sp>
      <p:sp>
        <p:nvSpPr>
          <p:cNvPr id="22" name="Shape 19"/>
          <p:cNvSpPr/>
          <p:nvPr/>
        </p:nvSpPr>
        <p:spPr>
          <a:xfrm>
            <a:off x="548640" y="4846320"/>
            <a:ext cx="6766560" cy="566928"/>
          </a:xfrm>
          <a:prstGeom prst="roundRect">
            <a:avLst>
              <a:gd name="adj" fmla="val 16129"/>
            </a:avLst>
          </a:prstGeom>
          <a:solidFill>
            <a:srgbClr val="13263B"/>
          </a:solidFill>
          <a:ln w="19050">
            <a:solidFill>
              <a:srgbClr val="8E72E6"/>
            </a:solidFill>
            <a:prstDash val="solid"/>
          </a:ln>
        </p:spPr>
      </p:sp>
      <p:sp>
        <p:nvSpPr>
          <p:cNvPr id="23" name="Text 20"/>
          <p:cNvSpPr txBox="1"/>
          <p:nvPr/>
        </p:nvSpPr>
        <p:spPr>
          <a:xfrm>
            <a:off x="731520" y="4846320"/>
            <a:ext cx="2377440" cy="566928"/>
          </a:xfrm>
          <a:prstGeom prst="rect">
            <a:avLst/>
          </a:prstGeom>
          <a:noFill/>
          <a:ln/>
        </p:spPr>
        <p:txBody>
          <a:bodyPr wrap="square" lIns="0" tIns="0" rIns="0" bIns="0" rtlCol="0" anchor="ctr"/>
          <a:lstStyle/>
          <a:p>
            <a:pPr indent="0" marL="0">
              <a:buNone/>
            </a:pPr>
            <a:r>
              <a:rPr lang="en-US" sz="1500" b="1" dirty="0">
                <a:solidFill>
                  <a:srgbClr val="8E72E6"/>
                </a:solidFill>
                <a:latin typeface="Calibri" pitchFamily="34" charset="0"/>
                <a:ea typeface="Calibri" pitchFamily="34" charset="-122"/>
                <a:cs typeface="Calibri" pitchFamily="34" charset="-120"/>
              </a:rPr>
              <a:t>Boucle d'agent</a:t>
            </a:r>
            <a:endParaRPr lang="en-US" sz="1500" dirty="0"/>
          </a:p>
        </p:txBody>
      </p:sp>
      <p:sp>
        <p:nvSpPr>
          <p:cNvPr id="24" name="Text 21"/>
          <p:cNvSpPr txBox="1"/>
          <p:nvPr/>
        </p:nvSpPr>
        <p:spPr>
          <a:xfrm>
            <a:off x="3108960" y="4846320"/>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observer → réfléchir → agir → vérifier ; sous-agents</a:t>
            </a:r>
            <a:endParaRPr lang="en-US" sz="1300" dirty="0"/>
          </a:p>
        </p:txBody>
      </p:sp>
      <p:sp>
        <p:nvSpPr>
          <p:cNvPr id="25" name="Shape 22"/>
          <p:cNvSpPr/>
          <p:nvPr/>
        </p:nvSpPr>
        <p:spPr>
          <a:xfrm>
            <a:off x="548640" y="5504688"/>
            <a:ext cx="6766560" cy="566928"/>
          </a:xfrm>
          <a:prstGeom prst="roundRect">
            <a:avLst>
              <a:gd name="adj" fmla="val 16129"/>
            </a:avLst>
          </a:prstGeom>
          <a:solidFill>
            <a:srgbClr val="13263B"/>
          </a:solidFill>
          <a:ln w="19050">
            <a:solidFill>
              <a:srgbClr val="2BA3C7"/>
            </a:solidFill>
            <a:prstDash val="solid"/>
          </a:ln>
        </p:spPr>
      </p:sp>
      <p:sp>
        <p:nvSpPr>
          <p:cNvPr id="26" name="Text 23"/>
          <p:cNvSpPr txBox="1"/>
          <p:nvPr/>
        </p:nvSpPr>
        <p:spPr>
          <a:xfrm>
            <a:off x="731520" y="5504688"/>
            <a:ext cx="2377440" cy="566928"/>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Modèles</a:t>
            </a:r>
            <a:endParaRPr lang="en-US" sz="1500" dirty="0"/>
          </a:p>
        </p:txBody>
      </p:sp>
      <p:sp>
        <p:nvSpPr>
          <p:cNvPr id="27" name="Text 24"/>
          <p:cNvSpPr txBox="1"/>
          <p:nvPr/>
        </p:nvSpPr>
        <p:spPr>
          <a:xfrm>
            <a:off x="3108960" y="5504688"/>
            <a:ext cx="4114800" cy="566928"/>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fournisseurs, gateways, routage, repli</a:t>
            </a:r>
            <a:endParaRPr lang="en-US" sz="1300" dirty="0"/>
          </a:p>
        </p:txBody>
      </p:sp>
      <p:sp>
        <p:nvSpPr>
          <p:cNvPr id="28" name="Shape 25"/>
          <p:cNvSpPr/>
          <p:nvPr/>
        </p:nvSpPr>
        <p:spPr>
          <a:xfrm>
            <a:off x="7772400" y="1554480"/>
            <a:ext cx="3840480" cy="4480560"/>
          </a:xfrm>
          <a:prstGeom prst="roundRect">
            <a:avLst>
              <a:gd name="adj" fmla="val 2857"/>
            </a:avLst>
          </a:prstGeom>
          <a:solidFill>
            <a:srgbClr val="13263B"/>
          </a:solidFill>
          <a:ln w="12700">
            <a:solidFill>
              <a:srgbClr val="13263B"/>
            </a:solidFill>
            <a:prstDash val="solid"/>
          </a:ln>
        </p:spPr>
      </p:sp>
      <p:sp>
        <p:nvSpPr>
          <p:cNvPr id="29" name="Text 26"/>
          <p:cNvSpPr txBox="1"/>
          <p:nvPr/>
        </p:nvSpPr>
        <p:spPr>
          <a:xfrm>
            <a:off x="8001000" y="1719072"/>
            <a:ext cx="342900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Le harness décide</a:t>
            </a:r>
            <a:endParaRPr lang="en-US" sz="1700" dirty="0"/>
          </a:p>
        </p:txBody>
      </p:sp>
      <p:sp>
        <p:nvSpPr>
          <p:cNvPr id="30" name="Text 27"/>
          <p:cNvSpPr txBox="1"/>
          <p:nvPr/>
        </p:nvSpPr>
        <p:spPr>
          <a:xfrm>
            <a:off x="8001000" y="2240280"/>
            <a:ext cx="3474720" cy="36576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quel modèle fait quel travail</a:t>
            </a:r>
            <a:endParaRPr lang="en-US" sz="1500" dirty="0"/>
          </a:p>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ce que le modèle peut toucher</a:t>
            </a:r>
            <a:endParaRPr lang="en-US" sz="1500" dirty="0"/>
          </a:p>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ce dont il se souvient</a:t>
            </a:r>
            <a:endParaRPr lang="en-US" sz="1500" dirty="0"/>
          </a:p>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ce qui exige un humain</a:t>
            </a:r>
            <a:endParaRPr lang="en-US" sz="1500" dirty="0"/>
          </a:p>
          <a:p>
            <a:pPr marL="203200" indent="-203200">
              <a:spcAft>
                <a:spcPts val="800"/>
              </a:spcAft>
              <a:buSzPct val="100000"/>
              <a:buChar char="•"/>
            </a:pPr>
            <a:r>
              <a:rPr lang="en-US" sz="1500" dirty="0">
                <a:solidFill>
                  <a:srgbClr val="EEF3F9"/>
                </a:solidFill>
                <a:latin typeface="Calibri" pitchFamily="34" charset="0"/>
                <a:ea typeface="Calibri" pitchFamily="34" charset="-122"/>
                <a:cs typeface="Calibri" pitchFamily="34" charset="-120"/>
              </a:rPr>
              <a:t>ce que l'on voit et audite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10</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2 · LES HARNESS AUJOURD'HUI</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Les harness que vous croiserez</a:t>
            </a:r>
            <a:endParaRPr lang="en-US" sz="3400" dirty="0"/>
          </a:p>
        </p:txBody>
      </p:sp>
      <p:sp>
        <p:nvSpPr>
          <p:cNvPr id="7" name="Shape 4"/>
          <p:cNvSpPr/>
          <p:nvPr/>
        </p:nvSpPr>
        <p:spPr>
          <a:xfrm>
            <a:off x="548640" y="1554480"/>
            <a:ext cx="3749040" cy="4572000"/>
          </a:xfrm>
          <a:prstGeom prst="roundRect">
            <a:avLst>
              <a:gd name="adj" fmla="val 2927"/>
            </a:avLst>
          </a:prstGeom>
          <a:solidFill>
            <a:srgbClr val="13263B"/>
          </a:solidFill>
          <a:ln w="12700">
            <a:solidFill>
              <a:srgbClr val="13263B"/>
            </a:solidFill>
            <a:prstDash val="solid"/>
          </a:ln>
        </p:spPr>
      </p:sp>
      <p:sp>
        <p:nvSpPr>
          <p:cNvPr id="8" name="Text 5"/>
          <p:cNvSpPr txBox="1"/>
          <p:nvPr/>
        </p:nvSpPr>
        <p:spPr>
          <a:xfrm>
            <a:off x="777240" y="1691640"/>
            <a:ext cx="3291840" cy="411480"/>
          </a:xfrm>
          <a:prstGeom prst="rect">
            <a:avLst/>
          </a:prstGeom>
          <a:noFill/>
          <a:ln/>
        </p:spPr>
        <p:txBody>
          <a:bodyPr wrap="square" lIns="0" tIns="0" rIns="0" bIns="0" rtlCol="0" anchor="ctr"/>
          <a:lstStyle/>
          <a:p>
            <a:pPr indent="0" marL="0">
              <a:buNone/>
            </a:pPr>
            <a:r>
              <a:rPr lang="en-US" sz="1600" b="1" dirty="0">
                <a:solidFill>
                  <a:srgbClr val="2BA3C7"/>
                </a:solidFill>
                <a:latin typeface="Calibri" pitchFamily="34" charset="0"/>
                <a:ea typeface="Calibri" pitchFamily="34" charset="-122"/>
                <a:cs typeface="Calibri" pitchFamily="34" charset="-120"/>
              </a:rPr>
              <a:t>CLI des éditeurs</a:t>
            </a:r>
            <a:endParaRPr lang="en-US" sz="1600" dirty="0"/>
          </a:p>
        </p:txBody>
      </p:sp>
      <p:pic>
        <p:nvPicPr>
          <p:cNvPr id="9" name="Image 0" descr="/home/monta/convention-jura/presentations/src/logos/anthropics.png">    </p:cNvPr>
          <p:cNvPicPr>
            <a:picLocks noChangeAspect="1"/>
          </p:cNvPicPr>
          <p:nvPr/>
        </p:nvPicPr>
        <p:blipFill>
          <a:blip r:embed="rId1"/>
          <a:stretch>
            <a:fillRect/>
          </a:stretch>
        </p:blipFill>
        <p:spPr>
          <a:xfrm>
            <a:off x="777240" y="2240280"/>
            <a:ext cx="731520" cy="731520"/>
          </a:xfrm>
          <a:prstGeom prst="rect">
            <a:avLst/>
          </a:prstGeom>
        </p:spPr>
      </p:pic>
      <p:sp>
        <p:nvSpPr>
          <p:cNvPr id="10" name="Text 6"/>
          <p:cNvSpPr txBox="1"/>
          <p:nvPr/>
        </p:nvSpPr>
        <p:spPr>
          <a:xfrm>
            <a:off x="1645920" y="2240280"/>
            <a:ext cx="246888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Claude Code</a:t>
            </a:r>
            <a:endParaRPr lang="en-US" sz="1600" dirty="0"/>
          </a:p>
        </p:txBody>
      </p:sp>
      <p:sp>
        <p:nvSpPr>
          <p:cNvPr id="11" name="Text 7"/>
          <p:cNvSpPr txBox="1"/>
          <p:nvPr/>
        </p:nvSpPr>
        <p:spPr>
          <a:xfrm>
            <a:off x="1645920" y="2606040"/>
            <a:ext cx="246888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Anthropic · agent terminal</a:t>
            </a:r>
            <a:endParaRPr lang="en-US" sz="1200" dirty="0"/>
          </a:p>
        </p:txBody>
      </p:sp>
      <p:pic>
        <p:nvPicPr>
          <p:cNvPr id="12" name="Image 1" descr="/home/monta/convention-jura/presentations/src/logos/openai.png">    </p:cNvPr>
          <p:cNvPicPr>
            <a:picLocks noChangeAspect="1"/>
          </p:cNvPicPr>
          <p:nvPr/>
        </p:nvPicPr>
        <p:blipFill>
          <a:blip r:embed="rId2"/>
          <a:stretch>
            <a:fillRect/>
          </a:stretch>
        </p:blipFill>
        <p:spPr>
          <a:xfrm>
            <a:off x="777240" y="3200400"/>
            <a:ext cx="731520" cy="731520"/>
          </a:xfrm>
          <a:prstGeom prst="rect">
            <a:avLst/>
          </a:prstGeom>
        </p:spPr>
      </p:pic>
      <p:sp>
        <p:nvSpPr>
          <p:cNvPr id="13" name="Text 8"/>
          <p:cNvSpPr txBox="1"/>
          <p:nvPr/>
        </p:nvSpPr>
        <p:spPr>
          <a:xfrm>
            <a:off x="1645920" y="3200400"/>
            <a:ext cx="246888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Codex</a:t>
            </a:r>
            <a:endParaRPr lang="en-US" sz="1600" dirty="0"/>
          </a:p>
        </p:txBody>
      </p:sp>
      <p:sp>
        <p:nvSpPr>
          <p:cNvPr id="14" name="Text 9"/>
          <p:cNvSpPr txBox="1"/>
          <p:nvPr/>
        </p:nvSpPr>
        <p:spPr>
          <a:xfrm>
            <a:off x="1645920" y="3566160"/>
            <a:ext cx="246888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OpenAI · terminal et cloud</a:t>
            </a:r>
            <a:endParaRPr lang="en-US" sz="1200" dirty="0"/>
          </a:p>
        </p:txBody>
      </p:sp>
      <p:pic>
        <p:nvPicPr>
          <p:cNvPr id="15" name="Image 2" descr="/home/monta/convention-jura/presentations/src/logos/google-gemini.png">    </p:cNvPr>
          <p:cNvPicPr>
            <a:picLocks noChangeAspect="1"/>
          </p:cNvPicPr>
          <p:nvPr/>
        </p:nvPicPr>
        <p:blipFill>
          <a:blip r:embed="rId3"/>
          <a:stretch>
            <a:fillRect/>
          </a:stretch>
        </p:blipFill>
        <p:spPr>
          <a:xfrm>
            <a:off x="777240" y="4160520"/>
            <a:ext cx="731520" cy="731520"/>
          </a:xfrm>
          <a:prstGeom prst="rect">
            <a:avLst/>
          </a:prstGeom>
        </p:spPr>
      </p:pic>
      <p:sp>
        <p:nvSpPr>
          <p:cNvPr id="16" name="Text 10"/>
          <p:cNvSpPr txBox="1"/>
          <p:nvPr/>
        </p:nvSpPr>
        <p:spPr>
          <a:xfrm>
            <a:off x="1645920" y="4160520"/>
            <a:ext cx="246888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Gemini CLI</a:t>
            </a:r>
            <a:endParaRPr lang="en-US" sz="1600" dirty="0"/>
          </a:p>
        </p:txBody>
      </p:sp>
      <p:sp>
        <p:nvSpPr>
          <p:cNvPr id="17" name="Text 11"/>
          <p:cNvSpPr txBox="1"/>
          <p:nvPr/>
        </p:nvSpPr>
        <p:spPr>
          <a:xfrm>
            <a:off x="1645920" y="4526280"/>
            <a:ext cx="246888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Google · open source</a:t>
            </a:r>
            <a:endParaRPr lang="en-US" sz="1200" dirty="0"/>
          </a:p>
        </p:txBody>
      </p:sp>
      <p:sp>
        <p:nvSpPr>
          <p:cNvPr id="18" name="Shape 12"/>
          <p:cNvSpPr/>
          <p:nvPr/>
        </p:nvSpPr>
        <p:spPr>
          <a:xfrm>
            <a:off x="4480560" y="1554480"/>
            <a:ext cx="4023360" cy="4572000"/>
          </a:xfrm>
          <a:prstGeom prst="roundRect">
            <a:avLst>
              <a:gd name="adj" fmla="val 2727"/>
            </a:avLst>
          </a:prstGeom>
          <a:solidFill>
            <a:srgbClr val="13263B"/>
          </a:solidFill>
          <a:ln w="12700">
            <a:solidFill>
              <a:srgbClr val="13263B"/>
            </a:solidFill>
            <a:prstDash val="solid"/>
          </a:ln>
        </p:spPr>
      </p:sp>
      <p:sp>
        <p:nvSpPr>
          <p:cNvPr id="19" name="Text 13"/>
          <p:cNvSpPr txBox="1"/>
          <p:nvPr/>
        </p:nvSpPr>
        <p:spPr>
          <a:xfrm>
            <a:off x="4709160" y="1691640"/>
            <a:ext cx="3566160" cy="411480"/>
          </a:xfrm>
          <a:prstGeom prst="rect">
            <a:avLst/>
          </a:prstGeom>
          <a:noFill/>
          <a:ln/>
        </p:spPr>
        <p:txBody>
          <a:bodyPr wrap="square" lIns="0" tIns="0" rIns="0" bIns="0" rtlCol="0" anchor="ctr"/>
          <a:lstStyle/>
          <a:p>
            <a:pPr indent="0" marL="0">
              <a:buNone/>
            </a:pPr>
            <a:r>
              <a:rPr lang="en-US" sz="1600" b="1" dirty="0">
                <a:solidFill>
                  <a:srgbClr val="5FBF7A"/>
                </a:solidFill>
                <a:latin typeface="Calibri" pitchFamily="34" charset="0"/>
                <a:ea typeface="Calibri" pitchFamily="34" charset="-122"/>
                <a:cs typeface="Calibri" pitchFamily="34" charset="-120"/>
              </a:rPr>
              <a:t>Ouverts, tout modèle</a:t>
            </a:r>
            <a:endParaRPr lang="en-US" sz="1600" dirty="0"/>
          </a:p>
        </p:txBody>
      </p:sp>
      <p:sp>
        <p:nvSpPr>
          <p:cNvPr id="20" name="Shape 14"/>
          <p:cNvSpPr/>
          <p:nvPr/>
        </p:nvSpPr>
        <p:spPr>
          <a:xfrm>
            <a:off x="4709160" y="2240280"/>
            <a:ext cx="731520" cy="731520"/>
          </a:xfrm>
          <a:prstGeom prst="roundRect">
            <a:avLst>
              <a:gd name="adj" fmla="val 18750"/>
            </a:avLst>
          </a:prstGeom>
          <a:solidFill>
            <a:srgbClr val="5FBF7A"/>
          </a:solidFill>
          <a:ln w="12700">
            <a:solidFill>
              <a:srgbClr val="5FBF7A"/>
            </a:solidFill>
            <a:prstDash val="solid"/>
          </a:ln>
        </p:spPr>
      </p:sp>
      <p:sp>
        <p:nvSpPr>
          <p:cNvPr id="21" name="Text 15"/>
          <p:cNvSpPr txBox="1"/>
          <p:nvPr/>
        </p:nvSpPr>
        <p:spPr>
          <a:xfrm>
            <a:off x="4709160" y="2240280"/>
            <a:ext cx="731520" cy="731520"/>
          </a:xfrm>
          <a:prstGeom prst="rect">
            <a:avLst/>
          </a:prstGeom>
          <a:noFill/>
          <a:ln/>
        </p:spPr>
        <p:txBody>
          <a:bodyPr wrap="square" lIns="0" tIns="0" rIns="0" bIns="0" rtlCol="0" anchor="ctr"/>
          <a:lstStyle/>
          <a:p>
            <a:pPr algn="ctr" indent="0" marL="0">
              <a:buNone/>
            </a:pPr>
            <a:r>
              <a:rPr lang="en-US" sz="2200" b="1" dirty="0">
                <a:solidFill>
                  <a:srgbClr val="0B1A2B"/>
                </a:solidFill>
                <a:latin typeface="Cambria" pitchFamily="34" charset="0"/>
                <a:ea typeface="Cambria" pitchFamily="34" charset="-122"/>
                <a:cs typeface="Cambria" pitchFamily="34" charset="-120"/>
              </a:rPr>
              <a:t>OC</a:t>
            </a:r>
            <a:endParaRPr lang="en-US" sz="2200" dirty="0"/>
          </a:p>
        </p:txBody>
      </p:sp>
      <p:sp>
        <p:nvSpPr>
          <p:cNvPr id="22" name="Text 16"/>
          <p:cNvSpPr txBox="1"/>
          <p:nvPr/>
        </p:nvSpPr>
        <p:spPr>
          <a:xfrm>
            <a:off x="5577840" y="2240280"/>
            <a:ext cx="27432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OpenCode</a:t>
            </a:r>
            <a:endParaRPr lang="en-US" sz="1600" dirty="0"/>
          </a:p>
        </p:txBody>
      </p:sp>
      <p:sp>
        <p:nvSpPr>
          <p:cNvPr id="23" name="Text 17"/>
          <p:cNvSpPr txBox="1"/>
          <p:nvPr/>
        </p:nvSpPr>
        <p:spPr>
          <a:xfrm>
            <a:off x="5577840" y="2606040"/>
            <a:ext cx="27432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open source · tout fournisseur</a:t>
            </a:r>
            <a:endParaRPr lang="en-US" sz="1200" dirty="0"/>
          </a:p>
        </p:txBody>
      </p:sp>
      <p:sp>
        <p:nvSpPr>
          <p:cNvPr id="24" name="Shape 18"/>
          <p:cNvSpPr/>
          <p:nvPr/>
        </p:nvSpPr>
        <p:spPr>
          <a:xfrm>
            <a:off x="4709160" y="3200400"/>
            <a:ext cx="731520" cy="731520"/>
          </a:xfrm>
          <a:prstGeom prst="roundRect">
            <a:avLst>
              <a:gd name="adj" fmla="val 18750"/>
            </a:avLst>
          </a:prstGeom>
          <a:solidFill>
            <a:srgbClr val="5FBF7A"/>
          </a:solidFill>
          <a:ln w="12700">
            <a:solidFill>
              <a:srgbClr val="5FBF7A"/>
            </a:solidFill>
            <a:prstDash val="solid"/>
          </a:ln>
        </p:spPr>
      </p:sp>
      <p:sp>
        <p:nvSpPr>
          <p:cNvPr id="25" name="Text 19"/>
          <p:cNvSpPr txBox="1"/>
          <p:nvPr/>
        </p:nvSpPr>
        <p:spPr>
          <a:xfrm>
            <a:off x="4709160" y="3200400"/>
            <a:ext cx="731520" cy="731520"/>
          </a:xfrm>
          <a:prstGeom prst="rect">
            <a:avLst/>
          </a:prstGeom>
          <a:noFill/>
          <a:ln/>
        </p:spPr>
        <p:txBody>
          <a:bodyPr wrap="square" lIns="0" tIns="0" rIns="0" bIns="0" rtlCol="0" anchor="ctr"/>
          <a:lstStyle/>
          <a:p>
            <a:pPr algn="ctr" indent="0" marL="0">
              <a:buNone/>
            </a:pPr>
            <a:r>
              <a:rPr lang="en-US" sz="2200" b="1" dirty="0">
                <a:solidFill>
                  <a:srgbClr val="0B1A2B"/>
                </a:solidFill>
                <a:latin typeface="Cambria" pitchFamily="34" charset="0"/>
                <a:ea typeface="Cambria" pitchFamily="34" charset="-122"/>
                <a:cs typeface="Cambria" pitchFamily="34" charset="-120"/>
              </a:rPr>
              <a:t>π</a:t>
            </a:r>
            <a:endParaRPr lang="en-US" sz="2200" dirty="0"/>
          </a:p>
        </p:txBody>
      </p:sp>
      <p:sp>
        <p:nvSpPr>
          <p:cNvPr id="26" name="Text 20"/>
          <p:cNvSpPr txBox="1"/>
          <p:nvPr/>
        </p:nvSpPr>
        <p:spPr>
          <a:xfrm>
            <a:off x="5577840" y="3200400"/>
            <a:ext cx="27432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Pi</a:t>
            </a:r>
            <a:endParaRPr lang="en-US" sz="1600" dirty="0"/>
          </a:p>
        </p:txBody>
      </p:sp>
      <p:sp>
        <p:nvSpPr>
          <p:cNvPr id="27" name="Text 21"/>
          <p:cNvSpPr txBox="1"/>
          <p:nvPr/>
        </p:nvSpPr>
        <p:spPr>
          <a:xfrm>
            <a:off x="5577840" y="3566160"/>
            <a:ext cx="27432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noyau minimal, extensible</a:t>
            </a:r>
            <a:endParaRPr lang="en-US" sz="1200" dirty="0"/>
          </a:p>
        </p:txBody>
      </p:sp>
      <p:pic>
        <p:nvPicPr>
          <p:cNvPr id="28" name="Image 3" descr="/home/monta/convention-jura/presentations/src/logos/Aider-AI.png">    </p:cNvPr>
          <p:cNvPicPr>
            <a:picLocks noChangeAspect="1"/>
          </p:cNvPicPr>
          <p:nvPr/>
        </p:nvPicPr>
        <p:blipFill>
          <a:blip r:embed="rId4"/>
          <a:stretch>
            <a:fillRect/>
          </a:stretch>
        </p:blipFill>
        <p:spPr>
          <a:xfrm>
            <a:off x="4709160" y="4160520"/>
            <a:ext cx="731520" cy="731520"/>
          </a:xfrm>
          <a:prstGeom prst="rect">
            <a:avLst/>
          </a:prstGeom>
        </p:spPr>
      </p:pic>
      <p:sp>
        <p:nvSpPr>
          <p:cNvPr id="29" name="Text 22"/>
          <p:cNvSpPr txBox="1"/>
          <p:nvPr/>
        </p:nvSpPr>
        <p:spPr>
          <a:xfrm>
            <a:off x="5577840" y="4160520"/>
            <a:ext cx="27432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Aider</a:t>
            </a:r>
            <a:endParaRPr lang="en-US" sz="1600" dirty="0"/>
          </a:p>
        </p:txBody>
      </p:sp>
      <p:sp>
        <p:nvSpPr>
          <p:cNvPr id="30" name="Text 23"/>
          <p:cNvSpPr txBox="1"/>
          <p:nvPr/>
        </p:nvSpPr>
        <p:spPr>
          <a:xfrm>
            <a:off x="5577840" y="4526280"/>
            <a:ext cx="27432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binôme natif git</a:t>
            </a:r>
            <a:endParaRPr lang="en-US" sz="1200" dirty="0"/>
          </a:p>
        </p:txBody>
      </p:sp>
      <p:pic>
        <p:nvPicPr>
          <p:cNvPr id="31" name="Image 4" descr="/home/monta/convention-jura/presentations/src/logos/block.png">    </p:cNvPr>
          <p:cNvPicPr>
            <a:picLocks noChangeAspect="1"/>
          </p:cNvPicPr>
          <p:nvPr/>
        </p:nvPicPr>
        <p:blipFill>
          <a:blip r:embed="rId5"/>
          <a:stretch>
            <a:fillRect/>
          </a:stretch>
        </p:blipFill>
        <p:spPr>
          <a:xfrm>
            <a:off x="4709160" y="5120640"/>
            <a:ext cx="731520" cy="731520"/>
          </a:xfrm>
          <a:prstGeom prst="rect">
            <a:avLst/>
          </a:prstGeom>
        </p:spPr>
      </p:pic>
      <p:sp>
        <p:nvSpPr>
          <p:cNvPr id="32" name="Text 24"/>
          <p:cNvSpPr txBox="1"/>
          <p:nvPr/>
        </p:nvSpPr>
        <p:spPr>
          <a:xfrm>
            <a:off x="5577840" y="5120640"/>
            <a:ext cx="27432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Goose</a:t>
            </a:r>
            <a:endParaRPr lang="en-US" sz="1600" dirty="0"/>
          </a:p>
        </p:txBody>
      </p:sp>
      <p:sp>
        <p:nvSpPr>
          <p:cNvPr id="33" name="Text 25"/>
          <p:cNvSpPr txBox="1"/>
          <p:nvPr/>
        </p:nvSpPr>
        <p:spPr>
          <a:xfrm>
            <a:off x="5577840" y="5486400"/>
            <a:ext cx="27432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Block · open source</a:t>
            </a:r>
            <a:endParaRPr lang="en-US" sz="1200" dirty="0"/>
          </a:p>
        </p:txBody>
      </p:sp>
      <p:sp>
        <p:nvSpPr>
          <p:cNvPr id="34" name="Shape 26"/>
          <p:cNvSpPr/>
          <p:nvPr/>
        </p:nvSpPr>
        <p:spPr>
          <a:xfrm>
            <a:off x="8686800" y="1554480"/>
            <a:ext cx="3108960" cy="4572000"/>
          </a:xfrm>
          <a:prstGeom prst="roundRect">
            <a:avLst>
              <a:gd name="adj" fmla="val 3529"/>
            </a:avLst>
          </a:prstGeom>
          <a:solidFill>
            <a:srgbClr val="13263B"/>
          </a:solidFill>
          <a:ln w="12700">
            <a:solidFill>
              <a:srgbClr val="13263B"/>
            </a:solidFill>
            <a:prstDash val="solid"/>
          </a:ln>
        </p:spPr>
      </p:sp>
      <p:sp>
        <p:nvSpPr>
          <p:cNvPr id="35" name="Text 27"/>
          <p:cNvSpPr txBox="1"/>
          <p:nvPr/>
        </p:nvSpPr>
        <p:spPr>
          <a:xfrm>
            <a:off x="8915400" y="1691640"/>
            <a:ext cx="2651760" cy="411480"/>
          </a:xfrm>
          <a:prstGeom prst="rect">
            <a:avLst/>
          </a:prstGeom>
          <a:noFill/>
          <a:ln/>
        </p:spPr>
        <p:txBody>
          <a:bodyPr wrap="square" lIns="0" tIns="0" rIns="0" bIns="0" rtlCol="0" anchor="ctr"/>
          <a:lstStyle/>
          <a:p>
            <a:pPr indent="0" marL="0">
              <a:buNone/>
            </a:pPr>
            <a:r>
              <a:rPr lang="en-US" sz="1600" b="1" dirty="0">
                <a:solidFill>
                  <a:srgbClr val="8E72E6"/>
                </a:solidFill>
                <a:latin typeface="Calibri" pitchFamily="34" charset="0"/>
                <a:ea typeface="Calibri" pitchFamily="34" charset="-122"/>
                <a:cs typeface="Calibri" pitchFamily="34" charset="-120"/>
              </a:rPr>
              <a:t>Dans l'IDE</a:t>
            </a:r>
            <a:endParaRPr lang="en-US" sz="1600" dirty="0"/>
          </a:p>
        </p:txBody>
      </p:sp>
      <p:pic>
        <p:nvPicPr>
          <p:cNvPr id="36" name="Image 5" descr="/home/monta/convention-jura/presentations/src/logos/cursor.png">    </p:cNvPr>
          <p:cNvPicPr>
            <a:picLocks noChangeAspect="1"/>
          </p:cNvPicPr>
          <p:nvPr/>
        </p:nvPicPr>
        <p:blipFill>
          <a:blip r:embed="rId6"/>
          <a:stretch>
            <a:fillRect/>
          </a:stretch>
        </p:blipFill>
        <p:spPr>
          <a:xfrm>
            <a:off x="8915400" y="2240280"/>
            <a:ext cx="731520" cy="731520"/>
          </a:xfrm>
          <a:prstGeom prst="rect">
            <a:avLst/>
          </a:prstGeom>
        </p:spPr>
      </p:pic>
      <p:sp>
        <p:nvSpPr>
          <p:cNvPr id="37" name="Text 28"/>
          <p:cNvSpPr txBox="1"/>
          <p:nvPr/>
        </p:nvSpPr>
        <p:spPr>
          <a:xfrm>
            <a:off x="9784080" y="2240280"/>
            <a:ext cx="18288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Cursor</a:t>
            </a:r>
            <a:endParaRPr lang="en-US" sz="1600" dirty="0"/>
          </a:p>
        </p:txBody>
      </p:sp>
      <p:sp>
        <p:nvSpPr>
          <p:cNvPr id="38" name="Text 29"/>
          <p:cNvSpPr txBox="1"/>
          <p:nvPr/>
        </p:nvSpPr>
        <p:spPr>
          <a:xfrm>
            <a:off x="9784080" y="2606040"/>
            <a:ext cx="18288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éditeur pensé IA</a:t>
            </a:r>
            <a:endParaRPr lang="en-US" sz="1200" dirty="0"/>
          </a:p>
        </p:txBody>
      </p:sp>
      <p:pic>
        <p:nvPicPr>
          <p:cNvPr id="39" name="Image 6" descr="/home/monta/convention-jura/presentations/src/logos/cline.png">    </p:cNvPr>
          <p:cNvPicPr>
            <a:picLocks noChangeAspect="1"/>
          </p:cNvPicPr>
          <p:nvPr/>
        </p:nvPicPr>
        <p:blipFill>
          <a:blip r:embed="rId7"/>
          <a:stretch>
            <a:fillRect/>
          </a:stretch>
        </p:blipFill>
        <p:spPr>
          <a:xfrm>
            <a:off x="8915400" y="3200400"/>
            <a:ext cx="731520" cy="731520"/>
          </a:xfrm>
          <a:prstGeom prst="rect">
            <a:avLst/>
          </a:prstGeom>
        </p:spPr>
      </p:pic>
      <p:sp>
        <p:nvSpPr>
          <p:cNvPr id="40" name="Text 30"/>
          <p:cNvSpPr txBox="1"/>
          <p:nvPr/>
        </p:nvSpPr>
        <p:spPr>
          <a:xfrm>
            <a:off x="9784080" y="3200400"/>
            <a:ext cx="1828800" cy="365760"/>
          </a:xfrm>
          <a:prstGeom prst="rect">
            <a:avLst/>
          </a:prstGeom>
          <a:noFill/>
          <a:ln/>
        </p:spPr>
        <p:txBody>
          <a:bodyPr wrap="square" lIns="0" tIns="0" rIns="0" bIns="0" rtlCol="0" anchor="ctr"/>
          <a:lstStyle/>
          <a:p>
            <a:pPr indent="0" marL="0">
              <a:buNone/>
            </a:pPr>
            <a:r>
              <a:rPr lang="en-US" sz="1600" b="1" dirty="0">
                <a:solidFill>
                  <a:srgbClr val="EEF3F9"/>
                </a:solidFill>
                <a:latin typeface="Calibri" pitchFamily="34" charset="0"/>
                <a:ea typeface="Calibri" pitchFamily="34" charset="-122"/>
                <a:cs typeface="Calibri" pitchFamily="34" charset="-120"/>
              </a:rPr>
              <a:t>Cline</a:t>
            </a:r>
            <a:endParaRPr lang="en-US" sz="1600" dirty="0"/>
          </a:p>
        </p:txBody>
      </p:sp>
      <p:sp>
        <p:nvSpPr>
          <p:cNvPr id="41" name="Text 31"/>
          <p:cNvSpPr txBox="1"/>
          <p:nvPr/>
        </p:nvSpPr>
        <p:spPr>
          <a:xfrm>
            <a:off x="9784080" y="3566160"/>
            <a:ext cx="1828800" cy="365760"/>
          </a:xfrm>
          <a:prstGeom prst="rect">
            <a:avLst/>
          </a:prstGeom>
          <a:noFill/>
          <a:ln/>
        </p:spPr>
        <p:txBody>
          <a:bodyPr wrap="square" lIns="0" tIns="0" rIns="0" bIns="0" rtlCol="0" anchor="ctr"/>
          <a:lstStyle/>
          <a:p>
            <a:pPr indent="0" marL="0">
              <a:buNone/>
            </a:pPr>
            <a:r>
              <a:rPr lang="en-US" sz="1200" dirty="0">
                <a:solidFill>
                  <a:srgbClr val="8FA3B8"/>
                </a:solidFill>
                <a:latin typeface="Calibri" pitchFamily="34" charset="0"/>
                <a:ea typeface="Calibri" pitchFamily="34" charset="-122"/>
                <a:cs typeface="Calibri" pitchFamily="34" charset="-120"/>
              </a:rPr>
              <a:t>extension VS Code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11</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2 · LES HARNESS AUJOURD'HUI</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Quatre questions à poser à tout harness</a:t>
            </a:r>
            <a:endParaRPr lang="en-US" sz="3400" dirty="0"/>
          </a:p>
        </p:txBody>
      </p:sp>
      <p:sp>
        <p:nvSpPr>
          <p:cNvPr id="7" name="Shape 4"/>
          <p:cNvSpPr/>
          <p:nvPr/>
        </p:nvSpPr>
        <p:spPr>
          <a:xfrm>
            <a:off x="548640" y="1645920"/>
            <a:ext cx="5440680" cy="2011680"/>
          </a:xfrm>
          <a:prstGeom prst="roundRect">
            <a:avLst>
              <a:gd name="adj" fmla="val 5455"/>
            </a:avLst>
          </a:prstGeom>
          <a:solidFill>
            <a:srgbClr val="13263B"/>
          </a:solidFill>
          <a:ln w="12700">
            <a:solidFill>
              <a:srgbClr val="13263B"/>
            </a:solidFill>
            <a:prstDash val="solid"/>
          </a:ln>
        </p:spPr>
      </p:sp>
      <p:sp>
        <p:nvSpPr>
          <p:cNvPr id="8" name="Shape 5"/>
          <p:cNvSpPr/>
          <p:nvPr/>
        </p:nvSpPr>
        <p:spPr>
          <a:xfrm>
            <a:off x="731520" y="1828800"/>
            <a:ext cx="411480" cy="411480"/>
          </a:xfrm>
          <a:prstGeom prst="ellipse">
            <a:avLst/>
          </a:prstGeom>
          <a:solidFill>
            <a:srgbClr val="2BA3C7"/>
          </a:solidFill>
          <a:ln w="12700">
            <a:solidFill>
              <a:srgbClr val="2BA3C7"/>
            </a:solidFill>
            <a:prstDash val="solid"/>
          </a:ln>
        </p:spPr>
      </p:sp>
      <p:sp>
        <p:nvSpPr>
          <p:cNvPr id="9" name="Text 6"/>
          <p:cNvSpPr txBox="1"/>
          <p:nvPr/>
        </p:nvSpPr>
        <p:spPr>
          <a:xfrm>
            <a:off x="731520" y="18288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1810512"/>
            <a:ext cx="452628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Qui choisit le modèle ?</a:t>
            </a:r>
            <a:endParaRPr lang="en-US" sz="1700" dirty="0"/>
          </a:p>
        </p:txBody>
      </p:sp>
      <p:sp>
        <p:nvSpPr>
          <p:cNvPr id="11" name="Text 8"/>
          <p:cNvSpPr txBox="1"/>
          <p:nvPr/>
        </p:nvSpPr>
        <p:spPr>
          <a:xfrm>
            <a:off x="777240" y="2331720"/>
            <a:ext cx="4983480" cy="11887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les modèles de l'éditeur seulement — ou tout fournisseur, vos propres vLLM derrière une gateway</a:t>
            </a:r>
            <a:endParaRPr lang="en-US" sz="1500" dirty="0"/>
          </a:p>
        </p:txBody>
      </p:sp>
      <p:sp>
        <p:nvSpPr>
          <p:cNvPr id="12" name="Shape 9"/>
          <p:cNvSpPr/>
          <p:nvPr/>
        </p:nvSpPr>
        <p:spPr>
          <a:xfrm>
            <a:off x="6217920" y="1645920"/>
            <a:ext cx="5440680" cy="2011680"/>
          </a:xfrm>
          <a:prstGeom prst="roundRect">
            <a:avLst>
              <a:gd name="adj" fmla="val 5455"/>
            </a:avLst>
          </a:prstGeom>
          <a:solidFill>
            <a:srgbClr val="13263B"/>
          </a:solidFill>
          <a:ln w="12700">
            <a:solidFill>
              <a:srgbClr val="13263B"/>
            </a:solidFill>
            <a:prstDash val="solid"/>
          </a:ln>
        </p:spPr>
      </p:sp>
      <p:sp>
        <p:nvSpPr>
          <p:cNvPr id="13" name="Shape 10"/>
          <p:cNvSpPr/>
          <p:nvPr/>
        </p:nvSpPr>
        <p:spPr>
          <a:xfrm>
            <a:off x="6400800" y="1828800"/>
            <a:ext cx="411480" cy="411480"/>
          </a:xfrm>
          <a:prstGeom prst="ellipse">
            <a:avLst/>
          </a:prstGeom>
          <a:solidFill>
            <a:srgbClr val="5FBF7A"/>
          </a:solidFill>
          <a:ln w="12700">
            <a:solidFill>
              <a:srgbClr val="5FBF7A"/>
            </a:solidFill>
            <a:prstDash val="solid"/>
          </a:ln>
        </p:spPr>
      </p:sp>
      <p:sp>
        <p:nvSpPr>
          <p:cNvPr id="14" name="Text 11"/>
          <p:cNvSpPr txBox="1"/>
          <p:nvPr/>
        </p:nvSpPr>
        <p:spPr>
          <a:xfrm>
            <a:off x="6400800" y="18288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6949440" y="1810512"/>
            <a:ext cx="452628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Où tourne-t-il ?</a:t>
            </a:r>
            <a:endParaRPr lang="en-US" sz="1700" dirty="0"/>
          </a:p>
        </p:txBody>
      </p:sp>
      <p:sp>
        <p:nvSpPr>
          <p:cNvPr id="16" name="Text 13"/>
          <p:cNvSpPr txBox="1"/>
          <p:nvPr/>
        </p:nvSpPr>
        <p:spPr>
          <a:xfrm>
            <a:off x="6446520" y="2331720"/>
            <a:ext cx="4983480" cy="11887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votre terminal, l'éditeur, le cloud de l'éditeur — et ce qu'il peut atteindre de là</a:t>
            </a:r>
            <a:endParaRPr lang="en-US" sz="1500" dirty="0"/>
          </a:p>
        </p:txBody>
      </p:sp>
      <p:sp>
        <p:nvSpPr>
          <p:cNvPr id="17" name="Shape 14"/>
          <p:cNvSpPr/>
          <p:nvPr/>
        </p:nvSpPr>
        <p:spPr>
          <a:xfrm>
            <a:off x="548640" y="3886200"/>
            <a:ext cx="5440680" cy="2011680"/>
          </a:xfrm>
          <a:prstGeom prst="roundRect">
            <a:avLst>
              <a:gd name="adj" fmla="val 5455"/>
            </a:avLst>
          </a:prstGeom>
          <a:solidFill>
            <a:srgbClr val="13263B"/>
          </a:solidFill>
          <a:ln w="12700">
            <a:solidFill>
              <a:srgbClr val="13263B"/>
            </a:solidFill>
            <a:prstDash val="solid"/>
          </a:ln>
        </p:spPr>
      </p:sp>
      <p:sp>
        <p:nvSpPr>
          <p:cNvPr id="18" name="Shape 15"/>
          <p:cNvSpPr/>
          <p:nvPr/>
        </p:nvSpPr>
        <p:spPr>
          <a:xfrm>
            <a:off x="731520" y="4069080"/>
            <a:ext cx="411480" cy="411480"/>
          </a:xfrm>
          <a:prstGeom prst="ellipse">
            <a:avLst/>
          </a:prstGeom>
          <a:solidFill>
            <a:srgbClr val="8E72E6"/>
          </a:solidFill>
          <a:ln w="12700">
            <a:solidFill>
              <a:srgbClr val="8E72E6"/>
            </a:solidFill>
            <a:prstDash val="solid"/>
          </a:ln>
        </p:spPr>
      </p:sp>
      <p:sp>
        <p:nvSpPr>
          <p:cNvPr id="19" name="Text 16"/>
          <p:cNvSpPr txBox="1"/>
          <p:nvPr/>
        </p:nvSpPr>
        <p:spPr>
          <a:xfrm>
            <a:off x="731520" y="406908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0" name="Text 17"/>
          <p:cNvSpPr txBox="1"/>
          <p:nvPr/>
        </p:nvSpPr>
        <p:spPr>
          <a:xfrm>
            <a:off x="1280160" y="4050792"/>
            <a:ext cx="452628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Jusqu'où s'étend-il ?</a:t>
            </a:r>
            <a:endParaRPr lang="en-US" sz="1700" dirty="0"/>
          </a:p>
        </p:txBody>
      </p:sp>
      <p:sp>
        <p:nvSpPr>
          <p:cNvPr id="21" name="Text 18"/>
          <p:cNvSpPr txBox="1"/>
          <p:nvPr/>
        </p:nvSpPr>
        <p:spPr>
          <a:xfrm>
            <a:off x="777240" y="4572000"/>
            <a:ext cx="4983480" cy="11887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skills, serveurs MCP, hooks, plugins, sous-agents</a:t>
            </a:r>
            <a:endParaRPr lang="en-US" sz="1500" dirty="0"/>
          </a:p>
        </p:txBody>
      </p:sp>
      <p:sp>
        <p:nvSpPr>
          <p:cNvPr id="22" name="Shape 19"/>
          <p:cNvSpPr/>
          <p:nvPr/>
        </p:nvSpPr>
        <p:spPr>
          <a:xfrm>
            <a:off x="6217920" y="3886200"/>
            <a:ext cx="5440680" cy="2011680"/>
          </a:xfrm>
          <a:prstGeom prst="roundRect">
            <a:avLst>
              <a:gd name="adj" fmla="val 5455"/>
            </a:avLst>
          </a:prstGeom>
          <a:solidFill>
            <a:srgbClr val="13263B"/>
          </a:solidFill>
          <a:ln w="12700">
            <a:solidFill>
              <a:srgbClr val="13263B"/>
            </a:solidFill>
            <a:prstDash val="solid"/>
          </a:ln>
        </p:spPr>
      </p:sp>
      <p:sp>
        <p:nvSpPr>
          <p:cNvPr id="23" name="Shape 20"/>
          <p:cNvSpPr/>
          <p:nvPr/>
        </p:nvSpPr>
        <p:spPr>
          <a:xfrm>
            <a:off x="6400800" y="4069080"/>
            <a:ext cx="411480" cy="411480"/>
          </a:xfrm>
          <a:prstGeom prst="ellipse">
            <a:avLst/>
          </a:prstGeom>
          <a:solidFill>
            <a:srgbClr val="E0645A"/>
          </a:solidFill>
          <a:ln w="12700">
            <a:solidFill>
              <a:srgbClr val="E0645A"/>
            </a:solidFill>
            <a:prstDash val="solid"/>
          </a:ln>
        </p:spPr>
      </p:sp>
      <p:sp>
        <p:nvSpPr>
          <p:cNvPr id="24" name="Text 21"/>
          <p:cNvSpPr txBox="1"/>
          <p:nvPr/>
        </p:nvSpPr>
        <p:spPr>
          <a:xfrm>
            <a:off x="6400800" y="406908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25" name="Text 22"/>
          <p:cNvSpPr txBox="1"/>
          <p:nvPr/>
        </p:nvSpPr>
        <p:spPr>
          <a:xfrm>
            <a:off x="6949440" y="4050792"/>
            <a:ext cx="452628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Règles dans le code, ou dans un prompt ?</a:t>
            </a:r>
            <a:endParaRPr lang="en-US" sz="1700" dirty="0"/>
          </a:p>
        </p:txBody>
      </p:sp>
      <p:sp>
        <p:nvSpPr>
          <p:cNvPr id="26" name="Text 23"/>
          <p:cNvSpPr txBox="1"/>
          <p:nvPr/>
        </p:nvSpPr>
        <p:spPr>
          <a:xfrm>
            <a:off x="6446520" y="4572000"/>
            <a:ext cx="4983480" cy="118872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demander avant une commande risquée est courant ; garantir qu'une règle est suivie est rare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12</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3 · HARNESS AUTO-APPRENANTS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Meilleurs grâce à leurs exécutions — sans réentraînement</a:t>
            </a:r>
            <a:endParaRPr lang="en-US" sz="3400" dirty="0"/>
          </a:p>
        </p:txBody>
      </p:sp>
      <p:sp>
        <p:nvSpPr>
          <p:cNvPr id="7" name="Shape 4"/>
          <p:cNvSpPr/>
          <p:nvPr/>
        </p:nvSpPr>
        <p:spPr>
          <a:xfrm>
            <a:off x="548640" y="4572000"/>
            <a:ext cx="2651760" cy="1371600"/>
          </a:xfrm>
          <a:prstGeom prst="roundRect">
            <a:avLst>
              <a:gd name="adj" fmla="val 8000"/>
            </a:avLst>
          </a:prstGeom>
          <a:solidFill>
            <a:srgbClr val="13263B"/>
          </a:solidFill>
          <a:ln w="12700">
            <a:solidFill>
              <a:srgbClr val="13263B"/>
            </a:solidFill>
            <a:prstDash val="solid"/>
          </a:ln>
        </p:spPr>
      </p:sp>
      <p:sp>
        <p:nvSpPr>
          <p:cNvPr id="8" name="Shape 5"/>
          <p:cNvSpPr/>
          <p:nvPr/>
        </p:nvSpPr>
        <p:spPr>
          <a:xfrm>
            <a:off x="731520" y="4754880"/>
            <a:ext cx="411480" cy="411480"/>
          </a:xfrm>
          <a:prstGeom prst="ellipse">
            <a:avLst/>
          </a:prstGeom>
          <a:solidFill>
            <a:srgbClr val="2BA3C7"/>
          </a:solidFill>
          <a:ln w="12700">
            <a:solidFill>
              <a:srgbClr val="2BA3C7"/>
            </a:solidFill>
            <a:prstDash val="solid"/>
          </a:ln>
        </p:spPr>
      </p:sp>
      <p:sp>
        <p:nvSpPr>
          <p:cNvPr id="9" name="Text 6"/>
          <p:cNvSpPr txBox="1"/>
          <p:nvPr/>
        </p:nvSpPr>
        <p:spPr>
          <a:xfrm>
            <a:off x="731520" y="475488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4736592"/>
            <a:ext cx="173736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Se souvenir</a:t>
            </a:r>
            <a:endParaRPr lang="en-US" sz="1700" dirty="0"/>
          </a:p>
        </p:txBody>
      </p:sp>
      <p:sp>
        <p:nvSpPr>
          <p:cNvPr id="11" name="Text 8"/>
          <p:cNvSpPr txBox="1"/>
          <p:nvPr/>
        </p:nvSpPr>
        <p:spPr>
          <a:xfrm>
            <a:off x="777240" y="5257800"/>
            <a:ext cx="2194560" cy="54864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une mémoire qui survit à la session</a:t>
            </a:r>
            <a:endParaRPr lang="en-US" sz="1400" dirty="0"/>
          </a:p>
        </p:txBody>
      </p:sp>
      <p:sp>
        <p:nvSpPr>
          <p:cNvPr id="12" name="Shape 9"/>
          <p:cNvSpPr/>
          <p:nvPr/>
        </p:nvSpPr>
        <p:spPr>
          <a:xfrm>
            <a:off x="3383280" y="3794760"/>
            <a:ext cx="2651760" cy="2148840"/>
          </a:xfrm>
          <a:prstGeom prst="roundRect">
            <a:avLst>
              <a:gd name="adj" fmla="val 5106"/>
            </a:avLst>
          </a:prstGeom>
          <a:solidFill>
            <a:srgbClr val="13263B"/>
          </a:solidFill>
          <a:ln w="12700">
            <a:solidFill>
              <a:srgbClr val="13263B"/>
            </a:solidFill>
            <a:prstDash val="solid"/>
          </a:ln>
        </p:spPr>
      </p:sp>
      <p:sp>
        <p:nvSpPr>
          <p:cNvPr id="13" name="Shape 10"/>
          <p:cNvSpPr/>
          <p:nvPr/>
        </p:nvSpPr>
        <p:spPr>
          <a:xfrm>
            <a:off x="3566160" y="3977640"/>
            <a:ext cx="411480" cy="411480"/>
          </a:xfrm>
          <a:prstGeom prst="ellipse">
            <a:avLst/>
          </a:prstGeom>
          <a:solidFill>
            <a:srgbClr val="5FBF7A"/>
          </a:solidFill>
          <a:ln w="12700">
            <a:solidFill>
              <a:srgbClr val="5FBF7A"/>
            </a:solidFill>
            <a:prstDash val="solid"/>
          </a:ln>
        </p:spPr>
      </p:sp>
      <p:sp>
        <p:nvSpPr>
          <p:cNvPr id="14" name="Text 11"/>
          <p:cNvSpPr txBox="1"/>
          <p:nvPr/>
        </p:nvSpPr>
        <p:spPr>
          <a:xfrm>
            <a:off x="3566160" y="39776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4114800" y="3959352"/>
            <a:ext cx="173736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Écrire des procédures</a:t>
            </a:r>
            <a:endParaRPr lang="en-US" sz="1700" dirty="0"/>
          </a:p>
        </p:txBody>
      </p:sp>
      <p:sp>
        <p:nvSpPr>
          <p:cNvPr id="16" name="Text 13"/>
          <p:cNvSpPr txBox="1"/>
          <p:nvPr/>
        </p:nvSpPr>
        <p:spPr>
          <a:xfrm>
            <a:off x="3611880" y="4480560"/>
            <a:ext cx="2194560" cy="132588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un travail répété devient une skill</a:t>
            </a:r>
            <a:endParaRPr lang="en-US" sz="1400" dirty="0"/>
          </a:p>
        </p:txBody>
      </p:sp>
      <p:sp>
        <p:nvSpPr>
          <p:cNvPr id="17" name="Shape 14"/>
          <p:cNvSpPr/>
          <p:nvPr/>
        </p:nvSpPr>
        <p:spPr>
          <a:xfrm>
            <a:off x="6217920" y="3017520"/>
            <a:ext cx="2651760" cy="2926080"/>
          </a:xfrm>
          <a:prstGeom prst="roundRect">
            <a:avLst>
              <a:gd name="adj" fmla="val 4138"/>
            </a:avLst>
          </a:prstGeom>
          <a:solidFill>
            <a:srgbClr val="13263B"/>
          </a:solidFill>
          <a:ln w="12700">
            <a:solidFill>
              <a:srgbClr val="13263B"/>
            </a:solidFill>
            <a:prstDash val="solid"/>
          </a:ln>
        </p:spPr>
      </p:sp>
      <p:sp>
        <p:nvSpPr>
          <p:cNvPr id="18" name="Shape 15"/>
          <p:cNvSpPr/>
          <p:nvPr/>
        </p:nvSpPr>
        <p:spPr>
          <a:xfrm>
            <a:off x="6400800" y="3200400"/>
            <a:ext cx="411480" cy="411480"/>
          </a:xfrm>
          <a:prstGeom prst="ellipse">
            <a:avLst/>
          </a:prstGeom>
          <a:solidFill>
            <a:srgbClr val="D4AF37"/>
          </a:solidFill>
          <a:ln w="12700">
            <a:solidFill>
              <a:srgbClr val="D4AF37"/>
            </a:solidFill>
            <a:prstDash val="solid"/>
          </a:ln>
        </p:spPr>
      </p:sp>
      <p:sp>
        <p:nvSpPr>
          <p:cNvPr id="19" name="Text 16"/>
          <p:cNvSpPr txBox="1"/>
          <p:nvPr/>
        </p:nvSpPr>
        <p:spPr>
          <a:xfrm>
            <a:off x="6400800" y="32004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0" name="Text 17"/>
          <p:cNvSpPr txBox="1"/>
          <p:nvPr/>
        </p:nvSpPr>
        <p:spPr>
          <a:xfrm>
            <a:off x="6949440" y="3182112"/>
            <a:ext cx="173736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Vérifier, réessayer</a:t>
            </a:r>
            <a:endParaRPr lang="en-US" sz="1700" dirty="0"/>
          </a:p>
        </p:txBody>
      </p:sp>
      <p:sp>
        <p:nvSpPr>
          <p:cNvPr id="21" name="Text 18"/>
          <p:cNvSpPr txBox="1"/>
          <p:nvPr/>
        </p:nvSpPr>
        <p:spPr>
          <a:xfrm>
            <a:off x="6446520" y="3703320"/>
            <a:ext cx="2194560" cy="21031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un contrôle échoué revient à l'agent</a:t>
            </a:r>
            <a:endParaRPr lang="en-US" sz="1400" dirty="0"/>
          </a:p>
        </p:txBody>
      </p:sp>
      <p:sp>
        <p:nvSpPr>
          <p:cNvPr id="22" name="Shape 19"/>
          <p:cNvSpPr/>
          <p:nvPr/>
        </p:nvSpPr>
        <p:spPr>
          <a:xfrm>
            <a:off x="9052560" y="2240280"/>
            <a:ext cx="2651760" cy="3703320"/>
          </a:xfrm>
          <a:prstGeom prst="roundRect">
            <a:avLst>
              <a:gd name="adj" fmla="val 4138"/>
            </a:avLst>
          </a:prstGeom>
          <a:solidFill>
            <a:srgbClr val="13263B"/>
          </a:solidFill>
          <a:ln w="12700">
            <a:solidFill>
              <a:srgbClr val="13263B"/>
            </a:solidFill>
            <a:prstDash val="solid"/>
          </a:ln>
        </p:spPr>
      </p:sp>
      <p:sp>
        <p:nvSpPr>
          <p:cNvPr id="23" name="Shape 20"/>
          <p:cNvSpPr/>
          <p:nvPr/>
        </p:nvSpPr>
        <p:spPr>
          <a:xfrm>
            <a:off x="9235440" y="2423160"/>
            <a:ext cx="411480" cy="411480"/>
          </a:xfrm>
          <a:prstGeom prst="ellipse">
            <a:avLst/>
          </a:prstGeom>
          <a:solidFill>
            <a:srgbClr val="8E72E6"/>
          </a:solidFill>
          <a:ln w="12700">
            <a:solidFill>
              <a:srgbClr val="8E72E6"/>
            </a:solidFill>
            <a:prstDash val="solid"/>
          </a:ln>
        </p:spPr>
      </p:sp>
      <p:sp>
        <p:nvSpPr>
          <p:cNvPr id="24" name="Text 21"/>
          <p:cNvSpPr txBox="1"/>
          <p:nvPr/>
        </p:nvSpPr>
        <p:spPr>
          <a:xfrm>
            <a:off x="9235440" y="242316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25" name="Text 22"/>
          <p:cNvSpPr txBox="1"/>
          <p:nvPr/>
        </p:nvSpPr>
        <p:spPr>
          <a:xfrm>
            <a:off x="9784080" y="2404872"/>
            <a:ext cx="173736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Entraîner</a:t>
            </a:r>
            <a:endParaRPr lang="en-US" sz="1700" dirty="0"/>
          </a:p>
        </p:txBody>
      </p:sp>
      <p:sp>
        <p:nvSpPr>
          <p:cNvPr id="26" name="Text 23"/>
          <p:cNvSpPr txBox="1"/>
          <p:nvPr/>
        </p:nvSpPr>
        <p:spPr>
          <a:xfrm>
            <a:off x="9281160" y="2926080"/>
            <a:ext cx="2194560" cy="288036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les exécutions deviennent des données</a:t>
            </a:r>
            <a:endParaRPr lang="en-US" sz="1400" dirty="0"/>
          </a:p>
        </p:txBody>
      </p:sp>
      <p:sp>
        <p:nvSpPr>
          <p:cNvPr id="27" name="Text 24"/>
          <p:cNvSpPr txBox="1"/>
          <p:nvPr/>
        </p:nvSpPr>
        <p:spPr>
          <a:xfrm>
            <a:off x="6400800" y="1600200"/>
            <a:ext cx="5212080" cy="365760"/>
          </a:xfrm>
          <a:prstGeom prst="rect">
            <a:avLst/>
          </a:prstGeom>
          <a:noFill/>
          <a:ln/>
        </p:spPr>
        <p:txBody>
          <a:bodyPr wrap="square" lIns="0" tIns="0" rIns="0" bIns="0" rtlCol="0" anchor="ctr"/>
          <a:lstStyle/>
          <a:p>
            <a:pPr algn="r" indent="0" marL="0">
              <a:buNone/>
            </a:pPr>
            <a:r>
              <a:rPr lang="en-US" sz="1400" i="1" dirty="0">
                <a:solidFill>
                  <a:srgbClr val="8FA3B8"/>
                </a:solidFill>
                <a:latin typeface="Calibri" pitchFamily="34" charset="0"/>
                <a:ea typeface="Calibri" pitchFamily="34" charset="-122"/>
                <a:cs typeface="Calibri" pitchFamily="34" charset="-120"/>
              </a:rPr>
              <a:t>plus de puissance → plus de garde-fous</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13</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3 · EXEMPLE : HERMES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Un harness construit autour d'une boucle d'apprentissage</a:t>
            </a:r>
            <a:endParaRPr lang="en-US" sz="3400" dirty="0"/>
          </a:p>
        </p:txBody>
      </p:sp>
      <p:pic>
        <p:nvPicPr>
          <p:cNvPr id="7" name="Image 0" descr="/home/monta/convention-jura/presentations/src/logos/NousResearch.png">    </p:cNvPr>
          <p:cNvPicPr>
            <a:picLocks noChangeAspect="1"/>
          </p:cNvPicPr>
          <p:nvPr/>
        </p:nvPicPr>
        <p:blipFill>
          <a:blip r:embed="rId1"/>
          <a:stretch>
            <a:fillRect/>
          </a:stretch>
        </p:blipFill>
        <p:spPr>
          <a:xfrm>
            <a:off x="548640" y="1645920"/>
            <a:ext cx="1280160" cy="1280160"/>
          </a:xfrm>
          <a:prstGeom prst="rect">
            <a:avLst/>
          </a:prstGeom>
        </p:spPr>
      </p:pic>
      <p:sp>
        <p:nvSpPr>
          <p:cNvPr id="8" name="Text 4"/>
          <p:cNvSpPr txBox="1"/>
          <p:nvPr/>
        </p:nvSpPr>
        <p:spPr>
          <a:xfrm>
            <a:off x="548640" y="3017520"/>
            <a:ext cx="2194560" cy="365760"/>
          </a:xfrm>
          <a:prstGeom prst="rect">
            <a:avLst/>
          </a:prstGeom>
          <a:noFill/>
          <a:ln/>
        </p:spPr>
        <p:txBody>
          <a:bodyPr wrap="square" lIns="0" tIns="0" rIns="0" bIns="0" rtlCol="0" anchor="ctr"/>
          <a:lstStyle/>
          <a:p>
            <a:pPr indent="0" marL="0">
              <a:buNone/>
            </a:pPr>
            <a:r>
              <a:rPr lang="en-US" sz="1300" dirty="0">
                <a:solidFill>
                  <a:srgbClr val="8FA3B8"/>
                </a:solidFill>
                <a:latin typeface="Calibri" pitchFamily="34" charset="0"/>
                <a:ea typeface="Calibri" pitchFamily="34" charset="-122"/>
                <a:cs typeface="Calibri" pitchFamily="34" charset="-120"/>
              </a:rPr>
              <a:t>Nous Research</a:t>
            </a:r>
            <a:endParaRPr lang="en-US" sz="1300" dirty="0"/>
          </a:p>
        </p:txBody>
      </p:sp>
      <p:sp>
        <p:nvSpPr>
          <p:cNvPr id="9" name="Shape 5"/>
          <p:cNvSpPr/>
          <p:nvPr/>
        </p:nvSpPr>
        <p:spPr>
          <a:xfrm>
            <a:off x="3017520" y="1645920"/>
            <a:ext cx="4160520" cy="2011680"/>
          </a:xfrm>
          <a:prstGeom prst="roundRect">
            <a:avLst>
              <a:gd name="adj" fmla="val 5455"/>
            </a:avLst>
          </a:prstGeom>
          <a:solidFill>
            <a:srgbClr val="13263B"/>
          </a:solidFill>
          <a:ln w="12700">
            <a:solidFill>
              <a:srgbClr val="13263B"/>
            </a:solidFill>
            <a:prstDash val="solid"/>
          </a:ln>
        </p:spPr>
      </p:sp>
      <p:sp>
        <p:nvSpPr>
          <p:cNvPr id="10" name="Text 6"/>
          <p:cNvSpPr txBox="1"/>
          <p:nvPr/>
        </p:nvSpPr>
        <p:spPr>
          <a:xfrm>
            <a:off x="3246120" y="1810512"/>
            <a:ext cx="374904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Des sessions interrogeables</a:t>
            </a:r>
            <a:endParaRPr lang="en-US" sz="1700" dirty="0"/>
          </a:p>
        </p:txBody>
      </p:sp>
      <p:sp>
        <p:nvSpPr>
          <p:cNvPr id="11" name="Text 7"/>
          <p:cNvSpPr txBox="1"/>
          <p:nvPr/>
        </p:nvSpPr>
        <p:spPr>
          <a:xfrm>
            <a:off x="3246120" y="233172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chaque session stockée avec recherche plein texte : le rappel rend ce qui a été dit, pas un résumé</a:t>
            </a:r>
            <a:endParaRPr lang="en-US" sz="1400" dirty="0"/>
          </a:p>
        </p:txBody>
      </p:sp>
      <p:sp>
        <p:nvSpPr>
          <p:cNvPr id="12" name="Shape 8"/>
          <p:cNvSpPr/>
          <p:nvPr/>
        </p:nvSpPr>
        <p:spPr>
          <a:xfrm>
            <a:off x="7360920" y="1645920"/>
            <a:ext cx="4160520" cy="2011680"/>
          </a:xfrm>
          <a:prstGeom prst="roundRect">
            <a:avLst>
              <a:gd name="adj" fmla="val 5455"/>
            </a:avLst>
          </a:prstGeom>
          <a:solidFill>
            <a:srgbClr val="13263B"/>
          </a:solidFill>
          <a:ln w="12700">
            <a:solidFill>
              <a:srgbClr val="13263B"/>
            </a:solidFill>
            <a:prstDash val="solid"/>
          </a:ln>
        </p:spPr>
      </p:sp>
      <p:sp>
        <p:nvSpPr>
          <p:cNvPr id="13" name="Text 9"/>
          <p:cNvSpPr txBox="1"/>
          <p:nvPr/>
        </p:nvSpPr>
        <p:spPr>
          <a:xfrm>
            <a:off x="7589520" y="1810512"/>
            <a:ext cx="374904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Des skills qu'il écrit lui-même</a:t>
            </a:r>
            <a:endParaRPr lang="en-US" sz="1700" dirty="0"/>
          </a:p>
        </p:txBody>
      </p:sp>
      <p:sp>
        <p:nvSpPr>
          <p:cNvPr id="14" name="Text 10"/>
          <p:cNvSpPr txBox="1"/>
          <p:nvPr/>
        </p:nvSpPr>
        <p:spPr>
          <a:xfrm>
            <a:off x="7589520" y="233172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les travaux répétés deviennent des skills ; l'écriture peut attendre une validation humaine</a:t>
            </a:r>
            <a:endParaRPr lang="en-US" sz="1400" dirty="0"/>
          </a:p>
        </p:txBody>
      </p:sp>
      <p:sp>
        <p:nvSpPr>
          <p:cNvPr id="15" name="Shape 11"/>
          <p:cNvSpPr/>
          <p:nvPr/>
        </p:nvSpPr>
        <p:spPr>
          <a:xfrm>
            <a:off x="3017520" y="3886200"/>
            <a:ext cx="4160520" cy="2011680"/>
          </a:xfrm>
          <a:prstGeom prst="roundRect">
            <a:avLst>
              <a:gd name="adj" fmla="val 5455"/>
            </a:avLst>
          </a:prstGeom>
          <a:solidFill>
            <a:srgbClr val="13263B"/>
          </a:solidFill>
          <a:ln w="12700">
            <a:solidFill>
              <a:srgbClr val="13263B"/>
            </a:solidFill>
            <a:prstDash val="solid"/>
          </a:ln>
        </p:spPr>
      </p:sp>
      <p:sp>
        <p:nvSpPr>
          <p:cNvPr id="16" name="Text 12"/>
          <p:cNvSpPr txBox="1"/>
          <p:nvPr/>
        </p:nvSpPr>
        <p:spPr>
          <a:xfrm>
            <a:off x="3246120" y="4050792"/>
            <a:ext cx="374904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Skills chargées par niveaux</a:t>
            </a:r>
            <a:endParaRPr lang="en-US" sz="1700" dirty="0"/>
          </a:p>
        </p:txBody>
      </p:sp>
      <p:sp>
        <p:nvSpPr>
          <p:cNvPr id="17" name="Text 13"/>
          <p:cNvSpPr txBox="1"/>
          <p:nvPr/>
        </p:nvSpPr>
        <p:spPr>
          <a:xfrm>
            <a:off x="3246120" y="457200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un nom et une ligne toujours ; le contenu seulement à l'usage</a:t>
            </a:r>
            <a:endParaRPr lang="en-US" sz="1400" dirty="0"/>
          </a:p>
        </p:txBody>
      </p:sp>
      <p:sp>
        <p:nvSpPr>
          <p:cNvPr id="18" name="Shape 14"/>
          <p:cNvSpPr/>
          <p:nvPr/>
        </p:nvSpPr>
        <p:spPr>
          <a:xfrm>
            <a:off x="7360920" y="3886200"/>
            <a:ext cx="4160520" cy="2011680"/>
          </a:xfrm>
          <a:prstGeom prst="roundRect">
            <a:avLst>
              <a:gd name="adj" fmla="val 5455"/>
            </a:avLst>
          </a:prstGeom>
          <a:solidFill>
            <a:srgbClr val="13263B"/>
          </a:solidFill>
          <a:ln w="12700">
            <a:solidFill>
              <a:srgbClr val="13263B"/>
            </a:solidFill>
            <a:prstDash val="solid"/>
          </a:ln>
        </p:spPr>
      </p:sp>
      <p:sp>
        <p:nvSpPr>
          <p:cNvPr id="19" name="Text 15"/>
          <p:cNvSpPr txBox="1"/>
          <p:nvPr/>
        </p:nvSpPr>
        <p:spPr>
          <a:xfrm>
            <a:off x="7589520" y="4050792"/>
            <a:ext cx="374904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Trajectoires pour l'entraînement</a:t>
            </a:r>
            <a:endParaRPr lang="en-US" sz="1700" dirty="0"/>
          </a:p>
        </p:txBody>
      </p:sp>
      <p:sp>
        <p:nvSpPr>
          <p:cNvPr id="20" name="Text 16"/>
          <p:cNvSpPr txBox="1"/>
          <p:nvPr/>
        </p:nvSpPr>
        <p:spPr>
          <a:xfrm>
            <a:off x="7589520" y="457200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exécutions exportées pour l'apprentissage par renforcement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14</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3 · EXEMPLE : PRIME AGENT</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C'est le contrôle qui décide que c'est fini</a:t>
            </a:r>
            <a:endParaRPr lang="en-US" sz="3400" dirty="0"/>
          </a:p>
        </p:txBody>
      </p:sp>
      <p:pic>
        <p:nvPicPr>
          <p:cNvPr id="7" name="Image 0" descr="/home/monta/convention-jura/presentations/src/logos/PrimeIntellect-ai.png">    </p:cNvPr>
          <p:cNvPicPr>
            <a:picLocks noChangeAspect="1"/>
          </p:cNvPicPr>
          <p:nvPr/>
        </p:nvPicPr>
        <p:blipFill>
          <a:blip r:embed="rId1"/>
          <a:stretch>
            <a:fillRect/>
          </a:stretch>
        </p:blipFill>
        <p:spPr>
          <a:xfrm>
            <a:off x="548640" y="1645920"/>
            <a:ext cx="1280160" cy="1280160"/>
          </a:xfrm>
          <a:prstGeom prst="rect">
            <a:avLst/>
          </a:prstGeom>
        </p:spPr>
      </p:pic>
      <p:sp>
        <p:nvSpPr>
          <p:cNvPr id="8" name="Text 4"/>
          <p:cNvSpPr txBox="1"/>
          <p:nvPr/>
        </p:nvSpPr>
        <p:spPr>
          <a:xfrm>
            <a:off x="548640" y="3017520"/>
            <a:ext cx="2194560" cy="365760"/>
          </a:xfrm>
          <a:prstGeom prst="rect">
            <a:avLst/>
          </a:prstGeom>
          <a:noFill/>
          <a:ln/>
        </p:spPr>
        <p:txBody>
          <a:bodyPr wrap="square" lIns="0" tIns="0" rIns="0" bIns="0" rtlCol="0" anchor="ctr"/>
          <a:lstStyle/>
          <a:p>
            <a:pPr indent="0" marL="0">
              <a:buNone/>
            </a:pPr>
            <a:r>
              <a:rPr lang="en-US" sz="1300" dirty="0">
                <a:solidFill>
                  <a:srgbClr val="8FA3B8"/>
                </a:solidFill>
                <a:latin typeface="Calibri" pitchFamily="34" charset="0"/>
                <a:ea typeface="Calibri" pitchFamily="34" charset="-122"/>
                <a:cs typeface="Calibri" pitchFamily="34" charset="-120"/>
              </a:rPr>
              <a:t>Prime Intellect</a:t>
            </a:r>
            <a:endParaRPr lang="en-US" sz="1300" dirty="0"/>
          </a:p>
        </p:txBody>
      </p:sp>
      <p:sp>
        <p:nvSpPr>
          <p:cNvPr id="9" name="Shape 5"/>
          <p:cNvSpPr/>
          <p:nvPr/>
        </p:nvSpPr>
        <p:spPr>
          <a:xfrm>
            <a:off x="3017520" y="1645920"/>
            <a:ext cx="4160520" cy="2011680"/>
          </a:xfrm>
          <a:prstGeom prst="roundRect">
            <a:avLst>
              <a:gd name="adj" fmla="val 5455"/>
            </a:avLst>
          </a:prstGeom>
          <a:solidFill>
            <a:srgbClr val="13263B"/>
          </a:solidFill>
          <a:ln w="12700">
            <a:solidFill>
              <a:srgbClr val="13263B"/>
            </a:solidFill>
            <a:prstDash val="solid"/>
          </a:ln>
        </p:spPr>
      </p:sp>
      <p:sp>
        <p:nvSpPr>
          <p:cNvPr id="10" name="Text 6"/>
          <p:cNvSpPr txBox="1"/>
          <p:nvPr/>
        </p:nvSpPr>
        <p:spPr>
          <a:xfrm>
            <a:off x="3246120" y="1810512"/>
            <a:ext cx="374904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Validation autonome</a:t>
            </a:r>
            <a:endParaRPr lang="en-US" sz="1700" dirty="0"/>
          </a:p>
        </p:txBody>
      </p:sp>
      <p:sp>
        <p:nvSpPr>
          <p:cNvPr id="11" name="Text 7"/>
          <p:cNvSpPr txBox="1"/>
          <p:nvPr/>
        </p:nvSpPr>
        <p:spPr>
          <a:xfrm>
            <a:off x="3246120" y="233172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un contrôle échoué revient à l'agent pour un nouvel essai</a:t>
            </a:r>
            <a:endParaRPr lang="en-US" sz="1400" dirty="0"/>
          </a:p>
        </p:txBody>
      </p:sp>
      <p:sp>
        <p:nvSpPr>
          <p:cNvPr id="12" name="Shape 8"/>
          <p:cNvSpPr/>
          <p:nvPr/>
        </p:nvSpPr>
        <p:spPr>
          <a:xfrm>
            <a:off x="7360920" y="1645920"/>
            <a:ext cx="4160520" cy="2011680"/>
          </a:xfrm>
          <a:prstGeom prst="roundRect">
            <a:avLst>
              <a:gd name="adj" fmla="val 5455"/>
            </a:avLst>
          </a:prstGeom>
          <a:solidFill>
            <a:srgbClr val="13263B"/>
          </a:solidFill>
          <a:ln w="12700">
            <a:solidFill>
              <a:srgbClr val="13263B"/>
            </a:solidFill>
            <a:prstDash val="solid"/>
          </a:ln>
        </p:spPr>
      </p:sp>
      <p:sp>
        <p:nvSpPr>
          <p:cNvPr id="13" name="Text 9"/>
          <p:cNvSpPr txBox="1"/>
          <p:nvPr/>
        </p:nvSpPr>
        <p:spPr>
          <a:xfrm>
            <a:off x="7589520" y="1810512"/>
            <a:ext cx="374904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Sessions à branches</a:t>
            </a:r>
            <a:endParaRPr lang="en-US" sz="1700" dirty="0"/>
          </a:p>
        </p:txBody>
      </p:sp>
      <p:sp>
        <p:nvSpPr>
          <p:cNvPr id="14" name="Text 10"/>
          <p:cNvSpPr txBox="1"/>
          <p:nvPr/>
        </p:nvSpPr>
        <p:spPr>
          <a:xfrm>
            <a:off x="7589520" y="233172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bifurquer ; tester deux plans depuis un même point</a:t>
            </a:r>
            <a:endParaRPr lang="en-US" sz="1400" dirty="0"/>
          </a:p>
        </p:txBody>
      </p:sp>
      <p:sp>
        <p:nvSpPr>
          <p:cNvPr id="15" name="Shape 11"/>
          <p:cNvSpPr/>
          <p:nvPr/>
        </p:nvSpPr>
        <p:spPr>
          <a:xfrm>
            <a:off x="3017520" y="3886200"/>
            <a:ext cx="4160520" cy="2011680"/>
          </a:xfrm>
          <a:prstGeom prst="roundRect">
            <a:avLst>
              <a:gd name="adj" fmla="val 5455"/>
            </a:avLst>
          </a:prstGeom>
          <a:solidFill>
            <a:srgbClr val="13263B"/>
          </a:solidFill>
          <a:ln w="12700">
            <a:solidFill>
              <a:srgbClr val="13263B"/>
            </a:solidFill>
            <a:prstDash val="solid"/>
          </a:ln>
        </p:spPr>
      </p:sp>
      <p:sp>
        <p:nvSpPr>
          <p:cNvPr id="16" name="Text 12"/>
          <p:cNvSpPr txBox="1"/>
          <p:nvPr/>
        </p:nvSpPr>
        <p:spPr>
          <a:xfrm>
            <a:off x="3246120" y="4050792"/>
            <a:ext cx="374904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Heartbeats</a:t>
            </a:r>
            <a:endParaRPr lang="en-US" sz="1700" dirty="0"/>
          </a:p>
        </p:txBody>
      </p:sp>
      <p:sp>
        <p:nvSpPr>
          <p:cNvPr id="17" name="Text 13"/>
          <p:cNvSpPr txBox="1"/>
          <p:nvPr/>
        </p:nvSpPr>
        <p:spPr>
          <a:xfrm>
            <a:off x="3246120" y="457200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des messages planifiés dans la session — surveiller un sous-agent</a:t>
            </a:r>
            <a:endParaRPr lang="en-US" sz="1400" dirty="0"/>
          </a:p>
        </p:txBody>
      </p:sp>
      <p:sp>
        <p:nvSpPr>
          <p:cNvPr id="18" name="Shape 14"/>
          <p:cNvSpPr/>
          <p:nvPr/>
        </p:nvSpPr>
        <p:spPr>
          <a:xfrm>
            <a:off x="7360920" y="3886200"/>
            <a:ext cx="4160520" cy="2011680"/>
          </a:xfrm>
          <a:prstGeom prst="roundRect">
            <a:avLst>
              <a:gd name="adj" fmla="val 5455"/>
            </a:avLst>
          </a:prstGeom>
          <a:solidFill>
            <a:srgbClr val="13263B"/>
          </a:solidFill>
          <a:ln w="12700">
            <a:solidFill>
              <a:srgbClr val="13263B"/>
            </a:solidFill>
            <a:prstDash val="solid"/>
          </a:ln>
        </p:spPr>
      </p:sp>
      <p:sp>
        <p:nvSpPr>
          <p:cNvPr id="19" name="Text 15"/>
          <p:cNvSpPr txBox="1"/>
          <p:nvPr/>
        </p:nvSpPr>
        <p:spPr>
          <a:xfrm>
            <a:off x="7589520" y="4050792"/>
            <a:ext cx="374904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Sous-agents persistants</a:t>
            </a:r>
            <a:endParaRPr lang="en-US" sz="1700" dirty="0"/>
          </a:p>
        </p:txBody>
      </p:sp>
      <p:sp>
        <p:nvSpPr>
          <p:cNvPr id="20" name="Text 16"/>
          <p:cNvSpPr txBox="1"/>
          <p:nvPr/>
        </p:nvSpPr>
        <p:spPr>
          <a:xfrm>
            <a:off x="7589520" y="4572000"/>
            <a:ext cx="370332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gardent leur mémoire ; se réveillent à l'appel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15</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AGENT-ONE</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Des règles appliquées dans le code, sur tout modèle</a:t>
            </a:r>
            <a:endParaRPr lang="en-US" sz="3400" dirty="0"/>
          </a:p>
        </p:txBody>
      </p:sp>
      <p:pic>
        <p:nvPicPr>
          <p:cNvPr id="7" name="Image 0" descr="/home/monta/convention-jura/presentations/src/screens/agent-one-welcome.png">    </p:cNvPr>
          <p:cNvPicPr>
            <a:picLocks noChangeAspect="1"/>
          </p:cNvPicPr>
          <p:nvPr/>
        </p:nvPicPr>
        <p:blipFill>
          <a:blip r:embed="rId1"/>
          <a:stretch>
            <a:fillRect/>
          </a:stretch>
        </p:blipFill>
        <p:spPr>
          <a:xfrm>
            <a:off x="1395399" y="1554480"/>
            <a:ext cx="4890161" cy="2926080"/>
          </a:xfrm>
          <a:prstGeom prst="rect">
            <a:avLst/>
          </a:prstGeom>
        </p:spPr>
      </p:pic>
      <p:sp>
        <p:nvSpPr>
          <p:cNvPr id="8" name="Shape 4"/>
          <p:cNvSpPr/>
          <p:nvPr/>
        </p:nvSpPr>
        <p:spPr>
          <a:xfrm>
            <a:off x="7498080" y="1554480"/>
            <a:ext cx="4114800" cy="1325880"/>
          </a:xfrm>
          <a:prstGeom prst="roundRect">
            <a:avLst>
              <a:gd name="adj" fmla="val 8276"/>
            </a:avLst>
          </a:prstGeom>
          <a:solidFill>
            <a:srgbClr val="13263B"/>
          </a:solidFill>
          <a:ln w="12700">
            <a:solidFill>
              <a:srgbClr val="13263B"/>
            </a:solidFill>
            <a:prstDash val="solid"/>
          </a:ln>
        </p:spPr>
      </p:sp>
      <p:sp>
        <p:nvSpPr>
          <p:cNvPr id="9" name="Text 5"/>
          <p:cNvSpPr txBox="1"/>
          <p:nvPr/>
        </p:nvSpPr>
        <p:spPr>
          <a:xfrm>
            <a:off x="7726680" y="1719072"/>
            <a:ext cx="370332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Un binaire Go</a:t>
            </a:r>
            <a:endParaRPr lang="en-US" sz="1700" dirty="0"/>
          </a:p>
        </p:txBody>
      </p:sp>
      <p:sp>
        <p:nvSpPr>
          <p:cNvPr id="10" name="Text 6"/>
          <p:cNvSpPr txBox="1"/>
          <p:nvPr/>
        </p:nvSpPr>
        <p:spPr>
          <a:xfrm>
            <a:off x="7726680" y="2240280"/>
            <a:ext cx="3657600" cy="5029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sans runtime ; Linux et macOS</a:t>
            </a:r>
            <a:endParaRPr lang="en-US" sz="1300" dirty="0"/>
          </a:p>
        </p:txBody>
      </p:sp>
      <p:sp>
        <p:nvSpPr>
          <p:cNvPr id="11" name="Shape 7"/>
          <p:cNvSpPr/>
          <p:nvPr/>
        </p:nvSpPr>
        <p:spPr>
          <a:xfrm>
            <a:off x="7498080" y="3035808"/>
            <a:ext cx="4114800" cy="1325880"/>
          </a:xfrm>
          <a:prstGeom prst="roundRect">
            <a:avLst>
              <a:gd name="adj" fmla="val 8276"/>
            </a:avLst>
          </a:prstGeom>
          <a:solidFill>
            <a:srgbClr val="13263B"/>
          </a:solidFill>
          <a:ln w="12700">
            <a:solidFill>
              <a:srgbClr val="13263B"/>
            </a:solidFill>
            <a:prstDash val="solid"/>
          </a:ln>
        </p:spPr>
      </p:sp>
      <p:sp>
        <p:nvSpPr>
          <p:cNvPr id="12" name="Text 8"/>
          <p:cNvSpPr txBox="1"/>
          <p:nvPr/>
        </p:nvSpPr>
        <p:spPr>
          <a:xfrm>
            <a:off x="7726680" y="3200400"/>
            <a:ext cx="370332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Rôles et sous-agents</a:t>
            </a:r>
            <a:endParaRPr lang="en-US" sz="1700" dirty="0"/>
          </a:p>
        </p:txBody>
      </p:sp>
      <p:sp>
        <p:nvSpPr>
          <p:cNvPr id="13" name="Text 9"/>
          <p:cNvSpPr txBox="1"/>
          <p:nvPr/>
        </p:nvSpPr>
        <p:spPr>
          <a:xfrm>
            <a:off x="7726680" y="3721608"/>
            <a:ext cx="3657600" cy="5029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analyste lit · juge valide · rédacteur écrit</a:t>
            </a:r>
            <a:endParaRPr lang="en-US" sz="1300" dirty="0"/>
          </a:p>
        </p:txBody>
      </p:sp>
      <p:sp>
        <p:nvSpPr>
          <p:cNvPr id="14" name="Shape 10"/>
          <p:cNvSpPr/>
          <p:nvPr/>
        </p:nvSpPr>
        <p:spPr>
          <a:xfrm>
            <a:off x="7498080" y="4517136"/>
            <a:ext cx="4114800" cy="1325880"/>
          </a:xfrm>
          <a:prstGeom prst="roundRect">
            <a:avLst>
              <a:gd name="adj" fmla="val 8276"/>
            </a:avLst>
          </a:prstGeom>
          <a:solidFill>
            <a:srgbClr val="13263B"/>
          </a:solidFill>
          <a:ln w="12700">
            <a:solidFill>
              <a:srgbClr val="13263B"/>
            </a:solidFill>
            <a:prstDash val="solid"/>
          </a:ln>
        </p:spPr>
      </p:sp>
      <p:sp>
        <p:nvSpPr>
          <p:cNvPr id="15" name="Text 11"/>
          <p:cNvSpPr txBox="1"/>
          <p:nvPr/>
        </p:nvSpPr>
        <p:spPr>
          <a:xfrm>
            <a:off x="7726680" y="4681728"/>
            <a:ext cx="370332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Tout modèle compatible OpenAI</a:t>
            </a:r>
            <a:endParaRPr lang="en-US" sz="1700" dirty="0"/>
          </a:p>
        </p:txBody>
      </p:sp>
      <p:sp>
        <p:nvSpPr>
          <p:cNvPr id="16" name="Text 12"/>
          <p:cNvSpPr txBox="1"/>
          <p:nvPr/>
        </p:nvSpPr>
        <p:spPr>
          <a:xfrm>
            <a:off x="7726680" y="5202936"/>
            <a:ext cx="3657600" cy="5029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nos modèles vLLM derrière la gateway</a:t>
            </a:r>
            <a:endParaRPr lang="en-US" sz="1300" dirty="0"/>
          </a:p>
        </p:txBody>
      </p:sp>
      <p:sp>
        <p:nvSpPr>
          <p:cNvPr id="17" name="Text 13"/>
          <p:cNvSpPr txBox="1"/>
          <p:nvPr/>
        </p:nvSpPr>
        <p:spPr>
          <a:xfrm>
            <a:off x="548640" y="4754880"/>
            <a:ext cx="6766560" cy="12801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8FA3B8"/>
                </a:solidFill>
                <a:latin typeface="Calibri" pitchFamily="34" charset="0"/>
                <a:ea typeface="Calibri" pitchFamily="34" charset="-122"/>
                <a:cs typeface="Calibri" pitchFamily="34" charset="-120"/>
              </a:rPr>
              <a:t>Tout activé par défaut ; toute désactivation est affichée</a:t>
            </a:r>
            <a:endParaRPr lang="en-US" sz="1400" dirty="0"/>
          </a:p>
          <a:p>
            <a:pPr marL="203200" indent="-203200">
              <a:spcAft>
                <a:spcPts val="800"/>
              </a:spcAft>
              <a:buSzPct val="100000"/>
              <a:buChar char="•"/>
            </a:pPr>
            <a:r>
              <a:rPr lang="en-US" sz="1400" dirty="0">
                <a:solidFill>
                  <a:srgbClr val="8FA3B8"/>
                </a:solidFill>
                <a:latin typeface="Calibri" pitchFamily="34" charset="0"/>
                <a:ea typeface="Calibri" pitchFamily="34" charset="-122"/>
                <a:cs typeface="Calibri" pitchFamily="34" charset="-120"/>
              </a:rPr>
              <a:t>Skills, commandes, agents et serveurs MCP de Claude Code et OpenCode repris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16</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AGENT-ONE</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Chaque couche, avec la réponse d'Agent-One</a:t>
            </a:r>
            <a:endParaRPr lang="en-US" sz="3400" dirty="0"/>
          </a:p>
        </p:txBody>
      </p:sp>
      <p:sp>
        <p:nvSpPr>
          <p:cNvPr id="7" name="Shape 4"/>
          <p:cNvSpPr/>
          <p:nvPr/>
        </p:nvSpPr>
        <p:spPr>
          <a:xfrm>
            <a:off x="548640" y="1508760"/>
            <a:ext cx="11064240" cy="576072"/>
          </a:xfrm>
          <a:prstGeom prst="roundRect">
            <a:avLst>
              <a:gd name="adj" fmla="val 15873"/>
            </a:avLst>
          </a:prstGeom>
          <a:solidFill>
            <a:srgbClr val="13263B"/>
          </a:solidFill>
          <a:ln w="19050">
            <a:solidFill>
              <a:srgbClr val="2BA3C7"/>
            </a:solidFill>
            <a:prstDash val="solid"/>
          </a:ln>
        </p:spPr>
      </p:sp>
      <p:sp>
        <p:nvSpPr>
          <p:cNvPr id="8" name="Text 5"/>
          <p:cNvSpPr txBox="1"/>
          <p:nvPr/>
        </p:nvSpPr>
        <p:spPr>
          <a:xfrm>
            <a:off x="731520" y="1508760"/>
            <a:ext cx="2560320" cy="576072"/>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Interfaces</a:t>
            </a:r>
            <a:endParaRPr lang="en-US" sz="1500" dirty="0"/>
          </a:p>
        </p:txBody>
      </p:sp>
      <p:sp>
        <p:nvSpPr>
          <p:cNvPr id="9" name="Text 6"/>
          <p:cNvSpPr txBox="1"/>
          <p:nvPr/>
        </p:nvSpPr>
        <p:spPr>
          <a:xfrm>
            <a:off x="3383280" y="1508760"/>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interface terminal · tableau de bord · board via SSH · run --json pour la CI</a:t>
            </a:r>
            <a:endParaRPr lang="en-US" sz="1400" dirty="0"/>
          </a:p>
        </p:txBody>
      </p:sp>
      <p:sp>
        <p:nvSpPr>
          <p:cNvPr id="10" name="Shape 7"/>
          <p:cNvSpPr/>
          <p:nvPr/>
        </p:nvSpPr>
        <p:spPr>
          <a:xfrm>
            <a:off x="548640" y="2176272"/>
            <a:ext cx="11064240" cy="576072"/>
          </a:xfrm>
          <a:prstGeom prst="roundRect">
            <a:avLst>
              <a:gd name="adj" fmla="val 15873"/>
            </a:avLst>
          </a:prstGeom>
          <a:solidFill>
            <a:srgbClr val="13263B"/>
          </a:solidFill>
          <a:ln w="19050">
            <a:solidFill>
              <a:srgbClr val="8FA3B8"/>
            </a:solidFill>
            <a:prstDash val="solid"/>
          </a:ln>
        </p:spPr>
      </p:sp>
      <p:sp>
        <p:nvSpPr>
          <p:cNvPr id="11" name="Text 8"/>
          <p:cNvSpPr txBox="1"/>
          <p:nvPr/>
        </p:nvSpPr>
        <p:spPr>
          <a:xfrm>
            <a:off x="731520" y="2176272"/>
            <a:ext cx="2560320" cy="576072"/>
          </a:xfrm>
          <a:prstGeom prst="rect">
            <a:avLst/>
          </a:prstGeom>
          <a:noFill/>
          <a:ln/>
        </p:spPr>
        <p:txBody>
          <a:bodyPr wrap="square" lIns="0" tIns="0" rIns="0" bIns="0" rtlCol="0" anchor="ctr"/>
          <a:lstStyle/>
          <a:p>
            <a:pPr indent="0" marL="0">
              <a:buNone/>
            </a:pPr>
            <a:r>
              <a:rPr lang="en-US" sz="1500" b="1" dirty="0">
                <a:solidFill>
                  <a:srgbClr val="8FA3B8"/>
                </a:solidFill>
                <a:latin typeface="Calibri" pitchFamily="34" charset="0"/>
                <a:ea typeface="Calibri" pitchFamily="34" charset="-122"/>
                <a:cs typeface="Calibri" pitchFamily="34" charset="-120"/>
              </a:rPr>
              <a:t>Observabilité</a:t>
            </a:r>
            <a:endParaRPr lang="en-US" sz="1500" dirty="0"/>
          </a:p>
        </p:txBody>
      </p:sp>
      <p:sp>
        <p:nvSpPr>
          <p:cNvPr id="12" name="Text 9"/>
          <p:cNvSpPr txBox="1"/>
          <p:nvPr/>
        </p:nvSpPr>
        <p:spPr>
          <a:xfrm>
            <a:off x="3383280" y="2176272"/>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chaque étape journalisée · usage et coût par rôle et modèle · status, explain</a:t>
            </a:r>
            <a:endParaRPr lang="en-US" sz="1400" dirty="0"/>
          </a:p>
        </p:txBody>
      </p:sp>
      <p:sp>
        <p:nvSpPr>
          <p:cNvPr id="13" name="Shape 10"/>
          <p:cNvSpPr/>
          <p:nvPr/>
        </p:nvSpPr>
        <p:spPr>
          <a:xfrm>
            <a:off x="548640" y="2843784"/>
            <a:ext cx="11064240" cy="576072"/>
          </a:xfrm>
          <a:prstGeom prst="roundRect">
            <a:avLst>
              <a:gd name="adj" fmla="val 15873"/>
            </a:avLst>
          </a:prstGeom>
          <a:solidFill>
            <a:srgbClr val="13263B"/>
          </a:solidFill>
          <a:ln w="19050">
            <a:solidFill>
              <a:srgbClr val="E0645A"/>
            </a:solidFill>
            <a:prstDash val="solid"/>
          </a:ln>
        </p:spPr>
      </p:sp>
      <p:sp>
        <p:nvSpPr>
          <p:cNvPr id="14" name="Text 11"/>
          <p:cNvSpPr txBox="1"/>
          <p:nvPr/>
        </p:nvSpPr>
        <p:spPr>
          <a:xfrm>
            <a:off x="731520" y="2843784"/>
            <a:ext cx="2560320" cy="576072"/>
          </a:xfrm>
          <a:prstGeom prst="rect">
            <a:avLst/>
          </a:prstGeom>
          <a:noFill/>
          <a:ln/>
        </p:spPr>
        <p:txBody>
          <a:bodyPr wrap="square" lIns="0" tIns="0" rIns="0" bIns="0" rtlCol="0" anchor="ctr"/>
          <a:lstStyle/>
          <a:p>
            <a:pPr indent="0" marL="0">
              <a:buNone/>
            </a:pPr>
            <a:r>
              <a:rPr lang="en-US" sz="1500" b="1" dirty="0">
                <a:solidFill>
                  <a:srgbClr val="E0645A"/>
                </a:solidFill>
                <a:latin typeface="Calibri" pitchFamily="34" charset="0"/>
                <a:ea typeface="Calibri" pitchFamily="34" charset="-122"/>
                <a:cs typeface="Calibri" pitchFamily="34" charset="-120"/>
              </a:rPr>
              <a:t>Sécurité</a:t>
            </a:r>
            <a:endParaRPr lang="en-US" sz="1500" dirty="0"/>
          </a:p>
        </p:txBody>
      </p:sp>
      <p:sp>
        <p:nvSpPr>
          <p:cNvPr id="15" name="Text 12"/>
          <p:cNvSpPr txBox="1"/>
          <p:nvPr/>
        </p:nvSpPr>
        <p:spPr>
          <a:xfrm>
            <a:off x="3383280" y="2843784"/>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garde-fou · approbation humaine · validation · sandbox ou conteneur</a:t>
            </a:r>
            <a:endParaRPr lang="en-US" sz="1400" dirty="0"/>
          </a:p>
        </p:txBody>
      </p:sp>
      <p:sp>
        <p:nvSpPr>
          <p:cNvPr id="16" name="Shape 13"/>
          <p:cNvSpPr/>
          <p:nvPr/>
        </p:nvSpPr>
        <p:spPr>
          <a:xfrm>
            <a:off x="548640" y="3511296"/>
            <a:ext cx="11064240" cy="576072"/>
          </a:xfrm>
          <a:prstGeom prst="roundRect">
            <a:avLst>
              <a:gd name="adj" fmla="val 15873"/>
            </a:avLst>
          </a:prstGeom>
          <a:solidFill>
            <a:srgbClr val="13263B"/>
          </a:solidFill>
          <a:ln w="19050">
            <a:solidFill>
              <a:srgbClr val="D4AF37"/>
            </a:solidFill>
            <a:prstDash val="solid"/>
          </a:ln>
        </p:spPr>
      </p:sp>
      <p:sp>
        <p:nvSpPr>
          <p:cNvPr id="17" name="Text 14"/>
          <p:cNvSpPr txBox="1"/>
          <p:nvPr/>
        </p:nvSpPr>
        <p:spPr>
          <a:xfrm>
            <a:off x="731520" y="3511296"/>
            <a:ext cx="2560320" cy="576072"/>
          </a:xfrm>
          <a:prstGeom prst="rect">
            <a:avLst/>
          </a:prstGeom>
          <a:noFill/>
          <a:ln/>
        </p:spPr>
        <p:txBody>
          <a:bodyPr wrap="square" lIns="0" tIns="0" rIns="0" bIns="0" rtlCol="0" anchor="ctr"/>
          <a:lstStyle/>
          <a:p>
            <a:pPr indent="0" marL="0">
              <a:buNone/>
            </a:pPr>
            <a:r>
              <a:rPr lang="en-US" sz="1500" b="1" dirty="0">
                <a:solidFill>
                  <a:srgbClr val="D4AF37"/>
                </a:solidFill>
                <a:latin typeface="Calibri" pitchFamily="34" charset="0"/>
                <a:ea typeface="Calibri" pitchFamily="34" charset="-122"/>
                <a:cs typeface="Calibri" pitchFamily="34" charset="-120"/>
              </a:rPr>
              <a:t>Contexte &amp; mémoire</a:t>
            </a:r>
            <a:endParaRPr lang="en-US" sz="1500" dirty="0"/>
          </a:p>
        </p:txBody>
      </p:sp>
      <p:sp>
        <p:nvSpPr>
          <p:cNvPr id="18" name="Text 15"/>
          <p:cNvSpPr txBox="1"/>
          <p:nvPr/>
        </p:nvSpPr>
        <p:spPr>
          <a:xfrm>
            <a:off x="3383280" y="3511296"/>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notes, index, rappel · contexte vidé par référence · passation</a:t>
            </a:r>
            <a:endParaRPr lang="en-US" sz="1400" dirty="0"/>
          </a:p>
        </p:txBody>
      </p:sp>
      <p:sp>
        <p:nvSpPr>
          <p:cNvPr id="19" name="Shape 16"/>
          <p:cNvSpPr/>
          <p:nvPr/>
        </p:nvSpPr>
        <p:spPr>
          <a:xfrm>
            <a:off x="548640" y="4178808"/>
            <a:ext cx="11064240" cy="576072"/>
          </a:xfrm>
          <a:prstGeom prst="roundRect">
            <a:avLst>
              <a:gd name="adj" fmla="val 15873"/>
            </a:avLst>
          </a:prstGeom>
          <a:solidFill>
            <a:srgbClr val="13263B"/>
          </a:solidFill>
          <a:ln w="19050">
            <a:solidFill>
              <a:srgbClr val="5FBF7A"/>
            </a:solidFill>
            <a:prstDash val="solid"/>
          </a:ln>
        </p:spPr>
      </p:sp>
      <p:sp>
        <p:nvSpPr>
          <p:cNvPr id="20" name="Text 17"/>
          <p:cNvSpPr txBox="1"/>
          <p:nvPr/>
        </p:nvSpPr>
        <p:spPr>
          <a:xfrm>
            <a:off x="731520" y="4178808"/>
            <a:ext cx="2560320" cy="576072"/>
          </a:xfrm>
          <a:prstGeom prst="rect">
            <a:avLst/>
          </a:prstGeom>
          <a:noFill/>
          <a:ln/>
        </p:spPr>
        <p:txBody>
          <a:bodyPr wrap="square" lIns="0" tIns="0" rIns="0" bIns="0" rtlCol="0" anchor="ctr"/>
          <a:lstStyle/>
          <a:p>
            <a:pPr indent="0" marL="0">
              <a:buNone/>
            </a:pPr>
            <a:r>
              <a:rPr lang="en-US" sz="1500" b="1" dirty="0">
                <a:solidFill>
                  <a:srgbClr val="5FBF7A"/>
                </a:solidFill>
                <a:latin typeface="Calibri" pitchFamily="34" charset="0"/>
                <a:ea typeface="Calibri" pitchFamily="34" charset="-122"/>
                <a:cs typeface="Calibri" pitchFamily="34" charset="-120"/>
              </a:rPr>
              <a:t>Outils &amp; MCP</a:t>
            </a:r>
            <a:endParaRPr lang="en-US" sz="1500" dirty="0"/>
          </a:p>
        </p:txBody>
      </p:sp>
      <p:sp>
        <p:nvSpPr>
          <p:cNvPr id="21" name="Text 18"/>
          <p:cNvSpPr txBox="1"/>
          <p:nvPr/>
        </p:nvSpPr>
        <p:spPr>
          <a:xfrm>
            <a:off x="3383280" y="4178808"/>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intégrés · MCP · outils personnalisés · registre d'outils interrogeable</a:t>
            </a:r>
            <a:endParaRPr lang="en-US" sz="1400" dirty="0"/>
          </a:p>
        </p:txBody>
      </p:sp>
      <p:sp>
        <p:nvSpPr>
          <p:cNvPr id="22" name="Shape 19"/>
          <p:cNvSpPr/>
          <p:nvPr/>
        </p:nvSpPr>
        <p:spPr>
          <a:xfrm>
            <a:off x="548640" y="4846320"/>
            <a:ext cx="11064240" cy="576072"/>
          </a:xfrm>
          <a:prstGeom prst="roundRect">
            <a:avLst>
              <a:gd name="adj" fmla="val 15873"/>
            </a:avLst>
          </a:prstGeom>
          <a:solidFill>
            <a:srgbClr val="13263B"/>
          </a:solidFill>
          <a:ln w="19050">
            <a:solidFill>
              <a:srgbClr val="8E72E6"/>
            </a:solidFill>
            <a:prstDash val="solid"/>
          </a:ln>
        </p:spPr>
      </p:sp>
      <p:sp>
        <p:nvSpPr>
          <p:cNvPr id="23" name="Text 20"/>
          <p:cNvSpPr txBox="1"/>
          <p:nvPr/>
        </p:nvSpPr>
        <p:spPr>
          <a:xfrm>
            <a:off x="731520" y="4846320"/>
            <a:ext cx="2560320" cy="576072"/>
          </a:xfrm>
          <a:prstGeom prst="rect">
            <a:avLst/>
          </a:prstGeom>
          <a:noFill/>
          <a:ln/>
        </p:spPr>
        <p:txBody>
          <a:bodyPr wrap="square" lIns="0" tIns="0" rIns="0" bIns="0" rtlCol="0" anchor="ctr"/>
          <a:lstStyle/>
          <a:p>
            <a:pPr indent="0" marL="0">
              <a:buNone/>
            </a:pPr>
            <a:r>
              <a:rPr lang="en-US" sz="1500" b="1" dirty="0">
                <a:solidFill>
                  <a:srgbClr val="8E72E6"/>
                </a:solidFill>
                <a:latin typeface="Calibri" pitchFamily="34" charset="0"/>
                <a:ea typeface="Calibri" pitchFamily="34" charset="-122"/>
                <a:cs typeface="Calibri" pitchFamily="34" charset="-120"/>
              </a:rPr>
              <a:t>Boucle d'agent</a:t>
            </a:r>
            <a:endParaRPr lang="en-US" sz="1500" dirty="0"/>
          </a:p>
        </p:txBody>
      </p:sp>
      <p:sp>
        <p:nvSpPr>
          <p:cNvPr id="24" name="Text 21"/>
          <p:cNvSpPr txBox="1"/>
          <p:nvPr/>
        </p:nvSpPr>
        <p:spPr>
          <a:xfrm>
            <a:off x="3383280" y="4846320"/>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percevoir → rappeler → planifier → agir → vérifier → consigner · sous-agents</a:t>
            </a:r>
            <a:endParaRPr lang="en-US" sz="1400" dirty="0"/>
          </a:p>
        </p:txBody>
      </p:sp>
      <p:sp>
        <p:nvSpPr>
          <p:cNvPr id="25" name="Shape 22"/>
          <p:cNvSpPr/>
          <p:nvPr/>
        </p:nvSpPr>
        <p:spPr>
          <a:xfrm>
            <a:off x="548640" y="5513832"/>
            <a:ext cx="11064240" cy="576072"/>
          </a:xfrm>
          <a:prstGeom prst="roundRect">
            <a:avLst>
              <a:gd name="adj" fmla="val 15873"/>
            </a:avLst>
          </a:prstGeom>
          <a:solidFill>
            <a:srgbClr val="13263B"/>
          </a:solidFill>
          <a:ln w="19050">
            <a:solidFill>
              <a:srgbClr val="2BA3C7"/>
            </a:solidFill>
            <a:prstDash val="solid"/>
          </a:ln>
        </p:spPr>
      </p:sp>
      <p:sp>
        <p:nvSpPr>
          <p:cNvPr id="26" name="Text 23"/>
          <p:cNvSpPr txBox="1"/>
          <p:nvPr/>
        </p:nvSpPr>
        <p:spPr>
          <a:xfrm>
            <a:off x="731520" y="5513832"/>
            <a:ext cx="2560320" cy="576072"/>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Modèles</a:t>
            </a:r>
            <a:endParaRPr lang="en-US" sz="1500" dirty="0"/>
          </a:p>
        </p:txBody>
      </p:sp>
      <p:sp>
        <p:nvSpPr>
          <p:cNvPr id="27" name="Text 24"/>
          <p:cNvSpPr txBox="1"/>
          <p:nvPr/>
        </p:nvSpPr>
        <p:spPr>
          <a:xfrm>
            <a:off x="3383280" y="5513832"/>
            <a:ext cx="8138160" cy="576072"/>
          </a:xfrm>
          <a:prstGeom prst="rect">
            <a:avLst/>
          </a:prstGeom>
          <a:noFill/>
          <a:ln/>
        </p:spPr>
        <p:txBody>
          <a:bodyPr wrap="square" lIns="0" tIns="0" rIns="0" bIns="0" rtlCol="0" anchor="ctr"/>
          <a:lstStyle/>
          <a:p>
            <a:pPr indent="0" marL="0">
              <a:buNone/>
            </a:pPr>
            <a:r>
              <a:rPr lang="en-US" sz="1400" dirty="0">
                <a:solidFill>
                  <a:srgbClr val="EEF3F9"/>
                </a:solidFill>
                <a:latin typeface="Calibri" pitchFamily="34" charset="0"/>
                <a:ea typeface="Calibri" pitchFamily="34" charset="-122"/>
                <a:cs typeface="Calibri" pitchFamily="34" charset="-120"/>
              </a:rPr>
              <a:t>la gateway · registry.yaml · rôles avec repli</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17</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GARDE-FOUS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Quatre couches, toutes dans le code</a:t>
            </a:r>
            <a:endParaRPr lang="en-US" sz="3400" dirty="0"/>
          </a:p>
        </p:txBody>
      </p:sp>
      <p:sp>
        <p:nvSpPr>
          <p:cNvPr id="7" name="Shape 4"/>
          <p:cNvSpPr/>
          <p:nvPr/>
        </p:nvSpPr>
        <p:spPr>
          <a:xfrm>
            <a:off x="548640" y="1554480"/>
            <a:ext cx="5120640" cy="960120"/>
          </a:xfrm>
          <a:prstGeom prst="roundRect">
            <a:avLst>
              <a:gd name="adj" fmla="val 11429"/>
            </a:avLst>
          </a:prstGeom>
          <a:solidFill>
            <a:srgbClr val="13263B"/>
          </a:solidFill>
          <a:ln w="12700">
            <a:solidFill>
              <a:srgbClr val="13263B"/>
            </a:solidFill>
            <a:prstDash val="solid"/>
          </a:ln>
        </p:spPr>
      </p:sp>
      <p:sp>
        <p:nvSpPr>
          <p:cNvPr id="8" name="Shape 5"/>
          <p:cNvSpPr/>
          <p:nvPr/>
        </p:nvSpPr>
        <p:spPr>
          <a:xfrm>
            <a:off x="731520" y="1737360"/>
            <a:ext cx="411480" cy="411480"/>
          </a:xfrm>
          <a:prstGeom prst="ellipse">
            <a:avLst/>
          </a:prstGeom>
          <a:solidFill>
            <a:srgbClr val="E0645A"/>
          </a:solidFill>
          <a:ln w="12700">
            <a:solidFill>
              <a:srgbClr val="E0645A"/>
            </a:solidFill>
            <a:prstDash val="solid"/>
          </a:ln>
        </p:spPr>
      </p:sp>
      <p:sp>
        <p:nvSpPr>
          <p:cNvPr id="9" name="Text 6"/>
          <p:cNvSpPr txBox="1"/>
          <p:nvPr/>
        </p:nvSpPr>
        <p:spPr>
          <a:xfrm>
            <a:off x="731520" y="173736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1719072"/>
            <a:ext cx="4206240" cy="457200"/>
          </a:xfrm>
          <a:prstGeom prst="rect">
            <a:avLst/>
          </a:prstGeom>
          <a:noFill/>
          <a:ln/>
        </p:spPr>
        <p:txBody>
          <a:bodyPr wrap="square" lIns="0" tIns="0" rIns="0" bIns="0" rtlCol="0" anchor="ctr"/>
          <a:lstStyle/>
          <a:p>
            <a:pPr indent="0" marL="0">
              <a:buNone/>
            </a:pPr>
            <a:r>
              <a:rPr lang="en-US" sz="1600" b="1" dirty="0">
                <a:solidFill>
                  <a:srgbClr val="E0645A"/>
                </a:solidFill>
                <a:latin typeface="Calibri" pitchFamily="34" charset="0"/>
                <a:ea typeface="Calibri" pitchFamily="34" charset="-122"/>
                <a:cs typeface="Calibri" pitchFamily="34" charset="-120"/>
              </a:rPr>
              <a:t>Guard</a:t>
            </a:r>
            <a:endParaRPr lang="en-US" sz="1600" dirty="0"/>
          </a:p>
        </p:txBody>
      </p:sp>
      <p:sp>
        <p:nvSpPr>
          <p:cNvPr id="11" name="Text 8"/>
          <p:cNvSpPr txBox="1"/>
          <p:nvPr/>
        </p:nvSpPr>
        <p:spPr>
          <a:xfrm>
            <a:off x="777240" y="2240280"/>
            <a:ext cx="4663440" cy="13716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le catastrophique, refusé avant toute approbation</a:t>
            </a:r>
            <a:endParaRPr lang="en-US" sz="1300" dirty="0"/>
          </a:p>
        </p:txBody>
      </p:sp>
      <p:sp>
        <p:nvSpPr>
          <p:cNvPr id="12" name="Shape 9"/>
          <p:cNvSpPr/>
          <p:nvPr/>
        </p:nvSpPr>
        <p:spPr>
          <a:xfrm>
            <a:off x="548640" y="2633472"/>
            <a:ext cx="5120640" cy="960120"/>
          </a:xfrm>
          <a:prstGeom prst="roundRect">
            <a:avLst>
              <a:gd name="adj" fmla="val 11429"/>
            </a:avLst>
          </a:prstGeom>
          <a:solidFill>
            <a:srgbClr val="13263B"/>
          </a:solidFill>
          <a:ln w="12700">
            <a:solidFill>
              <a:srgbClr val="13263B"/>
            </a:solidFill>
            <a:prstDash val="solid"/>
          </a:ln>
        </p:spPr>
      </p:sp>
      <p:sp>
        <p:nvSpPr>
          <p:cNvPr id="13" name="Shape 10"/>
          <p:cNvSpPr/>
          <p:nvPr/>
        </p:nvSpPr>
        <p:spPr>
          <a:xfrm>
            <a:off x="731520" y="2816352"/>
            <a:ext cx="411480" cy="411480"/>
          </a:xfrm>
          <a:prstGeom prst="ellipse">
            <a:avLst/>
          </a:prstGeom>
          <a:solidFill>
            <a:srgbClr val="D4AF37"/>
          </a:solidFill>
          <a:ln w="12700">
            <a:solidFill>
              <a:srgbClr val="D4AF37"/>
            </a:solidFill>
            <a:prstDash val="solid"/>
          </a:ln>
        </p:spPr>
      </p:sp>
      <p:sp>
        <p:nvSpPr>
          <p:cNvPr id="14" name="Text 11"/>
          <p:cNvSpPr txBox="1"/>
          <p:nvPr/>
        </p:nvSpPr>
        <p:spPr>
          <a:xfrm>
            <a:off x="731520" y="2816352"/>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1280160" y="2798064"/>
            <a:ext cx="4206240" cy="457200"/>
          </a:xfrm>
          <a:prstGeom prst="rect">
            <a:avLst/>
          </a:prstGeom>
          <a:noFill/>
          <a:ln/>
        </p:spPr>
        <p:txBody>
          <a:bodyPr wrap="square" lIns="0" tIns="0" rIns="0" bIns="0" rtlCol="0" anchor="ctr"/>
          <a:lstStyle/>
          <a:p>
            <a:pPr indent="0" marL="0">
              <a:buNone/>
            </a:pPr>
            <a:r>
              <a:rPr lang="en-US" sz="1600" b="1" dirty="0">
                <a:solidFill>
                  <a:srgbClr val="D4AF37"/>
                </a:solidFill>
                <a:latin typeface="Calibri" pitchFamily="34" charset="0"/>
                <a:ea typeface="Calibri" pitchFamily="34" charset="-122"/>
                <a:cs typeface="Calibri" pitchFamily="34" charset="-120"/>
              </a:rPr>
              <a:t>Approbation humaine</a:t>
            </a:r>
            <a:endParaRPr lang="en-US" sz="1600" dirty="0"/>
          </a:p>
        </p:txBody>
      </p:sp>
      <p:sp>
        <p:nvSpPr>
          <p:cNvPr id="16" name="Text 13"/>
          <p:cNvSpPr txBox="1"/>
          <p:nvPr/>
        </p:nvSpPr>
        <p:spPr>
          <a:xfrm>
            <a:off x="777240" y="3319272"/>
            <a:ext cx="4663440" cy="13716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lecture · écriture · sortante · destructrice</a:t>
            </a:r>
            <a:endParaRPr lang="en-US" sz="1300" dirty="0"/>
          </a:p>
        </p:txBody>
      </p:sp>
      <p:sp>
        <p:nvSpPr>
          <p:cNvPr id="17" name="Shape 14"/>
          <p:cNvSpPr/>
          <p:nvPr/>
        </p:nvSpPr>
        <p:spPr>
          <a:xfrm>
            <a:off x="548640" y="3712464"/>
            <a:ext cx="5120640" cy="960120"/>
          </a:xfrm>
          <a:prstGeom prst="roundRect">
            <a:avLst>
              <a:gd name="adj" fmla="val 11429"/>
            </a:avLst>
          </a:prstGeom>
          <a:solidFill>
            <a:srgbClr val="13263B"/>
          </a:solidFill>
          <a:ln w="12700">
            <a:solidFill>
              <a:srgbClr val="13263B"/>
            </a:solidFill>
            <a:prstDash val="solid"/>
          </a:ln>
        </p:spPr>
      </p:sp>
      <p:sp>
        <p:nvSpPr>
          <p:cNvPr id="18" name="Shape 15"/>
          <p:cNvSpPr/>
          <p:nvPr/>
        </p:nvSpPr>
        <p:spPr>
          <a:xfrm>
            <a:off x="731520" y="3895344"/>
            <a:ext cx="411480" cy="411480"/>
          </a:xfrm>
          <a:prstGeom prst="ellipse">
            <a:avLst/>
          </a:prstGeom>
          <a:solidFill>
            <a:srgbClr val="8E72E6"/>
          </a:solidFill>
          <a:ln w="12700">
            <a:solidFill>
              <a:srgbClr val="8E72E6"/>
            </a:solidFill>
            <a:prstDash val="solid"/>
          </a:ln>
        </p:spPr>
      </p:sp>
      <p:sp>
        <p:nvSpPr>
          <p:cNvPr id="19" name="Text 16"/>
          <p:cNvSpPr txBox="1"/>
          <p:nvPr/>
        </p:nvSpPr>
        <p:spPr>
          <a:xfrm>
            <a:off x="731520" y="3895344"/>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0" name="Text 17"/>
          <p:cNvSpPr txBox="1"/>
          <p:nvPr/>
        </p:nvSpPr>
        <p:spPr>
          <a:xfrm>
            <a:off x="1280160" y="3877056"/>
            <a:ext cx="4206240" cy="457200"/>
          </a:xfrm>
          <a:prstGeom prst="rect">
            <a:avLst/>
          </a:prstGeom>
          <a:noFill/>
          <a:ln/>
        </p:spPr>
        <p:txBody>
          <a:bodyPr wrap="square" lIns="0" tIns="0" rIns="0" bIns="0" rtlCol="0" anchor="ctr"/>
          <a:lstStyle/>
          <a:p>
            <a:pPr indent="0" marL="0">
              <a:buNone/>
            </a:pPr>
            <a:r>
              <a:rPr lang="en-US" sz="1600" b="1" dirty="0">
                <a:solidFill>
                  <a:srgbClr val="8E72E6"/>
                </a:solidFill>
                <a:latin typeface="Calibri" pitchFamily="34" charset="0"/>
                <a:ea typeface="Calibri" pitchFamily="34" charset="-122"/>
                <a:cs typeface="Calibri" pitchFamily="34" charset="-120"/>
              </a:rPr>
              <a:t>Validation</a:t>
            </a:r>
            <a:endParaRPr lang="en-US" sz="1600" dirty="0"/>
          </a:p>
        </p:txBody>
      </p:sp>
      <p:sp>
        <p:nvSpPr>
          <p:cNvPr id="21" name="Text 18"/>
          <p:cNvSpPr txBox="1"/>
          <p:nvPr/>
        </p:nvSpPr>
        <p:spPr>
          <a:xfrm>
            <a:off x="777240" y="4398264"/>
            <a:ext cx="4663440" cy="13716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propriétaire, contrôles, tests intacts, doc — un nouvel essai</a:t>
            </a:r>
            <a:endParaRPr lang="en-US" sz="1300" dirty="0"/>
          </a:p>
        </p:txBody>
      </p:sp>
      <p:sp>
        <p:nvSpPr>
          <p:cNvPr id="22" name="Shape 19"/>
          <p:cNvSpPr/>
          <p:nvPr/>
        </p:nvSpPr>
        <p:spPr>
          <a:xfrm>
            <a:off x="548640" y="4791456"/>
            <a:ext cx="5120640" cy="960120"/>
          </a:xfrm>
          <a:prstGeom prst="roundRect">
            <a:avLst>
              <a:gd name="adj" fmla="val 11429"/>
            </a:avLst>
          </a:prstGeom>
          <a:solidFill>
            <a:srgbClr val="13263B"/>
          </a:solidFill>
          <a:ln w="12700">
            <a:solidFill>
              <a:srgbClr val="13263B"/>
            </a:solidFill>
            <a:prstDash val="solid"/>
          </a:ln>
        </p:spPr>
      </p:sp>
      <p:sp>
        <p:nvSpPr>
          <p:cNvPr id="23" name="Shape 20"/>
          <p:cNvSpPr/>
          <p:nvPr/>
        </p:nvSpPr>
        <p:spPr>
          <a:xfrm>
            <a:off x="731520" y="4974336"/>
            <a:ext cx="411480" cy="411480"/>
          </a:xfrm>
          <a:prstGeom prst="ellipse">
            <a:avLst/>
          </a:prstGeom>
          <a:solidFill>
            <a:srgbClr val="2BA3C7"/>
          </a:solidFill>
          <a:ln w="12700">
            <a:solidFill>
              <a:srgbClr val="2BA3C7"/>
            </a:solidFill>
            <a:prstDash val="solid"/>
          </a:ln>
        </p:spPr>
      </p:sp>
      <p:sp>
        <p:nvSpPr>
          <p:cNvPr id="24" name="Text 21"/>
          <p:cNvSpPr txBox="1"/>
          <p:nvPr/>
        </p:nvSpPr>
        <p:spPr>
          <a:xfrm>
            <a:off x="731520" y="4974336"/>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25" name="Text 22"/>
          <p:cNvSpPr txBox="1"/>
          <p:nvPr/>
        </p:nvSpPr>
        <p:spPr>
          <a:xfrm>
            <a:off x="1280160" y="4956048"/>
            <a:ext cx="4206240" cy="457200"/>
          </a:xfrm>
          <a:prstGeom prst="rect">
            <a:avLst/>
          </a:prstGeom>
          <a:noFill/>
          <a:ln/>
        </p:spPr>
        <p:txBody>
          <a:bodyPr wrap="square" lIns="0" tIns="0" rIns="0" bIns="0" rtlCol="0" anchor="ctr"/>
          <a:lstStyle/>
          <a:p>
            <a:pPr indent="0" marL="0">
              <a:buNone/>
            </a:pPr>
            <a:r>
              <a:rPr lang="en-US" sz="1600" b="1" dirty="0">
                <a:solidFill>
                  <a:srgbClr val="2BA3C7"/>
                </a:solidFill>
                <a:latin typeface="Calibri" pitchFamily="34" charset="0"/>
                <a:ea typeface="Calibri" pitchFamily="34" charset="-122"/>
                <a:cs typeface="Calibri" pitchFamily="34" charset="-120"/>
              </a:rPr>
              <a:t>Sandbox / conteneur</a:t>
            </a:r>
            <a:endParaRPr lang="en-US" sz="1600" dirty="0"/>
          </a:p>
        </p:txBody>
      </p:sp>
      <p:sp>
        <p:nvSpPr>
          <p:cNvPr id="26" name="Text 23"/>
          <p:cNvSpPr txBox="1"/>
          <p:nvPr/>
        </p:nvSpPr>
        <p:spPr>
          <a:xfrm>
            <a:off x="777240" y="5477256"/>
            <a:ext cx="4663440" cy="13716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processus et identifiants de l'hôte masqués · Seatbelt sur macOS · --docker-agent</a:t>
            </a:r>
            <a:endParaRPr lang="en-US" sz="1300" dirty="0"/>
          </a:p>
        </p:txBody>
      </p:sp>
      <p:pic>
        <p:nvPicPr>
          <p:cNvPr id="27" name="Image 0" descr="/home/monta/convention-jura/presentations/src/screens/agent-one-gating.png">    </p:cNvPr>
          <p:cNvPicPr>
            <a:picLocks noChangeAspect="1"/>
          </p:cNvPicPr>
          <p:nvPr/>
        </p:nvPicPr>
        <p:blipFill>
          <a:blip r:embed="rId1"/>
          <a:stretch>
            <a:fillRect/>
          </a:stretch>
        </p:blipFill>
        <p:spPr>
          <a:xfrm>
            <a:off x="7250065" y="1554480"/>
            <a:ext cx="3056351" cy="1828800"/>
          </a:xfrm>
          <a:prstGeom prst="rect">
            <a:avLst/>
          </a:prstGeom>
        </p:spPr>
      </p:pic>
      <p:sp>
        <p:nvSpPr>
          <p:cNvPr id="28" name="Text 24"/>
          <p:cNvSpPr txBox="1"/>
          <p:nvPr/>
        </p:nvSpPr>
        <p:spPr>
          <a:xfrm>
            <a:off x="6035040" y="3749040"/>
            <a:ext cx="2743200" cy="822960"/>
          </a:xfrm>
          <a:prstGeom prst="rect">
            <a:avLst/>
          </a:prstGeom>
          <a:noFill/>
          <a:ln/>
        </p:spPr>
        <p:txBody>
          <a:bodyPr wrap="square" lIns="0" tIns="0" rIns="0" bIns="0" rtlCol="0" anchor="ctr"/>
          <a:lstStyle/>
          <a:p>
            <a:pPr indent="0" marL="0">
              <a:buNone/>
            </a:pPr>
            <a:r>
              <a:rPr lang="en-US" sz="4400" b="1" dirty="0">
                <a:solidFill>
                  <a:srgbClr val="E0645A"/>
                </a:solidFill>
                <a:latin typeface="Cambria" pitchFamily="34" charset="0"/>
                <a:ea typeface="Cambria" pitchFamily="34" charset="-122"/>
                <a:cs typeface="Cambria" pitchFamily="34" charset="-120"/>
              </a:rPr>
              <a:t>37 / 90</a:t>
            </a:r>
            <a:endParaRPr lang="en-US" sz="4400" dirty="0"/>
          </a:p>
        </p:txBody>
      </p:sp>
      <p:sp>
        <p:nvSpPr>
          <p:cNvPr id="29" name="Text 25"/>
          <p:cNvSpPr txBox="1"/>
          <p:nvPr/>
        </p:nvSpPr>
        <p:spPr>
          <a:xfrm>
            <a:off x="8686800" y="3749040"/>
            <a:ext cx="2926080" cy="1371600"/>
          </a:xfrm>
          <a:prstGeom prst="rect">
            <a:avLst/>
          </a:prstGeom>
          <a:noFill/>
          <a:ln/>
        </p:spPr>
        <p:txBody>
          <a:bodyPr wrap="square" lIns="0" tIns="0" rIns="0" bIns="0" rtlCol="0" anchor="ctr"/>
          <a:lstStyle/>
          <a:p>
            <a:pPr indent="0" marL="0">
              <a:buNone/>
            </a:pPr>
            <a:r>
              <a:rPr lang="en-US" sz="1300" dirty="0">
                <a:solidFill>
                  <a:srgbClr val="EEF3F9"/>
                </a:solidFill>
                <a:latin typeface="Calibri" pitchFamily="34" charset="0"/>
                <a:ea typeface="Calibri" pitchFamily="34" charset="-122"/>
                <a:cs typeface="Calibri" pitchFamily="34" charset="-120"/>
              </a:rPr>
              <a:t>commandes dangereuses que notre premier classifieur laissait passer — trouvées par 151 cas de test, corrigées et testées pour de bon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18</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APERÇUS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Voir ce qu'il va faire — et ce qu'il fait</a:t>
            </a:r>
            <a:endParaRPr lang="en-US" sz="3400" dirty="0"/>
          </a:p>
        </p:txBody>
      </p:sp>
      <p:pic>
        <p:nvPicPr>
          <p:cNvPr id="7" name="Image 0" descr="/home/monta/convention-jura/presentations/src/screens/agent-one-tools.png">    </p:cNvPr>
          <p:cNvPicPr>
            <a:picLocks noChangeAspect="1"/>
          </p:cNvPicPr>
          <p:nvPr/>
        </p:nvPicPr>
        <p:blipFill>
          <a:blip r:embed="rId1"/>
          <a:stretch>
            <a:fillRect/>
          </a:stretch>
        </p:blipFill>
        <p:spPr>
          <a:xfrm>
            <a:off x="801039" y="1508760"/>
            <a:ext cx="4890161" cy="2926080"/>
          </a:xfrm>
          <a:prstGeom prst="rect">
            <a:avLst/>
          </a:prstGeom>
        </p:spPr>
      </p:pic>
      <p:pic>
        <p:nvPicPr>
          <p:cNvPr id="8" name="Image 1" descr="/home/monta/convention-jura/presentations/src/screens/agent-one-agents.png">    </p:cNvPr>
          <p:cNvPicPr>
            <a:picLocks noChangeAspect="1"/>
          </p:cNvPicPr>
          <p:nvPr/>
        </p:nvPicPr>
        <p:blipFill>
          <a:blip r:embed="rId2"/>
          <a:stretch>
            <a:fillRect/>
          </a:stretch>
        </p:blipFill>
        <p:spPr>
          <a:xfrm>
            <a:off x="6516039" y="1508760"/>
            <a:ext cx="4890161" cy="2926080"/>
          </a:xfrm>
          <a:prstGeom prst="rect">
            <a:avLst/>
          </a:prstGeom>
        </p:spPr>
      </p:pic>
      <p:sp>
        <p:nvSpPr>
          <p:cNvPr id="9" name="Shape 4"/>
          <p:cNvSpPr/>
          <p:nvPr/>
        </p:nvSpPr>
        <p:spPr>
          <a:xfrm>
            <a:off x="548640" y="4617720"/>
            <a:ext cx="2651760" cy="1371600"/>
          </a:xfrm>
          <a:prstGeom prst="roundRect">
            <a:avLst>
              <a:gd name="adj" fmla="val 8000"/>
            </a:avLst>
          </a:prstGeom>
          <a:solidFill>
            <a:srgbClr val="13263B"/>
          </a:solidFill>
          <a:ln w="12700">
            <a:solidFill>
              <a:srgbClr val="13263B"/>
            </a:solidFill>
            <a:prstDash val="solid"/>
          </a:ln>
        </p:spPr>
      </p:sp>
      <p:sp>
        <p:nvSpPr>
          <p:cNvPr id="10" name="Text 5"/>
          <p:cNvSpPr txBox="1"/>
          <p:nvPr/>
        </p:nvSpPr>
        <p:spPr>
          <a:xfrm>
            <a:off x="777240" y="4782312"/>
            <a:ext cx="2240280" cy="457200"/>
          </a:xfrm>
          <a:prstGeom prst="rect">
            <a:avLst/>
          </a:prstGeom>
          <a:noFill/>
          <a:ln/>
        </p:spPr>
        <p:txBody>
          <a:bodyPr wrap="square" lIns="0" tIns="0" rIns="0" bIns="0" rtlCol="0" anchor="ctr"/>
          <a:lstStyle/>
          <a:p>
            <a:pPr indent="0" marL="0">
              <a:buNone/>
            </a:pPr>
            <a:r>
              <a:rPr lang="en-US" sz="1600" b="1" dirty="0">
                <a:solidFill>
                  <a:srgbClr val="D4AF37"/>
                </a:solidFill>
                <a:latin typeface="Calibri" pitchFamily="34" charset="0"/>
                <a:ea typeface="Calibri" pitchFamily="34" charset="-122"/>
                <a:cs typeface="Calibri" pitchFamily="34" charset="-120"/>
              </a:rPr>
              <a:t>Dry-run</a:t>
            </a:r>
            <a:endParaRPr lang="en-US" sz="1600" dirty="0"/>
          </a:p>
        </p:txBody>
      </p:sp>
      <p:sp>
        <p:nvSpPr>
          <p:cNvPr id="11" name="Text 6"/>
          <p:cNvSpPr txBox="1"/>
          <p:nvPr/>
        </p:nvSpPr>
        <p:spPr>
          <a:xfrm>
            <a:off x="777240" y="5303520"/>
            <a:ext cx="2194560" cy="54864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planifie et montre, n'exécute rien</a:t>
            </a:r>
            <a:endParaRPr lang="en-US" sz="1300" dirty="0"/>
          </a:p>
        </p:txBody>
      </p:sp>
      <p:sp>
        <p:nvSpPr>
          <p:cNvPr id="12" name="Shape 7"/>
          <p:cNvSpPr/>
          <p:nvPr/>
        </p:nvSpPr>
        <p:spPr>
          <a:xfrm>
            <a:off x="3364992" y="4617720"/>
            <a:ext cx="2651760" cy="1371600"/>
          </a:xfrm>
          <a:prstGeom prst="roundRect">
            <a:avLst>
              <a:gd name="adj" fmla="val 8000"/>
            </a:avLst>
          </a:prstGeom>
          <a:solidFill>
            <a:srgbClr val="13263B"/>
          </a:solidFill>
          <a:ln w="12700">
            <a:solidFill>
              <a:srgbClr val="13263B"/>
            </a:solidFill>
            <a:prstDash val="solid"/>
          </a:ln>
        </p:spPr>
      </p:sp>
      <p:sp>
        <p:nvSpPr>
          <p:cNvPr id="13" name="Text 8"/>
          <p:cNvSpPr txBox="1"/>
          <p:nvPr/>
        </p:nvSpPr>
        <p:spPr>
          <a:xfrm>
            <a:off x="3593592" y="4782312"/>
            <a:ext cx="2240280" cy="457200"/>
          </a:xfrm>
          <a:prstGeom prst="rect">
            <a:avLst/>
          </a:prstGeom>
          <a:noFill/>
          <a:ln/>
        </p:spPr>
        <p:txBody>
          <a:bodyPr wrap="square" lIns="0" tIns="0" rIns="0" bIns="0" rtlCol="0" anchor="ctr"/>
          <a:lstStyle/>
          <a:p>
            <a:pPr indent="0" marL="0">
              <a:buNone/>
            </a:pPr>
            <a:r>
              <a:rPr lang="en-US" sz="1600" b="1" dirty="0">
                <a:solidFill>
                  <a:srgbClr val="5FBF7A"/>
                </a:solidFill>
                <a:latin typeface="Calibri" pitchFamily="34" charset="0"/>
                <a:ea typeface="Calibri" pitchFamily="34" charset="-122"/>
                <a:cs typeface="Calibri" pitchFamily="34" charset="-120"/>
              </a:rPr>
              <a:t>Diffs</a:t>
            </a:r>
            <a:endParaRPr lang="en-US" sz="1600" dirty="0"/>
          </a:p>
        </p:txBody>
      </p:sp>
      <p:sp>
        <p:nvSpPr>
          <p:cNvPr id="14" name="Text 9"/>
          <p:cNvSpPr txBox="1"/>
          <p:nvPr/>
        </p:nvSpPr>
        <p:spPr>
          <a:xfrm>
            <a:off x="3593592" y="5303520"/>
            <a:ext cx="2194560" cy="54864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chaque modification, avant application</a:t>
            </a:r>
            <a:endParaRPr lang="en-US" sz="1300" dirty="0"/>
          </a:p>
        </p:txBody>
      </p:sp>
      <p:sp>
        <p:nvSpPr>
          <p:cNvPr id="15" name="Shape 10"/>
          <p:cNvSpPr/>
          <p:nvPr/>
        </p:nvSpPr>
        <p:spPr>
          <a:xfrm>
            <a:off x="6181344" y="4617720"/>
            <a:ext cx="2651760" cy="1371600"/>
          </a:xfrm>
          <a:prstGeom prst="roundRect">
            <a:avLst>
              <a:gd name="adj" fmla="val 8000"/>
            </a:avLst>
          </a:prstGeom>
          <a:solidFill>
            <a:srgbClr val="13263B"/>
          </a:solidFill>
          <a:ln w="12700">
            <a:solidFill>
              <a:srgbClr val="13263B"/>
            </a:solidFill>
            <a:prstDash val="solid"/>
          </a:ln>
        </p:spPr>
      </p:sp>
      <p:sp>
        <p:nvSpPr>
          <p:cNvPr id="16" name="Text 11"/>
          <p:cNvSpPr txBox="1"/>
          <p:nvPr/>
        </p:nvSpPr>
        <p:spPr>
          <a:xfrm>
            <a:off x="6409944" y="4782312"/>
            <a:ext cx="2240280" cy="457200"/>
          </a:xfrm>
          <a:prstGeom prst="rect">
            <a:avLst/>
          </a:prstGeom>
          <a:noFill/>
          <a:ln/>
        </p:spPr>
        <p:txBody>
          <a:bodyPr wrap="square" lIns="0" tIns="0" rIns="0" bIns="0" rtlCol="0" anchor="ctr"/>
          <a:lstStyle/>
          <a:p>
            <a:pPr indent="0" marL="0">
              <a:buNone/>
            </a:pPr>
            <a:r>
              <a:rPr lang="en-US" sz="1600" b="1" dirty="0">
                <a:solidFill>
                  <a:srgbClr val="8E72E6"/>
                </a:solidFill>
                <a:latin typeface="Calibri" pitchFamily="34" charset="0"/>
                <a:ea typeface="Calibri" pitchFamily="34" charset="-122"/>
                <a:cs typeface="Calibri" pitchFamily="34" charset="-120"/>
              </a:rPr>
              <a:t>Chaque agent, en direct</a:t>
            </a:r>
            <a:endParaRPr lang="en-US" sz="1600" dirty="0"/>
          </a:p>
        </p:txBody>
      </p:sp>
      <p:sp>
        <p:nvSpPr>
          <p:cNvPr id="17" name="Text 12"/>
          <p:cNvSpPr txBox="1"/>
          <p:nvPr/>
        </p:nvSpPr>
        <p:spPr>
          <a:xfrm>
            <a:off x="6409944" y="5303520"/>
            <a:ext cx="2194560" cy="54864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réflexion et étapes, une touche</a:t>
            </a:r>
            <a:endParaRPr lang="en-US" sz="1300" dirty="0"/>
          </a:p>
        </p:txBody>
      </p:sp>
      <p:sp>
        <p:nvSpPr>
          <p:cNvPr id="18" name="Shape 13"/>
          <p:cNvSpPr/>
          <p:nvPr/>
        </p:nvSpPr>
        <p:spPr>
          <a:xfrm>
            <a:off x="8997696" y="4617720"/>
            <a:ext cx="2651760" cy="1371600"/>
          </a:xfrm>
          <a:prstGeom prst="roundRect">
            <a:avLst>
              <a:gd name="adj" fmla="val 8000"/>
            </a:avLst>
          </a:prstGeom>
          <a:solidFill>
            <a:srgbClr val="13263B"/>
          </a:solidFill>
          <a:ln w="12700">
            <a:solidFill>
              <a:srgbClr val="13263B"/>
            </a:solidFill>
            <a:prstDash val="solid"/>
          </a:ln>
        </p:spPr>
      </p:sp>
      <p:sp>
        <p:nvSpPr>
          <p:cNvPr id="19" name="Text 14"/>
          <p:cNvSpPr txBox="1"/>
          <p:nvPr/>
        </p:nvSpPr>
        <p:spPr>
          <a:xfrm>
            <a:off x="9226296" y="4782312"/>
            <a:ext cx="2240280" cy="457200"/>
          </a:xfrm>
          <a:prstGeom prst="rect">
            <a:avLst/>
          </a:prstGeom>
          <a:noFill/>
          <a:ln/>
        </p:spPr>
        <p:txBody>
          <a:bodyPr wrap="square" lIns="0" tIns="0" rIns="0" bIns="0" rtlCol="0" anchor="ctr"/>
          <a:lstStyle/>
          <a:p>
            <a:pPr indent="0" marL="0">
              <a:buNone/>
            </a:pPr>
            <a:r>
              <a:rPr lang="en-US" sz="1600" b="1" dirty="0">
                <a:solidFill>
                  <a:srgbClr val="2BA3C7"/>
                </a:solidFill>
                <a:latin typeface="Calibri" pitchFamily="34" charset="0"/>
                <a:ea typeface="Calibri" pitchFamily="34" charset="-122"/>
                <a:cs typeface="Calibri" pitchFamily="34" charset="-120"/>
              </a:rPr>
              <a:t>Le tableau de bord</a:t>
            </a:r>
            <a:endParaRPr lang="en-US" sz="1600" dirty="0"/>
          </a:p>
        </p:txBody>
      </p:sp>
      <p:sp>
        <p:nvSpPr>
          <p:cNvPr id="20" name="Text 15"/>
          <p:cNvSpPr txBox="1"/>
          <p:nvPr/>
        </p:nvSpPr>
        <p:spPr>
          <a:xfrm>
            <a:off x="9226296" y="5303520"/>
            <a:ext cx="2194560" cy="54864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le réseau neuronal en 2D et 3D, la valeur, chaque clé de config expliquée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19</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APPRENDRE, AVEC DES GARDE-FOUS</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Ce que nous avons repris — sans pouvoir tricher</a:t>
            </a:r>
            <a:endParaRPr lang="en-US" sz="3400" dirty="0"/>
          </a:p>
        </p:txBody>
      </p:sp>
      <p:sp>
        <p:nvSpPr>
          <p:cNvPr id="7" name="Shape 4"/>
          <p:cNvSpPr/>
          <p:nvPr/>
        </p:nvSpPr>
        <p:spPr>
          <a:xfrm>
            <a:off x="548640" y="1600200"/>
            <a:ext cx="3566160" cy="2011680"/>
          </a:xfrm>
          <a:prstGeom prst="roundRect">
            <a:avLst>
              <a:gd name="adj" fmla="val 5455"/>
            </a:avLst>
          </a:prstGeom>
          <a:solidFill>
            <a:srgbClr val="13263B"/>
          </a:solidFill>
          <a:ln w="12700">
            <a:solidFill>
              <a:srgbClr val="13263B"/>
            </a:solidFill>
            <a:prstDash val="solid"/>
          </a:ln>
        </p:spPr>
      </p:sp>
      <p:sp>
        <p:nvSpPr>
          <p:cNvPr id="8" name="Text 5"/>
          <p:cNvSpPr txBox="1"/>
          <p:nvPr/>
        </p:nvSpPr>
        <p:spPr>
          <a:xfrm>
            <a:off x="777240" y="1764792"/>
            <a:ext cx="315468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goal</a:t>
            </a:r>
            <a:endParaRPr lang="en-US" sz="1700" dirty="0"/>
          </a:p>
        </p:txBody>
      </p:sp>
      <p:sp>
        <p:nvSpPr>
          <p:cNvPr id="9" name="Text 6"/>
          <p:cNvSpPr txBox="1"/>
          <p:nvPr/>
        </p:nvSpPr>
        <p:spPr>
          <a:xfrm>
            <a:off x="77724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travaille jusqu'à ce que votre commande passe ; le harness la lance</a:t>
            </a:r>
            <a:endParaRPr lang="en-US" sz="1400" dirty="0"/>
          </a:p>
        </p:txBody>
      </p:sp>
      <p:sp>
        <p:nvSpPr>
          <p:cNvPr id="10" name="Text 7"/>
          <p:cNvSpPr txBox="1"/>
          <p:nvPr/>
        </p:nvSpPr>
        <p:spPr>
          <a:xfrm>
            <a:off x="2651760" y="178308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Prime</a:t>
            </a:r>
            <a:endParaRPr lang="en-US" sz="1100" dirty="0"/>
          </a:p>
        </p:txBody>
      </p:sp>
      <p:sp>
        <p:nvSpPr>
          <p:cNvPr id="11" name="Shape 8"/>
          <p:cNvSpPr/>
          <p:nvPr/>
        </p:nvSpPr>
        <p:spPr>
          <a:xfrm>
            <a:off x="4297680" y="1600200"/>
            <a:ext cx="3566160" cy="2011680"/>
          </a:xfrm>
          <a:prstGeom prst="roundRect">
            <a:avLst>
              <a:gd name="adj" fmla="val 5455"/>
            </a:avLst>
          </a:prstGeom>
          <a:solidFill>
            <a:srgbClr val="13263B"/>
          </a:solidFill>
          <a:ln w="12700">
            <a:solidFill>
              <a:srgbClr val="13263B"/>
            </a:solidFill>
            <a:prstDash val="solid"/>
          </a:ln>
        </p:spPr>
      </p:sp>
      <p:sp>
        <p:nvSpPr>
          <p:cNvPr id="12" name="Text 9"/>
          <p:cNvSpPr txBox="1"/>
          <p:nvPr/>
        </p:nvSpPr>
        <p:spPr>
          <a:xfrm>
            <a:off x="4526280" y="1764792"/>
            <a:ext cx="315468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Nouvel essai</a:t>
            </a:r>
            <a:endParaRPr lang="en-US" sz="1700" dirty="0"/>
          </a:p>
        </p:txBody>
      </p:sp>
      <p:sp>
        <p:nvSpPr>
          <p:cNvPr id="13" name="Text 10"/>
          <p:cNvSpPr txBox="1"/>
          <p:nvPr/>
        </p:nvSpPr>
        <p:spPr>
          <a:xfrm>
            <a:off x="452628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une validation échouée revient une fois à l'agent</a:t>
            </a:r>
            <a:endParaRPr lang="en-US" sz="1400" dirty="0"/>
          </a:p>
        </p:txBody>
      </p:sp>
      <p:sp>
        <p:nvSpPr>
          <p:cNvPr id="14" name="Text 11"/>
          <p:cNvSpPr txBox="1"/>
          <p:nvPr/>
        </p:nvSpPr>
        <p:spPr>
          <a:xfrm>
            <a:off x="6400800" y="178308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Prime</a:t>
            </a:r>
            <a:endParaRPr lang="en-US" sz="1100" dirty="0"/>
          </a:p>
        </p:txBody>
      </p:sp>
      <p:sp>
        <p:nvSpPr>
          <p:cNvPr id="15" name="Shape 12"/>
          <p:cNvSpPr/>
          <p:nvPr/>
        </p:nvSpPr>
        <p:spPr>
          <a:xfrm>
            <a:off x="8046720" y="1600200"/>
            <a:ext cx="3566160" cy="2011680"/>
          </a:xfrm>
          <a:prstGeom prst="roundRect">
            <a:avLst>
              <a:gd name="adj" fmla="val 5455"/>
            </a:avLst>
          </a:prstGeom>
          <a:solidFill>
            <a:srgbClr val="13263B"/>
          </a:solidFill>
          <a:ln w="12700">
            <a:solidFill>
              <a:srgbClr val="13263B"/>
            </a:solidFill>
            <a:prstDash val="solid"/>
          </a:ln>
        </p:spPr>
      </p:sp>
      <p:sp>
        <p:nvSpPr>
          <p:cNvPr id="16" name="Text 13"/>
          <p:cNvSpPr txBox="1"/>
          <p:nvPr/>
        </p:nvSpPr>
        <p:spPr>
          <a:xfrm>
            <a:off x="8275320" y="1764792"/>
            <a:ext cx="315468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Tests intacts</a:t>
            </a:r>
            <a:endParaRPr lang="en-US" sz="1700" dirty="0"/>
          </a:p>
        </p:txBody>
      </p:sp>
      <p:sp>
        <p:nvSpPr>
          <p:cNvPr id="17" name="Text 14"/>
          <p:cNvSpPr txBox="1"/>
          <p:nvPr/>
        </p:nvSpPr>
        <p:spPr>
          <a:xfrm>
            <a:off x="827532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contrôles d'avant le tour ; ni suppression ni désactivation de tests</a:t>
            </a:r>
            <a:endParaRPr lang="en-US" sz="1400" dirty="0"/>
          </a:p>
        </p:txBody>
      </p:sp>
      <p:sp>
        <p:nvSpPr>
          <p:cNvPr id="18" name="Text 15"/>
          <p:cNvSpPr txBox="1"/>
          <p:nvPr/>
        </p:nvSpPr>
        <p:spPr>
          <a:xfrm>
            <a:off x="10149840" y="178308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à nous</a:t>
            </a:r>
            <a:endParaRPr lang="en-US" sz="1100" dirty="0"/>
          </a:p>
        </p:txBody>
      </p:sp>
      <p:sp>
        <p:nvSpPr>
          <p:cNvPr id="19" name="Shape 16"/>
          <p:cNvSpPr/>
          <p:nvPr/>
        </p:nvSpPr>
        <p:spPr>
          <a:xfrm>
            <a:off x="548640" y="3840480"/>
            <a:ext cx="3566160" cy="2011680"/>
          </a:xfrm>
          <a:prstGeom prst="roundRect">
            <a:avLst>
              <a:gd name="adj" fmla="val 5455"/>
            </a:avLst>
          </a:prstGeom>
          <a:solidFill>
            <a:srgbClr val="13263B"/>
          </a:solidFill>
          <a:ln w="12700">
            <a:solidFill>
              <a:srgbClr val="13263B"/>
            </a:solidFill>
            <a:prstDash val="solid"/>
          </a:ln>
        </p:spPr>
      </p:sp>
      <p:sp>
        <p:nvSpPr>
          <p:cNvPr id="20" name="Text 17"/>
          <p:cNvSpPr txBox="1"/>
          <p:nvPr/>
        </p:nvSpPr>
        <p:spPr>
          <a:xfrm>
            <a:off x="777240" y="4005072"/>
            <a:ext cx="315468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Mémoire rappelée</a:t>
            </a:r>
            <a:endParaRPr lang="en-US" sz="1700" dirty="0"/>
          </a:p>
        </p:txBody>
      </p:sp>
      <p:sp>
        <p:nvSpPr>
          <p:cNvPr id="21" name="Text 18"/>
          <p:cNvSpPr txBox="1"/>
          <p:nvPr/>
        </p:nvSpPr>
        <p:spPr>
          <a:xfrm>
            <a:off x="77724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vidée par référence ; le non-dit est classé</a:t>
            </a:r>
            <a:endParaRPr lang="en-US" sz="1400" dirty="0"/>
          </a:p>
        </p:txBody>
      </p:sp>
      <p:sp>
        <p:nvSpPr>
          <p:cNvPr id="22" name="Text 19"/>
          <p:cNvSpPr txBox="1"/>
          <p:nvPr/>
        </p:nvSpPr>
        <p:spPr>
          <a:xfrm>
            <a:off x="2651760" y="402336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Hermes</a:t>
            </a:r>
            <a:endParaRPr lang="en-US" sz="1100" dirty="0"/>
          </a:p>
        </p:txBody>
      </p:sp>
      <p:sp>
        <p:nvSpPr>
          <p:cNvPr id="23" name="Shape 20"/>
          <p:cNvSpPr/>
          <p:nvPr/>
        </p:nvSpPr>
        <p:spPr>
          <a:xfrm>
            <a:off x="4297680" y="3840480"/>
            <a:ext cx="3566160" cy="2011680"/>
          </a:xfrm>
          <a:prstGeom prst="roundRect">
            <a:avLst>
              <a:gd name="adj" fmla="val 5455"/>
            </a:avLst>
          </a:prstGeom>
          <a:solidFill>
            <a:srgbClr val="13263B"/>
          </a:solidFill>
          <a:ln w="12700">
            <a:solidFill>
              <a:srgbClr val="13263B"/>
            </a:solidFill>
            <a:prstDash val="solid"/>
          </a:ln>
        </p:spPr>
      </p:sp>
      <p:sp>
        <p:nvSpPr>
          <p:cNvPr id="24" name="Text 21"/>
          <p:cNvSpPr txBox="1"/>
          <p:nvPr/>
        </p:nvSpPr>
        <p:spPr>
          <a:xfrm>
            <a:off x="4526280" y="4005072"/>
            <a:ext cx="315468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Passation</a:t>
            </a:r>
            <a:endParaRPr lang="en-US" sz="1700" dirty="0"/>
          </a:p>
        </p:txBody>
      </p:sp>
      <p:sp>
        <p:nvSpPr>
          <p:cNvPr id="25" name="Text 22"/>
          <p:cNvSpPr txBox="1"/>
          <p:nvPr/>
        </p:nvSpPr>
        <p:spPr>
          <a:xfrm>
            <a:off x="452628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état, décisions, pièges — pour la session suivante</a:t>
            </a:r>
            <a:endParaRPr lang="en-US" sz="1400" dirty="0"/>
          </a:p>
        </p:txBody>
      </p:sp>
      <p:sp>
        <p:nvSpPr>
          <p:cNvPr id="26" name="Text 23"/>
          <p:cNvSpPr txBox="1"/>
          <p:nvPr/>
        </p:nvSpPr>
        <p:spPr>
          <a:xfrm>
            <a:off x="6400800" y="402336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à nous</a:t>
            </a:r>
            <a:endParaRPr lang="en-US" sz="1100" dirty="0"/>
          </a:p>
        </p:txBody>
      </p:sp>
      <p:sp>
        <p:nvSpPr>
          <p:cNvPr id="27" name="Shape 24"/>
          <p:cNvSpPr/>
          <p:nvPr/>
        </p:nvSpPr>
        <p:spPr>
          <a:xfrm>
            <a:off x="8046720" y="3840480"/>
            <a:ext cx="3566160" cy="2011680"/>
          </a:xfrm>
          <a:prstGeom prst="roundRect">
            <a:avLst>
              <a:gd name="adj" fmla="val 5455"/>
            </a:avLst>
          </a:prstGeom>
          <a:solidFill>
            <a:srgbClr val="13263B"/>
          </a:solidFill>
          <a:ln w="12700">
            <a:solidFill>
              <a:srgbClr val="13263B"/>
            </a:solidFill>
            <a:prstDash val="solid"/>
          </a:ln>
        </p:spPr>
      </p:sp>
      <p:sp>
        <p:nvSpPr>
          <p:cNvPr id="28" name="Text 25"/>
          <p:cNvSpPr txBox="1"/>
          <p:nvPr/>
        </p:nvSpPr>
        <p:spPr>
          <a:xfrm>
            <a:off x="8275320" y="4005072"/>
            <a:ext cx="315468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review</a:t>
            </a:r>
            <a:endParaRPr lang="en-US" sz="1700" dirty="0"/>
          </a:p>
        </p:txBody>
      </p:sp>
      <p:sp>
        <p:nvSpPr>
          <p:cNvPr id="29" name="Text 26"/>
          <p:cNvSpPr txBox="1"/>
          <p:nvPr/>
        </p:nvSpPr>
        <p:spPr>
          <a:xfrm>
            <a:off x="827532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deux modèles relisent ; vous validez la liste</a:t>
            </a:r>
            <a:endParaRPr lang="en-US" sz="1400" dirty="0"/>
          </a:p>
        </p:txBody>
      </p:sp>
      <p:sp>
        <p:nvSpPr>
          <p:cNvPr id="30" name="Text 27"/>
          <p:cNvSpPr txBox="1"/>
          <p:nvPr/>
        </p:nvSpPr>
        <p:spPr>
          <a:xfrm>
            <a:off x="10149840" y="4023360"/>
            <a:ext cx="1280160" cy="320040"/>
          </a:xfrm>
          <a:prstGeom prst="rect">
            <a:avLst/>
          </a:prstGeom>
          <a:noFill/>
          <a:ln/>
        </p:spPr>
        <p:txBody>
          <a:bodyPr wrap="square" lIns="0" tIns="0" rIns="0" bIns="0" rtlCol="0" anchor="ctr"/>
          <a:lstStyle/>
          <a:p>
            <a:pPr algn="r" indent="0" marL="0">
              <a:buNone/>
            </a:pPr>
            <a:r>
              <a:rPr lang="en-US" sz="1100" i="1" dirty="0">
                <a:solidFill>
                  <a:srgbClr val="8FA3B8"/>
                </a:solidFill>
                <a:latin typeface="Calibri" pitchFamily="34" charset="0"/>
                <a:ea typeface="Calibri" pitchFamily="34" charset="-122"/>
                <a:cs typeface="Calibri" pitchFamily="34" charset="-120"/>
              </a:rPr>
              <a:t>à nous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20</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MESURÉ ET SOIGNÉ</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Valeur, tension et évolution, tout dans le code</a:t>
            </a:r>
            <a:endParaRPr lang="en-US" sz="3400" dirty="0"/>
          </a:p>
        </p:txBody>
      </p:sp>
      <p:sp>
        <p:nvSpPr>
          <p:cNvPr id="7" name="Shape 4"/>
          <p:cNvSpPr/>
          <p:nvPr/>
        </p:nvSpPr>
        <p:spPr>
          <a:xfrm>
            <a:off x="548640" y="1600200"/>
            <a:ext cx="3566160" cy="2011680"/>
          </a:xfrm>
          <a:prstGeom prst="roundRect">
            <a:avLst>
              <a:gd name="adj" fmla="val 5455"/>
            </a:avLst>
          </a:prstGeom>
          <a:solidFill>
            <a:srgbClr val="13263B"/>
          </a:solidFill>
          <a:ln w="12700">
            <a:solidFill>
              <a:srgbClr val="13263B"/>
            </a:solidFill>
            <a:prstDash val="solid"/>
          </a:ln>
        </p:spPr>
      </p:sp>
      <p:sp>
        <p:nvSpPr>
          <p:cNvPr id="8" name="Text 5"/>
          <p:cNvSpPr txBox="1"/>
          <p:nvPr/>
        </p:nvSpPr>
        <p:spPr>
          <a:xfrm>
            <a:off x="777240" y="1764792"/>
            <a:ext cx="3154680" cy="457200"/>
          </a:xfrm>
          <a:prstGeom prst="rect">
            <a:avLst/>
          </a:prstGeom>
          <a:noFill/>
          <a:ln/>
        </p:spPr>
        <p:txBody>
          <a:bodyPr wrap="square" lIns="0" tIns="0" rIns="0" bIns="0" rtlCol="0" anchor="ctr"/>
          <a:lstStyle/>
          <a:p>
            <a:pPr indent="0" marL="0">
              <a:buNone/>
            </a:pPr>
            <a:r>
              <a:rPr lang="en-US" sz="1700" b="1" dirty="0">
                <a:solidFill>
                  <a:srgbClr val="5FBF7A"/>
                </a:solidFill>
                <a:latin typeface="Calibri" pitchFamily="34" charset="0"/>
                <a:ea typeface="Calibri" pitchFamily="34" charset="-122"/>
                <a:cs typeface="Calibri" pitchFamily="34" charset="-120"/>
              </a:rPr>
              <a:t>Valeur</a:t>
            </a:r>
            <a:endParaRPr lang="en-US" sz="1700" dirty="0"/>
          </a:p>
        </p:txBody>
      </p:sp>
      <p:sp>
        <p:nvSpPr>
          <p:cNvPr id="9" name="Text 6"/>
          <p:cNvSpPr txBox="1"/>
          <p:nvPr/>
        </p:nvSpPr>
        <p:spPr>
          <a:xfrm>
            <a:off x="77724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chaque rang noté sur son travail ; jauges sur les deux interfaces</a:t>
            </a:r>
            <a:endParaRPr lang="en-US" sz="1400" dirty="0"/>
          </a:p>
        </p:txBody>
      </p:sp>
      <p:sp>
        <p:nvSpPr>
          <p:cNvPr id="10" name="Shape 7"/>
          <p:cNvSpPr/>
          <p:nvPr/>
        </p:nvSpPr>
        <p:spPr>
          <a:xfrm>
            <a:off x="4297680" y="1600200"/>
            <a:ext cx="3566160" cy="2011680"/>
          </a:xfrm>
          <a:prstGeom prst="roundRect">
            <a:avLst>
              <a:gd name="adj" fmla="val 5455"/>
            </a:avLst>
          </a:prstGeom>
          <a:solidFill>
            <a:srgbClr val="13263B"/>
          </a:solidFill>
          <a:ln w="12700">
            <a:solidFill>
              <a:srgbClr val="13263B"/>
            </a:solidFill>
            <a:prstDash val="solid"/>
          </a:ln>
        </p:spPr>
      </p:sp>
      <p:sp>
        <p:nvSpPr>
          <p:cNvPr id="11" name="Text 8"/>
          <p:cNvSpPr txBox="1"/>
          <p:nvPr/>
        </p:nvSpPr>
        <p:spPr>
          <a:xfrm>
            <a:off x="4526280" y="1764792"/>
            <a:ext cx="315468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Le conseil</a:t>
            </a:r>
            <a:endParaRPr lang="en-US" sz="1700" dirty="0"/>
          </a:p>
        </p:txBody>
      </p:sp>
      <p:sp>
        <p:nvSpPr>
          <p:cNvPr id="12" name="Text 9"/>
          <p:cNvSpPr txBox="1"/>
          <p:nvPr/>
        </p:nvSpPr>
        <p:spPr>
          <a:xfrm>
            <a:off x="452628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tension 5 : le responsable répond · 3 réponses : vers vous</a:t>
            </a:r>
            <a:endParaRPr lang="en-US" sz="1400" dirty="0"/>
          </a:p>
        </p:txBody>
      </p:sp>
      <p:sp>
        <p:nvSpPr>
          <p:cNvPr id="13" name="Shape 10"/>
          <p:cNvSpPr/>
          <p:nvPr/>
        </p:nvSpPr>
        <p:spPr>
          <a:xfrm>
            <a:off x="8046720" y="1600200"/>
            <a:ext cx="3566160" cy="2011680"/>
          </a:xfrm>
          <a:prstGeom prst="roundRect">
            <a:avLst>
              <a:gd name="adj" fmla="val 5455"/>
            </a:avLst>
          </a:prstGeom>
          <a:solidFill>
            <a:srgbClr val="13263B"/>
          </a:solidFill>
          <a:ln w="12700">
            <a:solidFill>
              <a:srgbClr val="13263B"/>
            </a:solidFill>
            <a:prstDash val="solid"/>
          </a:ln>
        </p:spPr>
      </p:sp>
      <p:sp>
        <p:nvSpPr>
          <p:cNvPr id="14" name="Text 11"/>
          <p:cNvSpPr txBox="1"/>
          <p:nvPr/>
        </p:nvSpPr>
        <p:spPr>
          <a:xfrm>
            <a:off x="8275320" y="1764792"/>
            <a:ext cx="315468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Allègement</a:t>
            </a:r>
            <a:endParaRPr lang="en-US" sz="1700" dirty="0"/>
          </a:p>
        </p:txBody>
      </p:sp>
      <p:sp>
        <p:nvSpPr>
          <p:cNvPr id="15" name="Text 12"/>
          <p:cNvSpPr txBox="1"/>
          <p:nvPr/>
        </p:nvSpPr>
        <p:spPr>
          <a:xfrm>
            <a:off x="8275320" y="228600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tension 7 : la zone est découpée ou retirée</a:t>
            </a:r>
            <a:endParaRPr lang="en-US" sz="1400" dirty="0"/>
          </a:p>
        </p:txBody>
      </p:sp>
      <p:sp>
        <p:nvSpPr>
          <p:cNvPr id="16" name="Shape 13"/>
          <p:cNvSpPr/>
          <p:nvPr/>
        </p:nvSpPr>
        <p:spPr>
          <a:xfrm>
            <a:off x="548640" y="3840480"/>
            <a:ext cx="3566160" cy="2011680"/>
          </a:xfrm>
          <a:prstGeom prst="roundRect">
            <a:avLst>
              <a:gd name="adj" fmla="val 5455"/>
            </a:avLst>
          </a:prstGeom>
          <a:solidFill>
            <a:srgbClr val="13263B"/>
          </a:solidFill>
          <a:ln w="12700">
            <a:solidFill>
              <a:srgbClr val="13263B"/>
            </a:solidFill>
            <a:prstDash val="solid"/>
          </a:ln>
        </p:spPr>
      </p:sp>
      <p:sp>
        <p:nvSpPr>
          <p:cNvPr id="17" name="Text 14"/>
          <p:cNvSpPr txBox="1"/>
          <p:nvPr/>
        </p:nvSpPr>
        <p:spPr>
          <a:xfrm>
            <a:off x="777240" y="4005072"/>
            <a:ext cx="3154680" cy="457200"/>
          </a:xfrm>
          <a:prstGeom prst="rect">
            <a:avLst/>
          </a:prstGeom>
          <a:noFill/>
          <a:ln/>
        </p:spPr>
        <p:txBody>
          <a:bodyPr wrap="square" lIns="0" tIns="0" rIns="0" bIns="0" rtlCol="0" anchor="ctr"/>
          <a:lstStyle/>
          <a:p>
            <a:pPr indent="0" marL="0">
              <a:buNone/>
            </a:pPr>
            <a:r>
              <a:rPr lang="en-US" sz="1700" b="1" dirty="0">
                <a:solidFill>
                  <a:srgbClr val="8E72E6"/>
                </a:solidFill>
                <a:latin typeface="Calibri" pitchFamily="34" charset="0"/>
                <a:ea typeface="Calibri" pitchFamily="34" charset="-122"/>
                <a:cs typeface="Calibri" pitchFamily="34" charset="-120"/>
              </a:rPr>
              <a:t>Évolution</a:t>
            </a:r>
            <a:endParaRPr lang="en-US" sz="1700" dirty="0"/>
          </a:p>
        </p:txBody>
      </p:sp>
      <p:sp>
        <p:nvSpPr>
          <p:cNvPr id="18" name="Text 15"/>
          <p:cNvSpPr txBox="1"/>
          <p:nvPr/>
        </p:nvSpPr>
        <p:spPr>
          <a:xfrm>
            <a:off x="77724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scission · mutation · renaissance — prouvée avant d'être appliquée</a:t>
            </a:r>
            <a:endParaRPr lang="en-US" sz="1400" dirty="0"/>
          </a:p>
        </p:txBody>
      </p:sp>
      <p:sp>
        <p:nvSpPr>
          <p:cNvPr id="19" name="Shape 16"/>
          <p:cNvSpPr/>
          <p:nvPr/>
        </p:nvSpPr>
        <p:spPr>
          <a:xfrm>
            <a:off x="4297680" y="3840480"/>
            <a:ext cx="3566160" cy="2011680"/>
          </a:xfrm>
          <a:prstGeom prst="roundRect">
            <a:avLst>
              <a:gd name="adj" fmla="val 5455"/>
            </a:avLst>
          </a:prstGeom>
          <a:solidFill>
            <a:srgbClr val="13263B"/>
          </a:solidFill>
          <a:ln w="12700">
            <a:solidFill>
              <a:srgbClr val="13263B"/>
            </a:solidFill>
            <a:prstDash val="solid"/>
          </a:ln>
        </p:spPr>
      </p:sp>
      <p:sp>
        <p:nvSpPr>
          <p:cNvPr id="20" name="Text 17"/>
          <p:cNvSpPr txBox="1"/>
          <p:nvPr/>
        </p:nvSpPr>
        <p:spPr>
          <a:xfrm>
            <a:off x="4526280" y="4005072"/>
            <a:ext cx="315468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La forge</a:t>
            </a:r>
            <a:endParaRPr lang="en-US" sz="1700" dirty="0"/>
          </a:p>
        </p:txBody>
      </p:sp>
      <p:sp>
        <p:nvSpPr>
          <p:cNvPr id="21" name="Text 18"/>
          <p:cNvSpPr txBox="1"/>
          <p:nvPr/>
        </p:nvSpPr>
        <p:spPr>
          <a:xfrm>
            <a:off x="452628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ce qu'une exécution a prouvé devient une skill, que vous approuvez</a:t>
            </a:r>
            <a:endParaRPr lang="en-US" sz="1400" dirty="0"/>
          </a:p>
        </p:txBody>
      </p:sp>
      <p:sp>
        <p:nvSpPr>
          <p:cNvPr id="22" name="Shape 19"/>
          <p:cNvSpPr/>
          <p:nvPr/>
        </p:nvSpPr>
        <p:spPr>
          <a:xfrm>
            <a:off x="8046720" y="3840480"/>
            <a:ext cx="3566160" cy="2011680"/>
          </a:xfrm>
          <a:prstGeom prst="roundRect">
            <a:avLst>
              <a:gd name="adj" fmla="val 5455"/>
            </a:avLst>
          </a:prstGeom>
          <a:solidFill>
            <a:srgbClr val="13263B"/>
          </a:solidFill>
          <a:ln w="12700">
            <a:solidFill>
              <a:srgbClr val="13263B"/>
            </a:solidFill>
            <a:prstDash val="solid"/>
          </a:ln>
        </p:spPr>
      </p:sp>
      <p:sp>
        <p:nvSpPr>
          <p:cNvPr id="23" name="Text 20"/>
          <p:cNvSpPr txBox="1"/>
          <p:nvPr/>
        </p:nvSpPr>
        <p:spPr>
          <a:xfrm>
            <a:off x="8275320" y="4005072"/>
            <a:ext cx="3154680" cy="457200"/>
          </a:xfrm>
          <a:prstGeom prst="rect">
            <a:avLst/>
          </a:prstGeom>
          <a:noFill/>
          <a:ln/>
        </p:spPr>
        <p:txBody>
          <a:bodyPr wrap="square" lIns="0" tIns="0" rIns="0" bIns="0" rtlCol="0" anchor="ctr"/>
          <a:lstStyle/>
          <a:p>
            <a:pPr indent="0" marL="0">
              <a:buNone/>
            </a:pPr>
            <a:r>
              <a:rPr lang="en-US" sz="1700" b="1" dirty="0">
                <a:solidFill>
                  <a:srgbClr val="8FA3B8"/>
                </a:solidFill>
                <a:latin typeface="Calibri" pitchFamily="34" charset="0"/>
                <a:ea typeface="Calibri" pitchFamily="34" charset="-122"/>
                <a:cs typeface="Calibri" pitchFamily="34" charset="-120"/>
              </a:rPr>
              <a:t>policy.value · .stress · .evolution</a:t>
            </a:r>
            <a:endParaRPr lang="en-US" sz="1700" dirty="0"/>
          </a:p>
        </p:txBody>
      </p:sp>
      <p:sp>
        <p:nvSpPr>
          <p:cNvPr id="24" name="Text 21"/>
          <p:cNvSpPr txBox="1"/>
          <p:nvPr/>
        </p:nvSpPr>
        <p:spPr>
          <a:xfrm>
            <a:off x="8275320" y="4526280"/>
            <a:ext cx="3108960" cy="1188720"/>
          </a:xfrm>
          <a:prstGeom prst="rect">
            <a:avLst/>
          </a:prstGeom>
          <a:noFill/>
          <a:ln/>
        </p:spPr>
        <p:txBody>
          <a:bodyPr wrap="square" lIns="0" tIns="0" rIns="0" bIns="0" rtlCol="0" anchor="t"/>
          <a:lstStyle/>
          <a:p>
            <a:pPr indent="0" marL="0">
              <a:spcAft>
                <a:spcPts val="400"/>
              </a:spcAft>
              <a:buNone/>
            </a:pPr>
            <a:r>
              <a:rPr lang="en-US" sz="1400" dirty="0">
                <a:solidFill>
                  <a:srgbClr val="EEF3F9"/>
                </a:solidFill>
                <a:latin typeface="Calibri" pitchFamily="34" charset="0"/>
                <a:ea typeface="Calibri" pitchFamily="34" charset="-122"/>
                <a:cs typeface="Calibri" pitchFamily="34" charset="-120"/>
              </a:rPr>
              <a:t>chaque seuil en config ; toute désactivation est affichée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21</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4 · CONFIGURATION</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Un fichier par partie ; les secrets nommés, jamais écrits</a:t>
            </a:r>
            <a:endParaRPr lang="en-US" sz="3400" dirty="0"/>
          </a:p>
        </p:txBody>
      </p:sp>
      <p:sp>
        <p:nvSpPr>
          <p:cNvPr id="7" name="Shape 4"/>
          <p:cNvSpPr/>
          <p:nvPr/>
        </p:nvSpPr>
        <p:spPr>
          <a:xfrm>
            <a:off x="548640" y="1554480"/>
            <a:ext cx="4754880" cy="4480560"/>
          </a:xfrm>
          <a:prstGeom prst="roundRect">
            <a:avLst>
              <a:gd name="adj" fmla="val 2449"/>
            </a:avLst>
          </a:prstGeom>
          <a:solidFill>
            <a:srgbClr val="13263B"/>
          </a:solidFill>
          <a:ln w="12700">
            <a:solidFill>
              <a:srgbClr val="13263B"/>
            </a:solidFill>
            <a:prstDash val="solid"/>
          </a:ln>
        </p:spPr>
      </p:sp>
      <p:sp>
        <p:nvSpPr>
          <p:cNvPr id="8" name="Text 5"/>
          <p:cNvSpPr txBox="1"/>
          <p:nvPr/>
        </p:nvSpPr>
        <p:spPr>
          <a:xfrm>
            <a:off x="777240" y="1737360"/>
            <a:ext cx="4480560" cy="4114800"/>
          </a:xfrm>
          <a:prstGeom prst="rect">
            <a:avLst/>
          </a:prstGeom>
          <a:noFill/>
          <a:ln/>
        </p:spPr>
        <p:txBody>
          <a:bodyPr wrap="square" lIns="0" tIns="0" rIns="0" bIns="0" rtlCol="0" anchor="t"/>
          <a:lstStyle/>
          <a:p>
            <a:pPr indent="0" marL="0">
              <a:buNone/>
            </a:pPr>
            <a:r>
              <a:rPr lang="en-US" sz="1300" dirty="0">
                <a:solidFill>
                  <a:srgbClr val="EEF3F9"/>
                </a:solidFill>
                <a:latin typeface="Courier New" pitchFamily="34" charset="0"/>
                <a:ea typeface="Courier New" pitchFamily="34" charset="-122"/>
                <a:cs typeface="Courier New" pitchFamily="34" charset="-120"/>
              </a:rPr>
              <a:t>.agent-one/</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config.yaml</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providers.yaml    the gateway</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registry.yaml     models · tools ·</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Artifactory · images</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models.yaml       who runs on what</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guards.yaml       refused, always</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rules.yaml</a:t>
            </a:r>
            <a:endParaRPr lang="en-US" sz="1300" dirty="0"/>
          </a:p>
          <a:p>
            <a:pPr indent="0" marL="0">
              <a:buNone/>
            </a:pPr>
            <a:r>
              <a:rPr lang="en-US" sz="1300" dirty="0">
                <a:solidFill>
                  <a:srgbClr val="EEF3F9"/>
                </a:solidFill>
                <a:latin typeface="Courier New" pitchFamily="34" charset="0"/>
                <a:ea typeface="Courier New" pitchFamily="34" charset="-122"/>
                <a:cs typeface="Courier New" pitchFamily="34" charset="-120"/>
              </a:rPr>
              <a:t>└── permissions.yaml</a:t>
            </a:r>
            <a:endParaRPr lang="en-US" sz="1300" dirty="0"/>
          </a:p>
        </p:txBody>
      </p:sp>
      <p:sp>
        <p:nvSpPr>
          <p:cNvPr id="9" name="Shape 6"/>
          <p:cNvSpPr/>
          <p:nvPr/>
        </p:nvSpPr>
        <p:spPr>
          <a:xfrm>
            <a:off x="5577840" y="1554480"/>
            <a:ext cx="6035040" cy="3383280"/>
          </a:xfrm>
          <a:prstGeom prst="roundRect">
            <a:avLst>
              <a:gd name="adj" fmla="val 3243"/>
            </a:avLst>
          </a:prstGeom>
          <a:solidFill>
            <a:srgbClr val="18304A"/>
          </a:solidFill>
          <a:ln w="12700">
            <a:solidFill>
              <a:srgbClr val="18304A"/>
            </a:solidFill>
            <a:prstDash val="solid"/>
          </a:ln>
        </p:spPr>
      </p:sp>
      <p:sp>
        <p:nvSpPr>
          <p:cNvPr id="10" name="Text 7"/>
          <p:cNvSpPr txBox="1"/>
          <p:nvPr/>
        </p:nvSpPr>
        <p:spPr>
          <a:xfrm>
            <a:off x="5806440" y="1737360"/>
            <a:ext cx="5669280" cy="3108960"/>
          </a:xfrm>
          <a:prstGeom prst="rect">
            <a:avLst/>
          </a:prstGeom>
          <a:noFill/>
          <a:ln/>
        </p:spPr>
        <p:txBody>
          <a:bodyPr wrap="square" lIns="0" tIns="0" rIns="0" bIns="0" rtlCol="0" anchor="t"/>
          <a:lstStyle/>
          <a:p>
            <a:pPr indent="0" marL="0">
              <a:buNone/>
            </a:pPr>
            <a:r>
              <a:rPr lang="en-US" sz="1200" dirty="0">
                <a:solidFill>
                  <a:srgbClr val="5FBF7A"/>
                </a:solidFill>
                <a:latin typeface="Courier New" pitchFamily="34" charset="0"/>
                <a:ea typeface="Courier New" pitchFamily="34" charset="-122"/>
                <a:cs typeface="Courier New" pitchFamily="34" charset="-120"/>
              </a:rPr>
              <a:t># registry.yaml</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models:</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gateway/muse-glimmer: { tier: 1 }</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gateway/glm-5-3:      { tier: 2 }</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gateway/kimi-k3:      { tier: 3 }</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packages:</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npm: https://artifactory…/npm-remote/</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pip: https://artifactory…/pypi-remote/simple</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auth: { tokenEnv: ARTIFACTORY_TOKEN }   # the name only</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policy: private-only   # nothing from elsewhere</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containers:</a:t>
            </a:r>
            <a:endParaRPr lang="en-US" sz="1200" dirty="0"/>
          </a:p>
          <a:p>
            <a:pPr indent="0" marL="0">
              <a:buNone/>
            </a:pPr>
            <a:r>
              <a:rPr lang="en-US" sz="1200" dirty="0">
                <a:solidFill>
                  <a:srgbClr val="5FBF7A"/>
                </a:solidFill>
                <a:latin typeface="Courier New" pitchFamily="34" charset="0"/>
                <a:ea typeface="Courier New" pitchFamily="34" charset="-122"/>
                <a:cs typeface="Courier New" pitchFamily="34" charset="-120"/>
              </a:rPr>
              <a:t>  image: montabouagina/kaginari:v0.3.0</a:t>
            </a:r>
            <a:endParaRPr lang="en-US" sz="1200" dirty="0"/>
          </a:p>
        </p:txBody>
      </p:sp>
      <p:sp>
        <p:nvSpPr>
          <p:cNvPr id="11" name="Shape 8"/>
          <p:cNvSpPr/>
          <p:nvPr/>
        </p:nvSpPr>
        <p:spPr>
          <a:xfrm>
            <a:off x="5577840" y="5166360"/>
            <a:ext cx="6035040" cy="384048"/>
          </a:xfrm>
          <a:prstGeom prst="roundRect">
            <a:avLst>
              <a:gd name="adj" fmla="val 50000"/>
            </a:avLst>
          </a:prstGeom>
          <a:solidFill>
            <a:srgbClr val="D4AF37"/>
          </a:solidFill>
          <a:ln w="12700">
            <a:solidFill>
              <a:srgbClr val="D4AF37"/>
            </a:solidFill>
            <a:prstDash val="solid"/>
          </a:ln>
        </p:spPr>
      </p:sp>
      <p:sp>
        <p:nvSpPr>
          <p:cNvPr id="12" name="Text 9"/>
          <p:cNvSpPr txBox="1"/>
          <p:nvPr/>
        </p:nvSpPr>
        <p:spPr>
          <a:xfrm>
            <a:off x="5577840" y="5166360"/>
            <a:ext cx="6035040" cy="384048"/>
          </a:xfrm>
          <a:prstGeom prst="rect">
            <a:avLst/>
          </a:prstGeom>
          <a:noFill/>
          <a:ln/>
        </p:spPr>
        <p:txBody>
          <a:bodyPr wrap="square" lIns="0" tIns="0" rIns="0" bIns="0" rtlCol="0" anchor="ctr"/>
          <a:lstStyle/>
          <a:p>
            <a:pPr algn="ctr" indent="0" marL="0">
              <a:buNone/>
            </a:pPr>
            <a:r>
              <a:rPr lang="en-US" sz="1300" b="1" dirty="0">
                <a:solidFill>
                  <a:srgbClr val="0B1A2B"/>
                </a:solidFill>
                <a:latin typeface="Calibri" pitchFamily="34" charset="0"/>
                <a:ea typeface="Calibri" pitchFamily="34" charset="-122"/>
                <a:cs typeface="Calibri" pitchFamily="34" charset="-120"/>
              </a:rPr>
              <a:t>agent-one config explain → chaque valeur, son fichier et sa ligne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22</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DÉMO</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En direct, sur nos modèles vLLM</a:t>
            </a:r>
            <a:endParaRPr lang="en-US" sz="3400" dirty="0"/>
          </a:p>
        </p:txBody>
      </p:sp>
      <p:sp>
        <p:nvSpPr>
          <p:cNvPr id="7" name="Shape 4"/>
          <p:cNvSpPr/>
          <p:nvPr/>
        </p:nvSpPr>
        <p:spPr>
          <a:xfrm>
            <a:off x="548640" y="1645920"/>
            <a:ext cx="2103120" cy="1188720"/>
          </a:xfrm>
          <a:prstGeom prst="roundRect">
            <a:avLst>
              <a:gd name="adj" fmla="val 9231"/>
            </a:avLst>
          </a:prstGeom>
          <a:solidFill>
            <a:srgbClr val="13263B"/>
          </a:solidFill>
          <a:ln w="12700">
            <a:solidFill>
              <a:srgbClr val="13263B"/>
            </a:solidFill>
            <a:prstDash val="solid"/>
          </a:ln>
        </p:spPr>
      </p:sp>
      <p:sp>
        <p:nvSpPr>
          <p:cNvPr id="8" name="Text 5"/>
          <p:cNvSpPr txBox="1"/>
          <p:nvPr/>
        </p:nvSpPr>
        <p:spPr>
          <a:xfrm>
            <a:off x="777240" y="1810512"/>
            <a:ext cx="169164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Agent-One</a:t>
            </a:r>
            <a:endParaRPr lang="en-US" sz="1700" dirty="0"/>
          </a:p>
        </p:txBody>
      </p:sp>
      <p:sp>
        <p:nvSpPr>
          <p:cNvPr id="9" name="Shape 6"/>
          <p:cNvSpPr/>
          <p:nvPr/>
        </p:nvSpPr>
        <p:spPr>
          <a:xfrm>
            <a:off x="2743200" y="2240280"/>
            <a:ext cx="548640" cy="0"/>
          </a:xfrm>
          <a:prstGeom prst="line">
            <a:avLst/>
          </a:prstGeom>
          <a:noFill/>
          <a:ln w="25400">
            <a:solidFill>
              <a:srgbClr val="8FA3B8"/>
            </a:solidFill>
            <a:prstDash val="solid"/>
            <a:tailEnd type="triangle"/>
          </a:ln>
        </p:spPr>
      </p:sp>
      <p:sp>
        <p:nvSpPr>
          <p:cNvPr id="10" name="Shape 7"/>
          <p:cNvSpPr/>
          <p:nvPr/>
        </p:nvSpPr>
        <p:spPr>
          <a:xfrm>
            <a:off x="3383280" y="1645920"/>
            <a:ext cx="2103120" cy="1188720"/>
          </a:xfrm>
          <a:prstGeom prst="roundRect">
            <a:avLst>
              <a:gd name="adj" fmla="val 9231"/>
            </a:avLst>
          </a:prstGeom>
          <a:solidFill>
            <a:srgbClr val="13263B"/>
          </a:solidFill>
          <a:ln w="12700">
            <a:solidFill>
              <a:srgbClr val="13263B"/>
            </a:solidFill>
            <a:prstDash val="solid"/>
          </a:ln>
        </p:spPr>
      </p:sp>
      <p:sp>
        <p:nvSpPr>
          <p:cNvPr id="11" name="Text 8"/>
          <p:cNvSpPr txBox="1"/>
          <p:nvPr/>
        </p:nvSpPr>
        <p:spPr>
          <a:xfrm>
            <a:off x="3611880" y="1810512"/>
            <a:ext cx="169164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Gateway</a:t>
            </a:r>
            <a:endParaRPr lang="en-US" sz="1700" dirty="0"/>
          </a:p>
        </p:txBody>
      </p:sp>
      <p:sp>
        <p:nvSpPr>
          <p:cNvPr id="12" name="Shape 9"/>
          <p:cNvSpPr/>
          <p:nvPr/>
        </p:nvSpPr>
        <p:spPr>
          <a:xfrm>
            <a:off x="5577840" y="2240280"/>
            <a:ext cx="548640" cy="0"/>
          </a:xfrm>
          <a:prstGeom prst="line">
            <a:avLst/>
          </a:prstGeom>
          <a:noFill/>
          <a:ln w="25400">
            <a:solidFill>
              <a:srgbClr val="8FA3B8"/>
            </a:solidFill>
            <a:prstDash val="solid"/>
            <a:tailEnd type="triangle"/>
          </a:ln>
        </p:spPr>
      </p:sp>
      <p:sp>
        <p:nvSpPr>
          <p:cNvPr id="13" name="Text 10"/>
          <p:cNvSpPr txBox="1"/>
          <p:nvPr/>
        </p:nvSpPr>
        <p:spPr>
          <a:xfrm>
            <a:off x="6217920" y="1417320"/>
            <a:ext cx="1828800" cy="274320"/>
          </a:xfrm>
          <a:prstGeom prst="rect">
            <a:avLst/>
          </a:prstGeom>
          <a:noFill/>
          <a:ln/>
        </p:spPr>
        <p:txBody>
          <a:bodyPr wrap="square" lIns="0" tIns="0" rIns="0" bIns="0" rtlCol="0" anchor="ctr"/>
          <a:lstStyle/>
          <a:p>
            <a:pPr indent="0" marL="0">
              <a:buNone/>
            </a:pPr>
            <a:r>
              <a:rPr lang="en-US" sz="1200" b="1" dirty="0">
                <a:solidFill>
                  <a:srgbClr val="8FA3B8"/>
                </a:solidFill>
                <a:latin typeface="Calibri" pitchFamily="34" charset="0"/>
                <a:ea typeface="Calibri" pitchFamily="34" charset="-122"/>
                <a:cs typeface="Calibri" pitchFamily="34" charset="-120"/>
              </a:rPr>
              <a:t>vLLM</a:t>
            </a:r>
            <a:endParaRPr lang="en-US" sz="1200" dirty="0"/>
          </a:p>
        </p:txBody>
      </p:sp>
      <p:sp>
        <p:nvSpPr>
          <p:cNvPr id="14" name="Shape 11"/>
          <p:cNvSpPr/>
          <p:nvPr/>
        </p:nvSpPr>
        <p:spPr>
          <a:xfrm>
            <a:off x="6217920" y="1737360"/>
            <a:ext cx="1737360" cy="1051560"/>
          </a:xfrm>
          <a:prstGeom prst="roundRect">
            <a:avLst>
              <a:gd name="adj" fmla="val 8696"/>
            </a:avLst>
          </a:prstGeom>
          <a:solidFill>
            <a:srgbClr val="13263B"/>
          </a:solidFill>
          <a:ln w="19050">
            <a:solidFill>
              <a:srgbClr val="8E72E6"/>
            </a:solidFill>
            <a:prstDash val="solid"/>
          </a:ln>
        </p:spPr>
      </p:sp>
      <p:sp>
        <p:nvSpPr>
          <p:cNvPr id="15" name="Text 12"/>
          <p:cNvSpPr txBox="1"/>
          <p:nvPr/>
        </p:nvSpPr>
        <p:spPr>
          <a:xfrm>
            <a:off x="6217920" y="1783080"/>
            <a:ext cx="1737360" cy="457200"/>
          </a:xfrm>
          <a:prstGeom prst="rect">
            <a:avLst/>
          </a:prstGeom>
          <a:noFill/>
          <a:ln/>
        </p:spPr>
        <p:txBody>
          <a:bodyPr wrap="square" lIns="0" tIns="0" rIns="0" bIns="0" rtlCol="0" anchor="ctr"/>
          <a:lstStyle/>
          <a:p>
            <a:pPr algn="ctr" indent="0" marL="0">
              <a:buNone/>
            </a:pPr>
            <a:r>
              <a:rPr lang="en-US" sz="1200" b="1" dirty="0">
                <a:solidFill>
                  <a:srgbClr val="EEF3F9"/>
                </a:solidFill>
                <a:latin typeface="Courier New" pitchFamily="34" charset="0"/>
                <a:ea typeface="Courier New" pitchFamily="34" charset="-122"/>
                <a:cs typeface="Courier New" pitchFamily="34" charset="-120"/>
              </a:rPr>
              <a:t>muse-glimmer</a:t>
            </a:r>
            <a:endParaRPr lang="en-US" sz="1200" dirty="0"/>
          </a:p>
        </p:txBody>
      </p:sp>
      <p:sp>
        <p:nvSpPr>
          <p:cNvPr id="16" name="Text 13"/>
          <p:cNvSpPr txBox="1"/>
          <p:nvPr/>
        </p:nvSpPr>
        <p:spPr>
          <a:xfrm>
            <a:off x="6217920" y="2240280"/>
            <a:ext cx="1737360" cy="457200"/>
          </a:xfrm>
          <a:prstGeom prst="rect">
            <a:avLst/>
          </a:prstGeom>
          <a:noFill/>
          <a:ln/>
        </p:spPr>
        <p:txBody>
          <a:bodyPr wrap="square" lIns="0" tIns="0" rIns="0" bIns="0" rtlCol="0" anchor="ctr"/>
          <a:lstStyle/>
          <a:p>
            <a:pPr algn="ctr" indent="0" marL="0">
              <a:buNone/>
            </a:pPr>
            <a:r>
              <a:rPr lang="en-US" sz="1100" dirty="0">
                <a:solidFill>
                  <a:srgbClr val="8FA3B8"/>
                </a:solidFill>
                <a:latin typeface="Calibri" pitchFamily="34" charset="0"/>
                <a:ea typeface="Calibri" pitchFamily="34" charset="-122"/>
                <a:cs typeface="Calibri" pitchFamily="34" charset="-120"/>
              </a:rPr>
              <a:t>analyste · lit</a:t>
            </a:r>
            <a:endParaRPr lang="en-US" sz="1100" dirty="0"/>
          </a:p>
        </p:txBody>
      </p:sp>
      <p:sp>
        <p:nvSpPr>
          <p:cNvPr id="17" name="Shape 14"/>
          <p:cNvSpPr/>
          <p:nvPr/>
        </p:nvSpPr>
        <p:spPr>
          <a:xfrm>
            <a:off x="8046720" y="1737360"/>
            <a:ext cx="1737360" cy="1051560"/>
          </a:xfrm>
          <a:prstGeom prst="roundRect">
            <a:avLst>
              <a:gd name="adj" fmla="val 8696"/>
            </a:avLst>
          </a:prstGeom>
          <a:solidFill>
            <a:srgbClr val="13263B"/>
          </a:solidFill>
          <a:ln w="19050">
            <a:solidFill>
              <a:srgbClr val="8E72E6"/>
            </a:solidFill>
            <a:prstDash val="solid"/>
          </a:ln>
        </p:spPr>
      </p:sp>
      <p:sp>
        <p:nvSpPr>
          <p:cNvPr id="18" name="Text 15"/>
          <p:cNvSpPr txBox="1"/>
          <p:nvPr/>
        </p:nvSpPr>
        <p:spPr>
          <a:xfrm>
            <a:off x="8046720" y="1783080"/>
            <a:ext cx="1737360" cy="457200"/>
          </a:xfrm>
          <a:prstGeom prst="rect">
            <a:avLst/>
          </a:prstGeom>
          <a:noFill/>
          <a:ln/>
        </p:spPr>
        <p:txBody>
          <a:bodyPr wrap="square" lIns="0" tIns="0" rIns="0" bIns="0" rtlCol="0" anchor="ctr"/>
          <a:lstStyle/>
          <a:p>
            <a:pPr algn="ctr" indent="0" marL="0">
              <a:buNone/>
            </a:pPr>
            <a:r>
              <a:rPr lang="en-US" sz="1200" b="1" dirty="0">
                <a:solidFill>
                  <a:srgbClr val="EEF3F9"/>
                </a:solidFill>
                <a:latin typeface="Courier New" pitchFamily="34" charset="0"/>
                <a:ea typeface="Courier New" pitchFamily="34" charset="-122"/>
                <a:cs typeface="Courier New" pitchFamily="34" charset="-120"/>
              </a:rPr>
              <a:t>glm-5-3</a:t>
            </a:r>
            <a:endParaRPr lang="en-US" sz="1200" dirty="0"/>
          </a:p>
        </p:txBody>
      </p:sp>
      <p:sp>
        <p:nvSpPr>
          <p:cNvPr id="19" name="Text 16"/>
          <p:cNvSpPr txBox="1"/>
          <p:nvPr/>
        </p:nvSpPr>
        <p:spPr>
          <a:xfrm>
            <a:off x="8046720" y="2240280"/>
            <a:ext cx="1737360" cy="457200"/>
          </a:xfrm>
          <a:prstGeom prst="rect">
            <a:avLst/>
          </a:prstGeom>
          <a:noFill/>
          <a:ln/>
        </p:spPr>
        <p:txBody>
          <a:bodyPr wrap="square" lIns="0" tIns="0" rIns="0" bIns="0" rtlCol="0" anchor="ctr"/>
          <a:lstStyle/>
          <a:p>
            <a:pPr algn="ctr" indent="0" marL="0">
              <a:buNone/>
            </a:pPr>
            <a:r>
              <a:rPr lang="en-US" sz="1100" dirty="0">
                <a:solidFill>
                  <a:srgbClr val="8FA3B8"/>
                </a:solidFill>
                <a:latin typeface="Calibri" pitchFamily="34" charset="0"/>
                <a:ea typeface="Calibri" pitchFamily="34" charset="-122"/>
                <a:cs typeface="Calibri" pitchFamily="34" charset="-120"/>
              </a:rPr>
              <a:t>juge · valide</a:t>
            </a:r>
            <a:endParaRPr lang="en-US" sz="1100" dirty="0"/>
          </a:p>
        </p:txBody>
      </p:sp>
      <p:sp>
        <p:nvSpPr>
          <p:cNvPr id="20" name="Shape 17"/>
          <p:cNvSpPr/>
          <p:nvPr/>
        </p:nvSpPr>
        <p:spPr>
          <a:xfrm>
            <a:off x="9875520" y="1737360"/>
            <a:ext cx="1737360" cy="1051560"/>
          </a:xfrm>
          <a:prstGeom prst="roundRect">
            <a:avLst>
              <a:gd name="adj" fmla="val 8696"/>
            </a:avLst>
          </a:prstGeom>
          <a:solidFill>
            <a:srgbClr val="13263B"/>
          </a:solidFill>
          <a:ln w="19050">
            <a:solidFill>
              <a:srgbClr val="8E72E6"/>
            </a:solidFill>
            <a:prstDash val="solid"/>
          </a:ln>
        </p:spPr>
      </p:sp>
      <p:sp>
        <p:nvSpPr>
          <p:cNvPr id="21" name="Text 18"/>
          <p:cNvSpPr txBox="1"/>
          <p:nvPr/>
        </p:nvSpPr>
        <p:spPr>
          <a:xfrm>
            <a:off x="9875520" y="1783080"/>
            <a:ext cx="1737360" cy="457200"/>
          </a:xfrm>
          <a:prstGeom prst="rect">
            <a:avLst/>
          </a:prstGeom>
          <a:noFill/>
          <a:ln/>
        </p:spPr>
        <p:txBody>
          <a:bodyPr wrap="square" lIns="0" tIns="0" rIns="0" bIns="0" rtlCol="0" anchor="ctr"/>
          <a:lstStyle/>
          <a:p>
            <a:pPr algn="ctr" indent="0" marL="0">
              <a:buNone/>
            </a:pPr>
            <a:r>
              <a:rPr lang="en-US" sz="1200" b="1" dirty="0">
                <a:solidFill>
                  <a:srgbClr val="EEF3F9"/>
                </a:solidFill>
                <a:latin typeface="Courier New" pitchFamily="34" charset="0"/>
                <a:ea typeface="Courier New" pitchFamily="34" charset="-122"/>
                <a:cs typeface="Courier New" pitchFamily="34" charset="-120"/>
              </a:rPr>
              <a:t>kimi-k3</a:t>
            </a:r>
            <a:endParaRPr lang="en-US" sz="1200" dirty="0"/>
          </a:p>
        </p:txBody>
      </p:sp>
      <p:sp>
        <p:nvSpPr>
          <p:cNvPr id="22" name="Text 19"/>
          <p:cNvSpPr txBox="1"/>
          <p:nvPr/>
        </p:nvSpPr>
        <p:spPr>
          <a:xfrm>
            <a:off x="9875520" y="2240280"/>
            <a:ext cx="1737360" cy="457200"/>
          </a:xfrm>
          <a:prstGeom prst="rect">
            <a:avLst/>
          </a:prstGeom>
          <a:noFill/>
          <a:ln/>
        </p:spPr>
        <p:txBody>
          <a:bodyPr wrap="square" lIns="0" tIns="0" rIns="0" bIns="0" rtlCol="0" anchor="ctr"/>
          <a:lstStyle/>
          <a:p>
            <a:pPr algn="ctr" indent="0" marL="0">
              <a:buNone/>
            </a:pPr>
            <a:r>
              <a:rPr lang="en-US" sz="1100" dirty="0">
                <a:solidFill>
                  <a:srgbClr val="8FA3B8"/>
                </a:solidFill>
                <a:latin typeface="Calibri" pitchFamily="34" charset="0"/>
                <a:ea typeface="Calibri" pitchFamily="34" charset="-122"/>
                <a:cs typeface="Calibri" pitchFamily="34" charset="-120"/>
              </a:rPr>
              <a:t>rédacteur · session</a:t>
            </a:r>
            <a:endParaRPr lang="en-US" sz="1100" dirty="0"/>
          </a:p>
        </p:txBody>
      </p:sp>
      <p:sp>
        <p:nvSpPr>
          <p:cNvPr id="23" name="Shape 20"/>
          <p:cNvSpPr/>
          <p:nvPr/>
        </p:nvSpPr>
        <p:spPr>
          <a:xfrm>
            <a:off x="548640" y="3246120"/>
            <a:ext cx="2121408" cy="2697480"/>
          </a:xfrm>
          <a:prstGeom prst="roundRect">
            <a:avLst>
              <a:gd name="adj" fmla="val 5172"/>
            </a:avLst>
          </a:prstGeom>
          <a:solidFill>
            <a:srgbClr val="13263B"/>
          </a:solidFill>
          <a:ln w="12700">
            <a:solidFill>
              <a:srgbClr val="13263B"/>
            </a:solidFill>
            <a:prstDash val="solid"/>
          </a:ln>
        </p:spPr>
      </p:sp>
      <p:sp>
        <p:nvSpPr>
          <p:cNvPr id="24" name="Shape 21"/>
          <p:cNvSpPr/>
          <p:nvPr/>
        </p:nvSpPr>
        <p:spPr>
          <a:xfrm>
            <a:off x="731520" y="3429000"/>
            <a:ext cx="411480" cy="411480"/>
          </a:xfrm>
          <a:prstGeom prst="ellipse">
            <a:avLst/>
          </a:prstGeom>
          <a:solidFill>
            <a:srgbClr val="2BA3C7"/>
          </a:solidFill>
          <a:ln w="12700">
            <a:solidFill>
              <a:srgbClr val="2BA3C7"/>
            </a:solidFill>
            <a:prstDash val="solid"/>
          </a:ln>
        </p:spPr>
      </p:sp>
      <p:sp>
        <p:nvSpPr>
          <p:cNvPr id="25" name="Text 22"/>
          <p:cNvSpPr txBox="1"/>
          <p:nvPr/>
        </p:nvSpPr>
        <p:spPr>
          <a:xfrm>
            <a:off x="731520"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26" name="Text 23"/>
          <p:cNvSpPr txBox="1"/>
          <p:nvPr/>
        </p:nvSpPr>
        <p:spPr>
          <a:xfrm>
            <a:off x="1280160" y="3410712"/>
            <a:ext cx="1207008" cy="457200"/>
          </a:xfrm>
          <a:prstGeom prst="rect">
            <a:avLst/>
          </a:prstGeom>
          <a:noFill/>
          <a:ln/>
        </p:spPr>
        <p:txBody>
          <a:bodyPr wrap="square" lIns="0" tIns="0" rIns="0" bIns="0" rtlCol="0" anchor="ctr"/>
          <a:lstStyle/>
          <a:p>
            <a:pPr indent="0" marL="0">
              <a:buNone/>
            </a:pPr>
            <a:r>
              <a:rPr lang="en-US" sz="1500" b="1" dirty="0">
                <a:solidFill>
                  <a:srgbClr val="2BA3C7"/>
                </a:solidFill>
                <a:latin typeface="Calibri" pitchFamily="34" charset="0"/>
                <a:ea typeface="Calibri" pitchFamily="34" charset="-122"/>
                <a:cs typeface="Calibri" pitchFamily="34" charset="-120"/>
              </a:rPr>
              <a:t>status</a:t>
            </a:r>
            <a:endParaRPr lang="en-US" sz="1500" dirty="0"/>
          </a:p>
        </p:txBody>
      </p:sp>
      <p:sp>
        <p:nvSpPr>
          <p:cNvPr id="27" name="Text 24"/>
          <p:cNvSpPr txBox="1"/>
          <p:nvPr/>
        </p:nvSpPr>
        <p:spPr>
          <a:xfrm>
            <a:off x="777240"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chaque modèle résolu, avec son fichier</a:t>
            </a:r>
            <a:endParaRPr lang="en-US" sz="1300" dirty="0"/>
          </a:p>
        </p:txBody>
      </p:sp>
      <p:sp>
        <p:nvSpPr>
          <p:cNvPr id="28" name="Shape 25"/>
          <p:cNvSpPr/>
          <p:nvPr/>
        </p:nvSpPr>
        <p:spPr>
          <a:xfrm>
            <a:off x="2807208" y="3246120"/>
            <a:ext cx="2121408" cy="2697480"/>
          </a:xfrm>
          <a:prstGeom prst="roundRect">
            <a:avLst>
              <a:gd name="adj" fmla="val 5172"/>
            </a:avLst>
          </a:prstGeom>
          <a:solidFill>
            <a:srgbClr val="13263B"/>
          </a:solidFill>
          <a:ln w="12700">
            <a:solidFill>
              <a:srgbClr val="13263B"/>
            </a:solidFill>
            <a:prstDash val="solid"/>
          </a:ln>
        </p:spPr>
      </p:sp>
      <p:sp>
        <p:nvSpPr>
          <p:cNvPr id="29" name="Shape 26"/>
          <p:cNvSpPr/>
          <p:nvPr/>
        </p:nvSpPr>
        <p:spPr>
          <a:xfrm>
            <a:off x="2990088" y="3429000"/>
            <a:ext cx="411480" cy="411480"/>
          </a:xfrm>
          <a:prstGeom prst="ellipse">
            <a:avLst/>
          </a:prstGeom>
          <a:solidFill>
            <a:srgbClr val="5FBF7A"/>
          </a:solidFill>
          <a:ln w="12700">
            <a:solidFill>
              <a:srgbClr val="5FBF7A"/>
            </a:solidFill>
            <a:prstDash val="solid"/>
          </a:ln>
        </p:spPr>
      </p:sp>
      <p:sp>
        <p:nvSpPr>
          <p:cNvPr id="30" name="Text 27"/>
          <p:cNvSpPr txBox="1"/>
          <p:nvPr/>
        </p:nvSpPr>
        <p:spPr>
          <a:xfrm>
            <a:off x="2990088"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31" name="Text 28"/>
          <p:cNvSpPr txBox="1"/>
          <p:nvPr/>
        </p:nvSpPr>
        <p:spPr>
          <a:xfrm>
            <a:off x="3538728" y="3410712"/>
            <a:ext cx="1207008" cy="457200"/>
          </a:xfrm>
          <a:prstGeom prst="rect">
            <a:avLst/>
          </a:prstGeom>
          <a:noFill/>
          <a:ln/>
        </p:spPr>
        <p:txBody>
          <a:bodyPr wrap="square" lIns="0" tIns="0" rIns="0" bIns="0" rtlCol="0" anchor="ctr"/>
          <a:lstStyle/>
          <a:p>
            <a:pPr indent="0" marL="0">
              <a:buNone/>
            </a:pPr>
            <a:r>
              <a:rPr lang="en-US" sz="1500" b="1" dirty="0">
                <a:solidFill>
                  <a:srgbClr val="5FBF7A"/>
                </a:solidFill>
                <a:latin typeface="Calibri" pitchFamily="34" charset="0"/>
                <a:ea typeface="Calibri" pitchFamily="34" charset="-122"/>
                <a:cs typeface="Calibri" pitchFamily="34" charset="-120"/>
              </a:rPr>
              <a:t>Une vraie tâche</a:t>
            </a:r>
            <a:endParaRPr lang="en-US" sz="1500" dirty="0"/>
          </a:p>
        </p:txBody>
      </p:sp>
      <p:sp>
        <p:nvSpPr>
          <p:cNvPr id="32" name="Text 29"/>
          <p:cNvSpPr txBox="1"/>
          <p:nvPr/>
        </p:nvSpPr>
        <p:spPr>
          <a:xfrm>
            <a:off x="3035808"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la réflexion en direct ; outils en cartes ; diffs</a:t>
            </a:r>
            <a:endParaRPr lang="en-US" sz="1300" dirty="0"/>
          </a:p>
        </p:txBody>
      </p:sp>
      <p:sp>
        <p:nvSpPr>
          <p:cNvPr id="33" name="Shape 30"/>
          <p:cNvSpPr/>
          <p:nvPr/>
        </p:nvSpPr>
        <p:spPr>
          <a:xfrm>
            <a:off x="5065776" y="3246120"/>
            <a:ext cx="2121408" cy="2697480"/>
          </a:xfrm>
          <a:prstGeom prst="roundRect">
            <a:avLst>
              <a:gd name="adj" fmla="val 5172"/>
            </a:avLst>
          </a:prstGeom>
          <a:solidFill>
            <a:srgbClr val="13263B"/>
          </a:solidFill>
          <a:ln w="12700">
            <a:solidFill>
              <a:srgbClr val="13263B"/>
            </a:solidFill>
            <a:prstDash val="solid"/>
          </a:ln>
        </p:spPr>
      </p:sp>
      <p:sp>
        <p:nvSpPr>
          <p:cNvPr id="34" name="Shape 31"/>
          <p:cNvSpPr/>
          <p:nvPr/>
        </p:nvSpPr>
        <p:spPr>
          <a:xfrm>
            <a:off x="5248656" y="3429000"/>
            <a:ext cx="411480" cy="411480"/>
          </a:xfrm>
          <a:prstGeom prst="ellipse">
            <a:avLst/>
          </a:prstGeom>
          <a:solidFill>
            <a:srgbClr val="8E72E6"/>
          </a:solidFill>
          <a:ln w="12700">
            <a:solidFill>
              <a:srgbClr val="8E72E6"/>
            </a:solidFill>
            <a:prstDash val="solid"/>
          </a:ln>
        </p:spPr>
      </p:sp>
      <p:sp>
        <p:nvSpPr>
          <p:cNvPr id="35" name="Text 32"/>
          <p:cNvSpPr txBox="1"/>
          <p:nvPr/>
        </p:nvSpPr>
        <p:spPr>
          <a:xfrm>
            <a:off x="5248656"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36" name="Text 33"/>
          <p:cNvSpPr txBox="1"/>
          <p:nvPr/>
        </p:nvSpPr>
        <p:spPr>
          <a:xfrm>
            <a:off x="5797296" y="3410712"/>
            <a:ext cx="1207008" cy="457200"/>
          </a:xfrm>
          <a:prstGeom prst="rect">
            <a:avLst/>
          </a:prstGeom>
          <a:noFill/>
          <a:ln/>
        </p:spPr>
        <p:txBody>
          <a:bodyPr wrap="square" lIns="0" tIns="0" rIns="0" bIns="0" rtlCol="0" anchor="ctr"/>
          <a:lstStyle/>
          <a:p>
            <a:pPr indent="0" marL="0">
              <a:buNone/>
            </a:pPr>
            <a:r>
              <a:rPr lang="en-US" sz="1500" b="1" dirty="0">
                <a:solidFill>
                  <a:srgbClr val="8E72E6"/>
                </a:solidFill>
                <a:latin typeface="Calibri" pitchFamily="34" charset="0"/>
                <a:ea typeface="Calibri" pitchFamily="34" charset="-122"/>
                <a:cs typeface="Calibri" pitchFamily="34" charset="-120"/>
              </a:rPr>
              <a:t>Un sous-agent</a:t>
            </a:r>
            <a:endParaRPr lang="en-US" sz="1500" dirty="0"/>
          </a:p>
        </p:txBody>
      </p:sp>
      <p:sp>
        <p:nvSpPr>
          <p:cNvPr id="37" name="Text 34"/>
          <p:cNvSpPr txBox="1"/>
          <p:nvPr/>
        </p:nvSpPr>
        <p:spPr>
          <a:xfrm>
            <a:off x="5294376"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ctrl+t — le suivre</a:t>
            </a:r>
            <a:endParaRPr lang="en-US" sz="1300" dirty="0"/>
          </a:p>
        </p:txBody>
      </p:sp>
      <p:sp>
        <p:nvSpPr>
          <p:cNvPr id="38" name="Shape 35"/>
          <p:cNvSpPr/>
          <p:nvPr/>
        </p:nvSpPr>
        <p:spPr>
          <a:xfrm>
            <a:off x="7324344" y="3246120"/>
            <a:ext cx="2121408" cy="2697480"/>
          </a:xfrm>
          <a:prstGeom prst="roundRect">
            <a:avLst>
              <a:gd name="adj" fmla="val 5172"/>
            </a:avLst>
          </a:prstGeom>
          <a:solidFill>
            <a:srgbClr val="13263B"/>
          </a:solidFill>
          <a:ln w="12700">
            <a:solidFill>
              <a:srgbClr val="13263B"/>
            </a:solidFill>
            <a:prstDash val="solid"/>
          </a:ln>
        </p:spPr>
      </p:sp>
      <p:sp>
        <p:nvSpPr>
          <p:cNvPr id="39" name="Shape 36"/>
          <p:cNvSpPr/>
          <p:nvPr/>
        </p:nvSpPr>
        <p:spPr>
          <a:xfrm>
            <a:off x="7507224" y="3429000"/>
            <a:ext cx="411480" cy="411480"/>
          </a:xfrm>
          <a:prstGeom prst="ellipse">
            <a:avLst/>
          </a:prstGeom>
          <a:solidFill>
            <a:srgbClr val="D4AF37"/>
          </a:solidFill>
          <a:ln w="12700">
            <a:solidFill>
              <a:srgbClr val="D4AF37"/>
            </a:solidFill>
            <a:prstDash val="solid"/>
          </a:ln>
        </p:spPr>
      </p:sp>
      <p:sp>
        <p:nvSpPr>
          <p:cNvPr id="40" name="Text 37"/>
          <p:cNvSpPr txBox="1"/>
          <p:nvPr/>
        </p:nvSpPr>
        <p:spPr>
          <a:xfrm>
            <a:off x="7507224"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4</a:t>
            </a:r>
            <a:endParaRPr lang="en-US" sz="1500" dirty="0"/>
          </a:p>
        </p:txBody>
      </p:sp>
      <p:sp>
        <p:nvSpPr>
          <p:cNvPr id="41" name="Text 38"/>
          <p:cNvSpPr txBox="1"/>
          <p:nvPr/>
        </p:nvSpPr>
        <p:spPr>
          <a:xfrm>
            <a:off x="8055864" y="3410712"/>
            <a:ext cx="1207008" cy="457200"/>
          </a:xfrm>
          <a:prstGeom prst="rect">
            <a:avLst/>
          </a:prstGeom>
          <a:noFill/>
          <a:ln/>
        </p:spPr>
        <p:txBody>
          <a:bodyPr wrap="square" lIns="0" tIns="0" rIns="0" bIns="0" rtlCol="0" anchor="ctr"/>
          <a:lstStyle/>
          <a:p>
            <a:pPr indent="0" marL="0">
              <a:buNone/>
            </a:pPr>
            <a:r>
              <a:rPr lang="en-US" sz="1500" b="1" dirty="0">
                <a:solidFill>
                  <a:srgbClr val="D4AF37"/>
                </a:solidFill>
                <a:latin typeface="Calibri" pitchFamily="34" charset="0"/>
                <a:ea typeface="Calibri" pitchFamily="34" charset="-122"/>
                <a:cs typeface="Calibri" pitchFamily="34" charset="-120"/>
              </a:rPr>
              <a:t>La validation</a:t>
            </a:r>
            <a:endParaRPr lang="en-US" sz="1500" dirty="0"/>
          </a:p>
        </p:txBody>
      </p:sp>
      <p:sp>
        <p:nvSpPr>
          <p:cNvPr id="42" name="Text 39"/>
          <p:cNvSpPr txBox="1"/>
          <p:nvPr/>
        </p:nvSpPr>
        <p:spPr>
          <a:xfrm>
            <a:off x="7552944"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le verdict du propriétaire, consigné</a:t>
            </a:r>
            <a:endParaRPr lang="en-US" sz="1300" dirty="0"/>
          </a:p>
        </p:txBody>
      </p:sp>
      <p:sp>
        <p:nvSpPr>
          <p:cNvPr id="43" name="Shape 40"/>
          <p:cNvSpPr/>
          <p:nvPr/>
        </p:nvSpPr>
        <p:spPr>
          <a:xfrm>
            <a:off x="9582912" y="3246120"/>
            <a:ext cx="2121408" cy="2697480"/>
          </a:xfrm>
          <a:prstGeom prst="roundRect">
            <a:avLst>
              <a:gd name="adj" fmla="val 5172"/>
            </a:avLst>
          </a:prstGeom>
          <a:solidFill>
            <a:srgbClr val="13263B"/>
          </a:solidFill>
          <a:ln w="12700">
            <a:solidFill>
              <a:srgbClr val="13263B"/>
            </a:solidFill>
            <a:prstDash val="solid"/>
          </a:ln>
        </p:spPr>
      </p:sp>
      <p:sp>
        <p:nvSpPr>
          <p:cNvPr id="44" name="Shape 41"/>
          <p:cNvSpPr/>
          <p:nvPr/>
        </p:nvSpPr>
        <p:spPr>
          <a:xfrm>
            <a:off x="9765792" y="3429000"/>
            <a:ext cx="411480" cy="411480"/>
          </a:xfrm>
          <a:prstGeom prst="ellipse">
            <a:avLst/>
          </a:prstGeom>
          <a:solidFill>
            <a:srgbClr val="E0645A"/>
          </a:solidFill>
          <a:ln w="12700">
            <a:solidFill>
              <a:srgbClr val="E0645A"/>
            </a:solidFill>
            <a:prstDash val="solid"/>
          </a:ln>
        </p:spPr>
      </p:sp>
      <p:sp>
        <p:nvSpPr>
          <p:cNvPr id="45" name="Text 42"/>
          <p:cNvSpPr txBox="1"/>
          <p:nvPr/>
        </p:nvSpPr>
        <p:spPr>
          <a:xfrm>
            <a:off x="9765792" y="342900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5</a:t>
            </a:r>
            <a:endParaRPr lang="en-US" sz="1500" dirty="0"/>
          </a:p>
        </p:txBody>
      </p:sp>
      <p:sp>
        <p:nvSpPr>
          <p:cNvPr id="46" name="Text 43"/>
          <p:cNvSpPr txBox="1"/>
          <p:nvPr/>
        </p:nvSpPr>
        <p:spPr>
          <a:xfrm>
            <a:off x="10314432" y="3410712"/>
            <a:ext cx="1207008" cy="457200"/>
          </a:xfrm>
          <a:prstGeom prst="rect">
            <a:avLst/>
          </a:prstGeom>
          <a:noFill/>
          <a:ln/>
        </p:spPr>
        <p:txBody>
          <a:bodyPr wrap="square" lIns="0" tIns="0" rIns="0" bIns="0" rtlCol="0" anchor="ctr"/>
          <a:lstStyle/>
          <a:p>
            <a:pPr indent="0" marL="0">
              <a:buNone/>
            </a:pPr>
            <a:r>
              <a:rPr lang="en-US" sz="1500" b="1" dirty="0">
                <a:solidFill>
                  <a:srgbClr val="E0645A"/>
                </a:solidFill>
                <a:latin typeface="Calibri" pitchFamily="34" charset="0"/>
                <a:ea typeface="Calibri" pitchFamily="34" charset="-122"/>
                <a:cs typeface="Calibri" pitchFamily="34" charset="-120"/>
              </a:rPr>
              <a:t>Le guard</a:t>
            </a:r>
            <a:endParaRPr lang="en-US" sz="1500" dirty="0"/>
          </a:p>
        </p:txBody>
      </p:sp>
      <p:sp>
        <p:nvSpPr>
          <p:cNvPr id="47" name="Text 44"/>
          <p:cNvSpPr txBox="1"/>
          <p:nvPr/>
        </p:nvSpPr>
        <p:spPr>
          <a:xfrm>
            <a:off x="9811512" y="3931920"/>
            <a:ext cx="1664208" cy="1874520"/>
          </a:xfrm>
          <a:prstGeom prst="rect">
            <a:avLst/>
          </a:prstGeom>
          <a:noFill/>
          <a:ln/>
        </p:spPr>
        <p:txBody>
          <a:bodyPr wrap="square" lIns="0" tIns="0" rIns="0" bIns="0" rtlCol="0" anchor="t"/>
          <a:lstStyle/>
          <a:p>
            <a:pPr indent="0" marL="0">
              <a:spcAft>
                <a:spcPts val="400"/>
              </a:spcAft>
              <a:buNone/>
            </a:pPr>
            <a:r>
              <a:rPr lang="en-US" sz="1300" dirty="0">
                <a:solidFill>
                  <a:srgbClr val="EEF3F9"/>
                </a:solidFill>
                <a:latin typeface="Calibri" pitchFamily="34" charset="0"/>
                <a:ea typeface="Calibri" pitchFamily="34" charset="-122"/>
                <a:cs typeface="Calibri" pitchFamily="34" charset="-120"/>
              </a:rPr>
              <a:t>« supprime ~ » — refusé avant toute question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A2B"/>
        </a:solidFill>
      </p:bgPr>
    </p:bg>
    <p:spTree>
      <p:nvGrpSpPr>
        <p:cNvPr id="1" name=""/>
        <p:cNvGrpSpPr/>
        <p:nvPr/>
      </p:nvGrpSpPr>
      <p:grpSpPr>
        <a:xfrm>
          <a:off x="0" y="0"/>
          <a:ext cx="0" cy="0"/>
          <a:chOff x="0" y="0"/>
          <a:chExt cx="0" cy="0"/>
        </a:xfrm>
      </p:grpSpPr>
      <p:sp>
        <p:nvSpPr>
          <p:cNvPr id="2" name="Text 0"/>
          <p:cNvSpPr txBox="1"/>
          <p:nvPr/>
        </p:nvSpPr>
        <p:spPr>
          <a:xfrm>
            <a:off x="457200" y="6473952"/>
            <a:ext cx="7315200" cy="274320"/>
          </a:xfrm>
          <a:prstGeom prst="rect">
            <a:avLst/>
          </a:prstGeom>
          <a:noFill/>
          <a:ln/>
        </p:spPr>
        <p:txBody>
          <a:bodyPr wrap="square" lIns="0" tIns="0" rIns="0" bIns="0" rtlCol="0" anchor="ctr"/>
          <a:lstStyle/>
          <a:p>
            <a:pPr indent="0" marL="0">
              <a:buNone/>
            </a:pPr>
            <a:r>
              <a:rPr lang="en-US" sz="900" spc="100" kern="0" dirty="0">
                <a:solidFill>
                  <a:srgbClr val="8FA3B8"/>
                </a:solidFill>
                <a:latin typeface="Calibri" pitchFamily="34" charset="0"/>
                <a:ea typeface="Calibri" pitchFamily="34" charset="-122"/>
                <a:cs typeface="Calibri" pitchFamily="34" charset="-120"/>
              </a:rPr>
              <a:t>AGENT-ONE ⋄ DU LLM AU HARNESS</a:t>
            </a:r>
            <a:endParaRPr lang="en-US" sz="900" dirty="0"/>
          </a:p>
        </p:txBody>
      </p:sp>
      <p:sp>
        <p:nvSpPr>
          <p:cNvPr id="3" name="Text 1"/>
          <p:cNvSpPr txBox="1"/>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8FA3B8"/>
                </a:solidFill>
                <a:latin typeface="Calibri" pitchFamily="34" charset="0"/>
                <a:ea typeface="Calibri" pitchFamily="34" charset="-122"/>
                <a:cs typeface="Calibri" pitchFamily="34" charset="-120"/>
              </a:rPr>
              <a:t>23</a:t>
            </a:r>
            <a:endParaRPr lang="en-US" sz="900" dirty="0"/>
          </a:p>
        </p:txBody>
      </p:sp>
      <p:sp>
        <p:nvSpPr>
          <p:cNvPr id="5" name="Text 2"/>
          <p:cNvSpPr txBox="1"/>
          <p:nvPr/>
        </p:nvSpPr>
        <p:spPr>
          <a:xfrm>
            <a:off x="548640" y="320040"/>
            <a:ext cx="10972800" cy="274320"/>
          </a:xfrm>
          <a:prstGeom prst="rect">
            <a:avLst/>
          </a:prstGeom>
          <a:noFill/>
          <a:ln/>
        </p:spPr>
        <p:txBody>
          <a:bodyPr wrap="square" lIns="0" tIns="0" rIns="0" bIns="0" rtlCol="0" anchor="ctr"/>
          <a:lstStyle/>
          <a:p>
            <a:pPr indent="0" marL="0">
              <a:buNone/>
            </a:pPr>
            <a:r>
              <a:rPr lang="en-US" sz="1100" b="1" spc="200" kern="0" dirty="0">
                <a:solidFill>
                  <a:srgbClr val="2BA3C7"/>
                </a:solidFill>
                <a:latin typeface="Calibri" pitchFamily="34" charset="0"/>
                <a:ea typeface="Calibri" pitchFamily="34" charset="-122"/>
                <a:cs typeface="Calibri" pitchFamily="34" charset="-120"/>
              </a:rPr>
              <a:t>À RETENIR</a:t>
            </a:r>
            <a:endParaRPr lang="en-US" sz="1100" dirty="0"/>
          </a:p>
        </p:txBody>
      </p:sp>
      <p:sp>
        <p:nvSpPr>
          <p:cNvPr id="6" name="Text 3"/>
          <p:cNvSpPr txBox="1"/>
          <p:nvPr/>
        </p:nvSpPr>
        <p:spPr>
          <a:xfrm>
            <a:off x="548640" y="594360"/>
            <a:ext cx="11064240" cy="731520"/>
          </a:xfrm>
          <a:prstGeom prst="rect">
            <a:avLst/>
          </a:prstGeom>
          <a:noFill/>
          <a:ln/>
        </p:spPr>
        <p:txBody>
          <a:bodyPr wrap="square" lIns="0" tIns="0" rIns="0" bIns="0" rtlCol="0" anchor="ctr"/>
          <a:lstStyle/>
          <a:p>
            <a:pPr indent="0" marL="0">
              <a:buNone/>
            </a:pPr>
            <a:r>
              <a:rPr lang="en-US" sz="3400" b="1" dirty="0">
                <a:solidFill>
                  <a:srgbClr val="EEF3F9"/>
                </a:solidFill>
                <a:latin typeface="Cambria" pitchFamily="34" charset="0"/>
                <a:ea typeface="Cambria" pitchFamily="34" charset="-122"/>
                <a:cs typeface="Cambria" pitchFamily="34" charset="-120"/>
              </a:rPr>
              <a:t>Trois idées à retenir</a:t>
            </a:r>
            <a:endParaRPr lang="en-US" sz="3400" dirty="0"/>
          </a:p>
        </p:txBody>
      </p:sp>
      <p:sp>
        <p:nvSpPr>
          <p:cNvPr id="7" name="Shape 4"/>
          <p:cNvSpPr/>
          <p:nvPr/>
        </p:nvSpPr>
        <p:spPr>
          <a:xfrm>
            <a:off x="548640" y="1737360"/>
            <a:ext cx="3566160" cy="2377440"/>
          </a:xfrm>
          <a:prstGeom prst="roundRect">
            <a:avLst>
              <a:gd name="adj" fmla="val 4615"/>
            </a:avLst>
          </a:prstGeom>
          <a:solidFill>
            <a:srgbClr val="13263B"/>
          </a:solidFill>
          <a:ln w="12700">
            <a:solidFill>
              <a:srgbClr val="13263B"/>
            </a:solidFill>
            <a:prstDash val="solid"/>
          </a:ln>
        </p:spPr>
      </p:sp>
      <p:sp>
        <p:nvSpPr>
          <p:cNvPr id="8" name="Shape 5"/>
          <p:cNvSpPr/>
          <p:nvPr/>
        </p:nvSpPr>
        <p:spPr>
          <a:xfrm>
            <a:off x="731520" y="1920240"/>
            <a:ext cx="411480" cy="411480"/>
          </a:xfrm>
          <a:prstGeom prst="ellipse">
            <a:avLst/>
          </a:prstGeom>
          <a:solidFill>
            <a:srgbClr val="2BA3C7"/>
          </a:solidFill>
          <a:ln w="12700">
            <a:solidFill>
              <a:srgbClr val="2BA3C7"/>
            </a:solidFill>
            <a:prstDash val="solid"/>
          </a:ln>
        </p:spPr>
      </p:sp>
      <p:sp>
        <p:nvSpPr>
          <p:cNvPr id="9" name="Text 6"/>
          <p:cNvSpPr txBox="1"/>
          <p:nvPr/>
        </p:nvSpPr>
        <p:spPr>
          <a:xfrm>
            <a:off x="731520"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1</a:t>
            </a:r>
            <a:endParaRPr lang="en-US" sz="1500" dirty="0"/>
          </a:p>
        </p:txBody>
      </p:sp>
      <p:sp>
        <p:nvSpPr>
          <p:cNvPr id="10" name="Text 7"/>
          <p:cNvSpPr txBox="1"/>
          <p:nvPr/>
        </p:nvSpPr>
        <p:spPr>
          <a:xfrm>
            <a:off x="1280160" y="1901952"/>
            <a:ext cx="2651760" cy="457200"/>
          </a:xfrm>
          <a:prstGeom prst="rect">
            <a:avLst/>
          </a:prstGeom>
          <a:noFill/>
          <a:ln/>
        </p:spPr>
        <p:txBody>
          <a:bodyPr wrap="square" lIns="0" tIns="0" rIns="0" bIns="0" rtlCol="0" anchor="ctr"/>
          <a:lstStyle/>
          <a:p>
            <a:pPr indent="0" marL="0">
              <a:buNone/>
            </a:pPr>
            <a:r>
              <a:rPr lang="en-US" sz="1700" b="1" dirty="0">
                <a:solidFill>
                  <a:srgbClr val="2BA3C7"/>
                </a:solidFill>
                <a:latin typeface="Calibri" pitchFamily="34" charset="0"/>
                <a:ea typeface="Calibri" pitchFamily="34" charset="-122"/>
                <a:cs typeface="Calibri" pitchFamily="34" charset="-120"/>
              </a:rPr>
              <a:t>Le harness fait la fiabilité</a:t>
            </a:r>
            <a:endParaRPr lang="en-US" sz="1700" dirty="0"/>
          </a:p>
        </p:txBody>
      </p:sp>
      <p:sp>
        <p:nvSpPr>
          <p:cNvPr id="11" name="Text 8"/>
          <p:cNvSpPr txBox="1"/>
          <p:nvPr/>
        </p:nvSpPr>
        <p:spPr>
          <a:xfrm>
            <a:off x="777240" y="24231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même modèle, harness différent, résultats différents</a:t>
            </a:r>
            <a:endParaRPr lang="en-US" sz="1500" dirty="0"/>
          </a:p>
        </p:txBody>
      </p:sp>
      <p:sp>
        <p:nvSpPr>
          <p:cNvPr id="12" name="Shape 9"/>
          <p:cNvSpPr/>
          <p:nvPr/>
        </p:nvSpPr>
        <p:spPr>
          <a:xfrm>
            <a:off x="4297680" y="1737360"/>
            <a:ext cx="3566160" cy="2377440"/>
          </a:xfrm>
          <a:prstGeom prst="roundRect">
            <a:avLst>
              <a:gd name="adj" fmla="val 4615"/>
            </a:avLst>
          </a:prstGeom>
          <a:solidFill>
            <a:srgbClr val="13263B"/>
          </a:solidFill>
          <a:ln w="12700">
            <a:solidFill>
              <a:srgbClr val="13263B"/>
            </a:solidFill>
            <a:prstDash val="solid"/>
          </a:ln>
        </p:spPr>
      </p:sp>
      <p:sp>
        <p:nvSpPr>
          <p:cNvPr id="13" name="Shape 10"/>
          <p:cNvSpPr/>
          <p:nvPr/>
        </p:nvSpPr>
        <p:spPr>
          <a:xfrm>
            <a:off x="4480560" y="1920240"/>
            <a:ext cx="411480" cy="411480"/>
          </a:xfrm>
          <a:prstGeom prst="ellipse">
            <a:avLst/>
          </a:prstGeom>
          <a:solidFill>
            <a:srgbClr val="E0645A"/>
          </a:solidFill>
          <a:ln w="12700">
            <a:solidFill>
              <a:srgbClr val="E0645A"/>
            </a:solidFill>
            <a:prstDash val="solid"/>
          </a:ln>
        </p:spPr>
      </p:sp>
      <p:sp>
        <p:nvSpPr>
          <p:cNvPr id="14" name="Text 11"/>
          <p:cNvSpPr txBox="1"/>
          <p:nvPr/>
        </p:nvSpPr>
        <p:spPr>
          <a:xfrm>
            <a:off x="4480560"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2</a:t>
            </a:r>
            <a:endParaRPr lang="en-US" sz="1500" dirty="0"/>
          </a:p>
        </p:txBody>
      </p:sp>
      <p:sp>
        <p:nvSpPr>
          <p:cNvPr id="15" name="Text 12"/>
          <p:cNvSpPr txBox="1"/>
          <p:nvPr/>
        </p:nvSpPr>
        <p:spPr>
          <a:xfrm>
            <a:off x="5029200" y="1901952"/>
            <a:ext cx="2651760" cy="457200"/>
          </a:xfrm>
          <a:prstGeom prst="rect">
            <a:avLst/>
          </a:prstGeom>
          <a:noFill/>
          <a:ln/>
        </p:spPr>
        <p:txBody>
          <a:bodyPr wrap="square" lIns="0" tIns="0" rIns="0" bIns="0" rtlCol="0" anchor="ctr"/>
          <a:lstStyle/>
          <a:p>
            <a:pPr indent="0" marL="0">
              <a:buNone/>
            </a:pPr>
            <a:r>
              <a:rPr lang="en-US" sz="1700" b="1" dirty="0">
                <a:solidFill>
                  <a:srgbClr val="E0645A"/>
                </a:solidFill>
                <a:latin typeface="Calibri" pitchFamily="34" charset="0"/>
                <a:ea typeface="Calibri" pitchFamily="34" charset="-122"/>
                <a:cs typeface="Calibri" pitchFamily="34" charset="-120"/>
              </a:rPr>
              <a:t>Les règles vont dans le code</a:t>
            </a:r>
            <a:endParaRPr lang="en-US" sz="1700" dirty="0"/>
          </a:p>
        </p:txBody>
      </p:sp>
      <p:sp>
        <p:nvSpPr>
          <p:cNvPr id="16" name="Text 13"/>
          <p:cNvSpPr txBox="1"/>
          <p:nvPr/>
        </p:nvSpPr>
        <p:spPr>
          <a:xfrm>
            <a:off x="4526280" y="24231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une règle dans un prompt est un vœu</a:t>
            </a:r>
            <a:endParaRPr lang="en-US" sz="1500" dirty="0"/>
          </a:p>
        </p:txBody>
      </p:sp>
      <p:sp>
        <p:nvSpPr>
          <p:cNvPr id="17" name="Shape 14"/>
          <p:cNvSpPr/>
          <p:nvPr/>
        </p:nvSpPr>
        <p:spPr>
          <a:xfrm>
            <a:off x="8046720" y="1737360"/>
            <a:ext cx="3566160" cy="2377440"/>
          </a:xfrm>
          <a:prstGeom prst="roundRect">
            <a:avLst>
              <a:gd name="adj" fmla="val 4615"/>
            </a:avLst>
          </a:prstGeom>
          <a:solidFill>
            <a:srgbClr val="13263B"/>
          </a:solidFill>
          <a:ln w="12700">
            <a:solidFill>
              <a:srgbClr val="13263B"/>
            </a:solidFill>
            <a:prstDash val="solid"/>
          </a:ln>
        </p:spPr>
      </p:sp>
      <p:sp>
        <p:nvSpPr>
          <p:cNvPr id="18" name="Shape 15"/>
          <p:cNvSpPr/>
          <p:nvPr/>
        </p:nvSpPr>
        <p:spPr>
          <a:xfrm>
            <a:off x="8229600" y="1920240"/>
            <a:ext cx="411480" cy="411480"/>
          </a:xfrm>
          <a:prstGeom prst="ellipse">
            <a:avLst/>
          </a:prstGeom>
          <a:solidFill>
            <a:srgbClr val="D4AF37"/>
          </a:solidFill>
          <a:ln w="12700">
            <a:solidFill>
              <a:srgbClr val="D4AF37"/>
            </a:solidFill>
            <a:prstDash val="solid"/>
          </a:ln>
        </p:spPr>
      </p:sp>
      <p:sp>
        <p:nvSpPr>
          <p:cNvPr id="19" name="Text 16"/>
          <p:cNvSpPr txBox="1"/>
          <p:nvPr/>
        </p:nvSpPr>
        <p:spPr>
          <a:xfrm>
            <a:off x="8229600" y="1920240"/>
            <a:ext cx="411480" cy="411480"/>
          </a:xfrm>
          <a:prstGeom prst="rect">
            <a:avLst/>
          </a:prstGeom>
          <a:noFill/>
          <a:ln/>
        </p:spPr>
        <p:txBody>
          <a:bodyPr wrap="square" lIns="0" tIns="0" rIns="0" bIns="0" rtlCol="0" anchor="ctr"/>
          <a:lstStyle/>
          <a:p>
            <a:pPr algn="ctr" indent="0" marL="0">
              <a:buNone/>
            </a:pPr>
            <a:r>
              <a:rPr lang="en-US" sz="1500" b="1" dirty="0">
                <a:solidFill>
                  <a:srgbClr val="0B1A2B"/>
                </a:solidFill>
                <a:latin typeface="Cambria" pitchFamily="34" charset="0"/>
                <a:ea typeface="Cambria" pitchFamily="34" charset="-122"/>
                <a:cs typeface="Cambria" pitchFamily="34" charset="-120"/>
              </a:rPr>
              <a:t>3</a:t>
            </a:r>
            <a:endParaRPr lang="en-US" sz="1500" dirty="0"/>
          </a:p>
        </p:txBody>
      </p:sp>
      <p:sp>
        <p:nvSpPr>
          <p:cNvPr id="20" name="Text 17"/>
          <p:cNvSpPr txBox="1"/>
          <p:nvPr/>
        </p:nvSpPr>
        <p:spPr>
          <a:xfrm>
            <a:off x="8778240" y="1901952"/>
            <a:ext cx="2651760" cy="457200"/>
          </a:xfrm>
          <a:prstGeom prst="rect">
            <a:avLst/>
          </a:prstGeom>
          <a:noFill/>
          <a:ln/>
        </p:spPr>
        <p:txBody>
          <a:bodyPr wrap="square" lIns="0" tIns="0" rIns="0" bIns="0" rtlCol="0" anchor="ctr"/>
          <a:lstStyle/>
          <a:p>
            <a:pPr indent="0" marL="0">
              <a:buNone/>
            </a:pPr>
            <a:r>
              <a:rPr lang="en-US" sz="1700" b="1" dirty="0">
                <a:solidFill>
                  <a:srgbClr val="D4AF37"/>
                </a:solidFill>
                <a:latin typeface="Calibri" pitchFamily="34" charset="0"/>
                <a:ea typeface="Calibri" pitchFamily="34" charset="-122"/>
                <a:cs typeface="Calibri" pitchFamily="34" charset="-120"/>
              </a:rPr>
              <a:t>Apprendre exige des garde-fous</a:t>
            </a:r>
            <a:endParaRPr lang="en-US" sz="1700" dirty="0"/>
          </a:p>
        </p:txBody>
      </p:sp>
      <p:sp>
        <p:nvSpPr>
          <p:cNvPr id="21" name="Text 18"/>
          <p:cNvSpPr txBox="1"/>
          <p:nvPr/>
        </p:nvSpPr>
        <p:spPr>
          <a:xfrm>
            <a:off x="8275320" y="2423160"/>
            <a:ext cx="3108960" cy="1554480"/>
          </a:xfrm>
          <a:prstGeom prst="rect">
            <a:avLst/>
          </a:prstGeom>
          <a:noFill/>
          <a:ln/>
        </p:spPr>
        <p:txBody>
          <a:bodyPr wrap="square" lIns="0" tIns="0" rIns="0" bIns="0" rtlCol="0" anchor="t"/>
          <a:lstStyle/>
          <a:p>
            <a:pPr indent="0" marL="0">
              <a:spcAft>
                <a:spcPts val="400"/>
              </a:spcAft>
              <a:buNone/>
            </a:pPr>
            <a:r>
              <a:rPr lang="en-US" sz="1500" dirty="0">
                <a:solidFill>
                  <a:srgbClr val="EEF3F9"/>
                </a:solidFill>
                <a:latin typeface="Calibri" pitchFamily="34" charset="0"/>
                <a:ea typeface="Calibri" pitchFamily="34" charset="-122"/>
                <a:cs typeface="Calibri" pitchFamily="34" charset="-120"/>
              </a:rPr>
              <a:t>mémoire, skills, vérificateurs — impossibles à tromper</a:t>
            </a:r>
            <a:endParaRPr lang="en-US" sz="1500" dirty="0"/>
          </a:p>
        </p:txBody>
      </p:sp>
      <p:sp>
        <p:nvSpPr>
          <p:cNvPr id="22" name="Text 19"/>
          <p:cNvSpPr txBox="1"/>
          <p:nvPr/>
        </p:nvSpPr>
        <p:spPr>
          <a:xfrm>
            <a:off x="548640" y="4572000"/>
            <a:ext cx="10972800" cy="914400"/>
          </a:xfrm>
          <a:prstGeom prst="rect">
            <a:avLst/>
          </a:prstGeom>
          <a:noFill/>
          <a:ln/>
        </p:spPr>
        <p:txBody>
          <a:bodyPr wrap="square" lIns="0" tIns="0" rIns="0" bIns="0" rtlCol="0" anchor="ctr"/>
          <a:lstStyle/>
          <a:p>
            <a:pPr indent="0" marL="0">
              <a:buNone/>
            </a:pPr>
            <a:r>
              <a:rPr lang="en-US" sz="4000" b="1" dirty="0">
                <a:solidFill>
                  <a:srgbClr val="EEF3F9"/>
                </a:solidFill>
                <a:latin typeface="Cambria" pitchFamily="34" charset="0"/>
                <a:ea typeface="Cambria" pitchFamily="34" charset="-122"/>
                <a:cs typeface="Cambria" pitchFamily="34" charset="-120"/>
              </a:rPr>
              <a:t>Questions ?</a:t>
            </a:r>
            <a:endParaRPr lang="en-US" sz="4000" dirty="0"/>
          </a:p>
        </p:txBody>
      </p:sp>
      <p:sp>
        <p:nvSpPr>
          <p:cNvPr id="23" name="Text 20"/>
          <p:cNvSpPr txBox="1"/>
          <p:nvPr/>
        </p:nvSpPr>
        <p:spPr>
          <a:xfrm>
            <a:off x="548640" y="5440680"/>
            <a:ext cx="10972800" cy="365760"/>
          </a:xfrm>
          <a:prstGeom prst="rect">
            <a:avLst/>
          </a:prstGeom>
          <a:noFill/>
          <a:ln/>
        </p:spPr>
        <p:txBody>
          <a:bodyPr wrap="square" lIns="0" tIns="0" rIns="0" bIns="0" rtlCol="0" anchor="ctr"/>
          <a:lstStyle/>
          <a:p>
            <a:pPr indent="0" marL="0">
              <a:buNone/>
            </a:pPr>
            <a:r>
              <a:rPr lang="en-US" sz="1400" dirty="0">
                <a:solidFill>
                  <a:srgbClr val="2BA3C7"/>
                </a:solidFill>
                <a:latin typeface="Courier New" pitchFamily="34" charset="0"/>
                <a:ea typeface="Courier New" pitchFamily="34" charset="-122"/>
                <a:cs typeface="Courier New" pitchFamily="34" charset="-120"/>
              </a:rPr>
              <a:t>github.com/Kaginari/agent-one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Du LLM au harness — et Agent-One</dc:title>
  <dc:subject>PptxGenJS Presentation</dc:subject>
  <dc:creator>PptxGenJS</dc:creator>
  <cp:lastModifiedBy>PptxGenJS</cp:lastModifiedBy>
  <cp:revision>1</cp:revision>
  <dcterms:created xsi:type="dcterms:W3CDTF">2026-10-11T10:15:29Z</dcterms:created>
  <dcterms:modified xsi:type="dcterms:W3CDTF">2026-10-11T10:15:29Z</dcterms:modified>
</cp:coreProperties>
</file>