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the next twenty minutes: what an AI agent really is beyond the model, how today's harnesses differ, how some of them now learn from their own runs — and Agent-One, the harness we built, running live on our own vLLM models behind our gateway. Keep one idea in mind throughout: the model gives the intelligence, the harness gives the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First, from a bare language model to an agent, and the layers every agent is built from. Second, the harnesses you have heard of — Claude Code, Codex, OpenCode, Pi — and what really separates them. Third, the newest idea: harnesses that learn from their own runs, with Hermes and Prime Agent as examples. Fourth, Agent-One: its safety model, what you can see while it works, how it is configured for an enterprise — and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bare model. A large language model is a function: text in, text out. It cannot read your repository, run a test or call an API — it has no hands. It remembers nothing between calls — every request starts from zero. Its knowledge stops at its training date. And it cannot check its own work: it will state a wrong answer with the same confidence as a right one. Everything we will see today exists to close these four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puts the model in a loop with tools. It observes — reads files, runs commands; it thinks — the model decides the next step; it acts — calls a tool; it checks — reads the result, and loops until the task is done. That is the agent. The harness is everything around the model that makes this loop useful and safe: which tools exist, what context the model sees, what it may do without asking, how it remembers, how you watch it. Same model, different harness, very different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build it up, one containing area at a time. At the centre, the model alone: a bounded mind. Brilliant inside its box, but the box is closed: text in, text out, knowledge frozen at its training date, no hands, no memory. Everything around it, from now on, is something we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wrap: a system prompt and tools. The prompt tells the model who it is and what the rules are; the tools give it hands. Now it can read a file or run a command. That is an agent — but a single shot: it acts once, and nobody checks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wrap: the harness. A loop, so the agent keeps going until the task is done and checks its own results. Context management and memory, so long work fits and knowledge survives the session. Permissions and a sandbox, so it can only do what it is allowed to. Claude Code, Codex, OpenCode all live at this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wrap is Agent-One. Around a complete harness, it adds what an enterprise needs: a guard and a gate that enforce the policy in code rather than in the prompt; previews — dry-run, diffs, a live dashboard — so you see before and while it acts; a team of subagents and roles on different models; your own gateway, registry and containers; and a workspace that remembers and learns from every run. Same model at the centre — very different reliability at the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agent, whoever builds it, is made of the same layers. At the bottom, the models — a provider, or your own models behind a gateway. Above, the loop that drives them, and the tools the loop can call, including MCP servers. Then context and memory: what the model sees now, and what survives the session. Then safety: permissions, the sandbox, guardrails, review gates. Then what you see: observability and the interface. Keep this picture — I will map each harness, and Agent-One, onto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landscape moves every month; here are the harnesses you will meet. The vendor CLIs — Claude Code from Anthropic, Codex from OpenAI, Gemini CLI from Google — are polished and tuned for their own models. The open, model-agnostic ones — OpenCode, Pi, Aider, Goose from Block — run on any provider, including self-hosted models. The IDE agents — Cursor, Cline — live in the editor. Under the logos, they all implement the same layers; they differ in who chooses the model, where they run, and how much they let you enforce.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actually separates them? Four questions to ask of any harness before you adopt it. Who chooses the model — the vendor, or you, including your own vLLM models? Where does it run — your terminal, the editor, the vendor's cloud? How far can you extend it — skills, MCP servers, hooks, plugins? And the one ops teams care most about: are the rules enforced in code, or only written in a prompt the model may ignore? Most harnesses ask before a risky command; very few can guarantee a rule is followed.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newest idea: harnesses that get better from their own runs, without retraining the model. It comes in four levels. First, remember: notes and memory that survive the session. Second, write procedures: the agent turns a workflow it repeated into a reusable skill. Third, check and retry: a verifier — tests, a gate — sends a failure back to the agent instead of stopping. Fourth, train: the runs themselves become training data. Each level is more powerful and needs more guardrails — a harness that edits itself must not be able to cheat its own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Hermes Agent, from Nous Research, is built around a learning loop. Every session goes into a searchable store, so the agent can recall what was actually said weeks ago — not a summary. It writes and refines its own skills from the workflows it repeats, with an option to stage them for human approval. Skills load in levels, so hundreds cost almost nothing until used. And its runs can be exported as trajectories to train models with reinforcement learning. The lesson for us: memory and skills are where a harness learns.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 Agent, from Prime Intellect, puts the learning in the loop itself. Its autonomous gate runs a check before a session may finish; if it fails, the output goes back to the agent for another try — the check, not the model, decides when it is done. Sessions are branching files: you can fork a run and try two plans from the same point. Heartbeats inject scheduled messages, for example to watch a sub-agent. Persistent sub-agents keep their memory and wake when addressed. And the harness can refine its own configuration from a run. The lesson: verifiers and branches make an agent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Agent-One is our harness: one Go binary, no runtime to install. Its promise is simple — the rules are enforced in code, not written in a prompt the model may skip. An orchestrator dispatches sub-agents that own parts of the codebase; three model roles split the work — an analyst reads, a judge reviews, a drafter writes — each on its own model with a fallback. It talks to any OpenAI-compatible endpoint, which is exactly what our gateway in front of vLLM is. And it comes with a terminal interface in the class of Claude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Agent-One on the same layer picture. Models: our gateway, the models declared in a registry, each role with a fallback. The loop: perceive, recall, plan, act, verify, record — every step journaled. Tools: built-ins, MCP servers, custom tools, and a registry the agent searches instead of loading everything. Memory: notes and a searchable index, and when the context fills, it is drained to memory by reference, not summarised away. Safety: a guard, human approval, a review gate, the sandbox or a container. Interfaces and observability: the terminal, a dashboard, JSON output for CI, usage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 in four layers. The guard refuses the catastrophic before anything else — wiping a disk, deleting home, force-pushing, deleting a repository, reading a password store; no approval can run it, and the same list can protect Claude Code and OpenCode on the same machine. Human approval classifies every command — read, write, outward, destructive — and asks you for the last two. The review gate checks every change before the turn ends: the right owner, the checks still pass, the tests were not weakened, the docs changed — and a failure goes back to the agent once. Around it all, a sandbox or a container. A number from building it: testing against 151 real commands showed 37 dangerous ones our first classifier let through. Fixed, and tested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Seeing before and while it acts — the second thing ops teams ask for. Dry-run: the agent plans and tells you what it would run and what it would ask, and runs nothing. Every edit shows its diff, in the code's own colours, before it lands. You see the model's thinking as it arrives. And with one key you watch every agent: the orchestrator and each sub-agent, its thinking and its steps, live. The dashboard shows the whole workspace: who owns what, as a graph, and what each model has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took from the self-learning harnesses, with guardrails. From Prime: the gate that sends a failure back instead of stopping — and a goal mode that keeps working until a command you choose passes; the harness runs that command itself, so the model can neither skip nor edit it. Against reward hacking: the gate runs the checks as they were before the turn, and fails a turn that deletes or skips tests. From Hermes: memory that is recalled, not summarised; knowledge the agent held but never wrote down is surfaced and filed. A handoff note carries a session into the next. And two reviewers on two different models, merged into one shortlist that you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harness now measures and heals its own team. Every run lands in a value ledger as pass, fail or neutral, and each rank is scored by its own job: a zone worker on the changes that land, a domain owner on verdicts that hold up, a coordinator on plans that land — shown as meters in the terminal and the dashboard. When an agent's runs keep failing, its strain grows: at five its manager must answer — rewrite the instruction, split the work or escalate; after three answers it rises to you; at seven the zone itself is split or retired. A stressed agent whose notes overflow evolves — split, mutate or rebirth — staged and proven before it lands. And the forge turns what a run proved into a skill you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Configuration for an enterprise. The configuration is YAML, layered — global, project, local, environment, flags — and can be split into one file per part, so each team owns its file. The registry says where things come from: the models the gateway serves, the tools the agent can find, our private Artifactory for npm, pip and Go — npm, pip and Go each log in to it the way they read a login, and with policy private-only a command that fetches packages from anywhere else is refused — and the image the container runs. Secrets are only ever named: the configuration holds the variable's name, never the key. And one command shows every value with the file and line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on our own models. Agent-One talks to our gateway, which fronts vLLM serving three models: muse-glimmer, fast, reads; glm-5-3 reviews; kimi-k3, the strongest, writes and runs the session — each with a fallback from another family. Five steps: status shows every model resolved from the configuration, with its file. Then a real task: watch the thinking and the tool cards. A sub-agent takes a part — ctrl+t to watch it. At the end the domain owner reviews the change and the verdict lands in the log. Last, I ask it to delete the home directory: the guard refuses, before anything asks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take away. One: reliability comes from the harness, not only from the model — the same model does very different work in different harnesses. Two: rules that matter must be enforced in code; a rule in a prompt is a wish. Three: the next step is harnesses that learn from their own runs — memory, skills, verifiers — and that only works if the harness cannot cheat its own checks. Agent-One is where we put these ideas to work, on our own models. Thank you —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2B"/>
        </a:solidFill>
      </p:bgPr>
    </p:bg>
    <p:spTree>
      <p:nvGrpSpPr>
        <p:cNvPr id="1" name=""/>
        <p:cNvGrpSpPr/>
        <p:nvPr/>
      </p:nvGrpSpPr>
      <p:grpSpPr>
        <a:xfrm>
          <a:off x="0" y="0"/>
          <a:ext cx="0" cy="0"/>
          <a:chOff x="0" y="0"/>
          <a:chExt cx="0" cy="0"/>
        </a:xfrm>
      </p:grpSpPr>
      <p:pic>
        <p:nvPicPr>
          <p:cNvPr id="3" name="Image 0" descr="/home/monta/convention-jura/agent-one/portraits/orchestrator.png">    </p:cNvPr>
          <p:cNvPicPr>
            <a:picLocks noChangeAspect="1"/>
          </p:cNvPicPr>
          <p:nvPr/>
        </p:nvPicPr>
        <p:blipFill>
          <a:blip r:embed="rId1"/>
          <a:stretch>
            <a:fillRect/>
          </a:stretch>
        </p:blipFill>
        <p:spPr>
          <a:xfrm>
            <a:off x="548640" y="822960"/>
            <a:ext cx="1463040" cy="1463040"/>
          </a:xfrm>
          <a:prstGeom prst="rect">
            <a:avLst/>
          </a:prstGeom>
        </p:spPr>
      </p:pic>
      <p:sp>
        <p:nvSpPr>
          <p:cNvPr id="4" name="Text 0"/>
          <p:cNvSpPr txBox="1"/>
          <p:nvPr/>
        </p:nvSpPr>
        <p:spPr>
          <a:xfrm>
            <a:off x="548640" y="2560320"/>
            <a:ext cx="10972800" cy="1005840"/>
          </a:xfrm>
          <a:prstGeom prst="rect">
            <a:avLst/>
          </a:prstGeom>
          <a:noFill/>
          <a:ln/>
        </p:spPr>
        <p:txBody>
          <a:bodyPr wrap="square" lIns="0" tIns="0" rIns="0" bIns="0" rtlCol="0" anchor="ctr"/>
          <a:lstStyle/>
          <a:p>
            <a:pPr indent="0" marL="0">
              <a:buNone/>
            </a:pPr>
            <a:r>
              <a:rPr lang="en-US" sz="4800" b="1" dirty="0">
                <a:solidFill>
                  <a:srgbClr val="EEF3F9"/>
                </a:solidFill>
                <a:latin typeface="Cambria" pitchFamily="34" charset="0"/>
                <a:ea typeface="Cambria" pitchFamily="34" charset="-122"/>
                <a:cs typeface="Cambria" pitchFamily="34" charset="-120"/>
              </a:rPr>
              <a:t>From the LLM to the harness</a:t>
            </a:r>
            <a:endParaRPr lang="en-US" sz="4800" dirty="0"/>
          </a:p>
        </p:txBody>
      </p:sp>
      <p:sp>
        <p:nvSpPr>
          <p:cNvPr id="5" name="Text 1"/>
          <p:cNvSpPr txBox="1"/>
          <p:nvPr/>
        </p:nvSpPr>
        <p:spPr>
          <a:xfrm>
            <a:off x="548640" y="3566160"/>
            <a:ext cx="10972800" cy="548640"/>
          </a:xfrm>
          <a:prstGeom prst="rect">
            <a:avLst/>
          </a:prstGeom>
          <a:noFill/>
          <a:ln/>
        </p:spPr>
        <p:txBody>
          <a:bodyPr wrap="square" lIns="0" tIns="0" rIns="0" bIns="0" rtlCol="0" anchor="ctr"/>
          <a:lstStyle/>
          <a:p>
            <a:pPr indent="0" marL="0">
              <a:buNone/>
            </a:pPr>
            <a:r>
              <a:rPr lang="en-US" sz="2200" dirty="0">
                <a:solidFill>
                  <a:srgbClr val="2BA3C7"/>
                </a:solidFill>
                <a:latin typeface="Calibri" pitchFamily="34" charset="0"/>
                <a:ea typeface="Calibri" pitchFamily="34" charset="-122"/>
                <a:cs typeface="Calibri" pitchFamily="34" charset="-120"/>
              </a:rPr>
              <a:t>…and Agent-One: policies enforced in code, on our own models</a:t>
            </a:r>
            <a:endParaRPr lang="en-US" sz="2200" dirty="0"/>
          </a:p>
        </p:txBody>
      </p:sp>
      <p:sp>
        <p:nvSpPr>
          <p:cNvPr id="6" name="Text 2"/>
          <p:cNvSpPr txBox="1"/>
          <p:nvPr/>
        </p:nvSpPr>
        <p:spPr>
          <a:xfrm>
            <a:off x="548640" y="4206240"/>
            <a:ext cx="10972800" cy="365760"/>
          </a:xfrm>
          <a:prstGeom prst="rect">
            <a:avLst/>
          </a:prstGeom>
          <a:noFill/>
          <a:ln/>
        </p:spPr>
        <p:txBody>
          <a:bodyPr wrap="square" lIns="0" tIns="0" rIns="0" bIns="0" rtlCol="0" anchor="ctr"/>
          <a:lstStyle/>
          <a:p>
            <a:pPr indent="0" marL="0">
              <a:buNone/>
            </a:pPr>
            <a:r>
              <a:rPr lang="en-US" sz="1500" dirty="0">
                <a:solidFill>
                  <a:srgbClr val="8FA3B8"/>
                </a:solidFill>
                <a:latin typeface="Calibri" pitchFamily="34" charset="0"/>
                <a:ea typeface="Calibri" pitchFamily="34" charset="-122"/>
                <a:cs typeface="Calibri" pitchFamily="34" charset="-120"/>
              </a:rPr>
              <a:t>Agents · harnesses · self-learning · a live demo on vLLM</a:t>
            </a:r>
            <a:endParaRPr lang="en-US" sz="1500" dirty="0"/>
          </a:p>
        </p:txBody>
      </p:sp>
      <p:sp>
        <p:nvSpPr>
          <p:cNvPr id="7" name="Shape 3"/>
          <p:cNvSpPr/>
          <p:nvPr/>
        </p:nvSpPr>
        <p:spPr>
          <a:xfrm>
            <a:off x="548640" y="5120640"/>
            <a:ext cx="2926080" cy="384048"/>
          </a:xfrm>
          <a:prstGeom prst="roundRect">
            <a:avLst>
              <a:gd name="adj" fmla="val 50000"/>
            </a:avLst>
          </a:prstGeom>
          <a:solidFill>
            <a:srgbClr val="D4AF37"/>
          </a:solidFill>
          <a:ln w="12700">
            <a:solidFill>
              <a:srgbClr val="D4AF37"/>
            </a:solidFill>
            <a:prstDash val="solid"/>
          </a:ln>
        </p:spPr>
      </p:sp>
      <p:sp>
        <p:nvSpPr>
          <p:cNvPr id="8" name="Text 4"/>
          <p:cNvSpPr txBox="1"/>
          <p:nvPr/>
        </p:nvSpPr>
        <p:spPr>
          <a:xfrm>
            <a:off x="548640" y="5120640"/>
            <a:ext cx="2926080" cy="384048"/>
          </a:xfrm>
          <a:prstGeom prst="rect">
            <a:avLst/>
          </a:prstGeom>
          <a:noFill/>
          <a:ln/>
        </p:spPr>
        <p:txBody>
          <a:bodyPr wrap="square" lIns="0" tIns="0" rIns="0" bIns="0" rtlCol="0" anchor="ctr"/>
          <a:lstStyle/>
          <a:p>
            <a:pPr algn="ctr" indent="0" marL="0">
              <a:buNone/>
            </a:pPr>
            <a:r>
              <a:rPr lang="en-US" sz="1300" b="1" dirty="0">
                <a:solidFill>
                  <a:srgbClr val="0B1A2B"/>
                </a:solidFill>
                <a:latin typeface="Calibri" pitchFamily="34" charset="0"/>
                <a:ea typeface="Calibri" pitchFamily="34" charset="-122"/>
                <a:cs typeface="Calibri" pitchFamily="34" charset="-120"/>
              </a:rPr>
              <a:t>20 minutes · AI, ops, dev</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2</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AGENDA</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Four steps, twenty minutes</a:t>
            </a:r>
            <a:endParaRPr lang="en-US" sz="3400" dirty="0"/>
          </a:p>
        </p:txBody>
      </p:sp>
      <p:sp>
        <p:nvSpPr>
          <p:cNvPr id="7" name="Shape 4"/>
          <p:cNvSpPr/>
          <p:nvPr/>
        </p:nvSpPr>
        <p:spPr>
          <a:xfrm>
            <a:off x="548640" y="1737360"/>
            <a:ext cx="2651760" cy="3291840"/>
          </a:xfrm>
          <a:prstGeom prst="roundRect">
            <a:avLst>
              <a:gd name="adj" fmla="val 4138"/>
            </a:avLst>
          </a:prstGeom>
          <a:solidFill>
            <a:srgbClr val="13263B"/>
          </a:solidFill>
          <a:ln w="12700">
            <a:solidFill>
              <a:srgbClr val="13263B"/>
            </a:solidFill>
            <a:prstDash val="solid"/>
          </a:ln>
        </p:spPr>
      </p:sp>
      <p:sp>
        <p:nvSpPr>
          <p:cNvPr id="8" name="Shape 5"/>
          <p:cNvSpPr/>
          <p:nvPr/>
        </p:nvSpPr>
        <p:spPr>
          <a:xfrm>
            <a:off x="731520" y="1920240"/>
            <a:ext cx="411480" cy="411480"/>
          </a:xfrm>
          <a:prstGeom prst="ellipse">
            <a:avLst/>
          </a:prstGeom>
          <a:solidFill>
            <a:srgbClr val="2BA3C7"/>
          </a:solidFill>
          <a:ln w="12700">
            <a:solidFill>
              <a:srgbClr val="2BA3C7"/>
            </a:solidFill>
            <a:prstDash val="solid"/>
          </a:ln>
        </p:spPr>
      </p:sp>
      <p:sp>
        <p:nvSpPr>
          <p:cNvPr id="9" name="Text 6"/>
          <p:cNvSpPr txBox="1"/>
          <p:nvPr/>
        </p:nvSpPr>
        <p:spPr>
          <a:xfrm>
            <a:off x="731520" y="19202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1</a:t>
            </a:r>
            <a:endParaRPr lang="en-US" sz="1500" dirty="0"/>
          </a:p>
        </p:txBody>
      </p:sp>
      <p:sp>
        <p:nvSpPr>
          <p:cNvPr id="10" name="Text 7"/>
          <p:cNvSpPr txBox="1"/>
          <p:nvPr/>
        </p:nvSpPr>
        <p:spPr>
          <a:xfrm>
            <a:off x="1280160" y="1901952"/>
            <a:ext cx="173736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From LLM to agent</a:t>
            </a:r>
            <a:endParaRPr lang="en-US" sz="1700" dirty="0"/>
          </a:p>
        </p:txBody>
      </p:sp>
      <p:sp>
        <p:nvSpPr>
          <p:cNvPr id="11" name="Text 8"/>
          <p:cNvSpPr txBox="1"/>
          <p:nvPr/>
        </p:nvSpPr>
        <p:spPr>
          <a:xfrm>
            <a:off x="777240" y="2423160"/>
            <a:ext cx="2194560" cy="246888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the loop, the layers</a:t>
            </a:r>
            <a:endParaRPr lang="en-US" sz="1400" dirty="0"/>
          </a:p>
        </p:txBody>
      </p:sp>
      <p:sp>
        <p:nvSpPr>
          <p:cNvPr id="12" name="Text 9"/>
          <p:cNvSpPr txBox="1"/>
          <p:nvPr/>
        </p:nvSpPr>
        <p:spPr>
          <a:xfrm>
            <a:off x="777240" y="4206240"/>
            <a:ext cx="2194560" cy="640080"/>
          </a:xfrm>
          <a:prstGeom prst="rect">
            <a:avLst/>
          </a:prstGeom>
          <a:noFill/>
          <a:ln/>
        </p:spPr>
        <p:txBody>
          <a:bodyPr wrap="square" lIns="0" tIns="0" rIns="0" bIns="0" rtlCol="0" anchor="ctr"/>
          <a:lstStyle/>
          <a:p>
            <a:pPr indent="0" marL="0">
              <a:buNone/>
            </a:pPr>
            <a:r>
              <a:rPr lang="en-US" sz="3600" b="1" dirty="0">
                <a:solidFill>
                  <a:srgbClr val="2BA3C7"/>
                </a:solidFill>
                <a:latin typeface="Cambria" pitchFamily="34" charset="0"/>
                <a:ea typeface="Cambria" pitchFamily="34" charset="-122"/>
                <a:cs typeface="Cambria" pitchFamily="34" charset="-120"/>
              </a:rPr>
              <a:t>3'</a:t>
            </a:r>
            <a:endParaRPr lang="en-US" sz="3600" dirty="0"/>
          </a:p>
        </p:txBody>
      </p:sp>
      <p:sp>
        <p:nvSpPr>
          <p:cNvPr id="13" name="Shape 10"/>
          <p:cNvSpPr/>
          <p:nvPr/>
        </p:nvSpPr>
        <p:spPr>
          <a:xfrm>
            <a:off x="3364992" y="1737360"/>
            <a:ext cx="2651760" cy="3291840"/>
          </a:xfrm>
          <a:prstGeom prst="roundRect">
            <a:avLst>
              <a:gd name="adj" fmla="val 4138"/>
            </a:avLst>
          </a:prstGeom>
          <a:solidFill>
            <a:srgbClr val="13263B"/>
          </a:solidFill>
          <a:ln w="12700">
            <a:solidFill>
              <a:srgbClr val="13263B"/>
            </a:solidFill>
            <a:prstDash val="solid"/>
          </a:ln>
        </p:spPr>
      </p:sp>
      <p:sp>
        <p:nvSpPr>
          <p:cNvPr id="14" name="Shape 11"/>
          <p:cNvSpPr/>
          <p:nvPr/>
        </p:nvSpPr>
        <p:spPr>
          <a:xfrm>
            <a:off x="3547872" y="1920240"/>
            <a:ext cx="411480" cy="411480"/>
          </a:xfrm>
          <a:prstGeom prst="ellipse">
            <a:avLst/>
          </a:prstGeom>
          <a:solidFill>
            <a:srgbClr val="8E72E6"/>
          </a:solidFill>
          <a:ln w="12700">
            <a:solidFill>
              <a:srgbClr val="8E72E6"/>
            </a:solidFill>
            <a:prstDash val="solid"/>
          </a:ln>
        </p:spPr>
      </p:sp>
      <p:sp>
        <p:nvSpPr>
          <p:cNvPr id="15" name="Text 12"/>
          <p:cNvSpPr txBox="1"/>
          <p:nvPr/>
        </p:nvSpPr>
        <p:spPr>
          <a:xfrm>
            <a:off x="3547872" y="19202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2</a:t>
            </a:r>
            <a:endParaRPr lang="en-US" sz="1500" dirty="0"/>
          </a:p>
        </p:txBody>
      </p:sp>
      <p:sp>
        <p:nvSpPr>
          <p:cNvPr id="16" name="Text 13"/>
          <p:cNvSpPr txBox="1"/>
          <p:nvPr/>
        </p:nvSpPr>
        <p:spPr>
          <a:xfrm>
            <a:off x="4096512" y="1901952"/>
            <a:ext cx="173736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Harnesses today</a:t>
            </a:r>
            <a:endParaRPr lang="en-US" sz="1700" dirty="0"/>
          </a:p>
        </p:txBody>
      </p:sp>
      <p:sp>
        <p:nvSpPr>
          <p:cNvPr id="17" name="Text 14"/>
          <p:cNvSpPr txBox="1"/>
          <p:nvPr/>
        </p:nvSpPr>
        <p:spPr>
          <a:xfrm>
            <a:off x="3593592" y="2423160"/>
            <a:ext cx="2194560" cy="246888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Claude Code, Codex, OpenCode, Pi…</a:t>
            </a:r>
            <a:endParaRPr lang="en-US" sz="1400" dirty="0"/>
          </a:p>
        </p:txBody>
      </p:sp>
      <p:sp>
        <p:nvSpPr>
          <p:cNvPr id="18" name="Text 15"/>
          <p:cNvSpPr txBox="1"/>
          <p:nvPr/>
        </p:nvSpPr>
        <p:spPr>
          <a:xfrm>
            <a:off x="3593592" y="4206240"/>
            <a:ext cx="2194560" cy="640080"/>
          </a:xfrm>
          <a:prstGeom prst="rect">
            <a:avLst/>
          </a:prstGeom>
          <a:noFill/>
          <a:ln/>
        </p:spPr>
        <p:txBody>
          <a:bodyPr wrap="square" lIns="0" tIns="0" rIns="0" bIns="0" rtlCol="0" anchor="ctr"/>
          <a:lstStyle/>
          <a:p>
            <a:pPr indent="0" marL="0">
              <a:buNone/>
            </a:pPr>
            <a:r>
              <a:rPr lang="en-US" sz="3600" b="1" dirty="0">
                <a:solidFill>
                  <a:srgbClr val="8E72E6"/>
                </a:solidFill>
                <a:latin typeface="Cambria" pitchFamily="34" charset="0"/>
                <a:ea typeface="Cambria" pitchFamily="34" charset="-122"/>
                <a:cs typeface="Cambria" pitchFamily="34" charset="-120"/>
              </a:rPr>
              <a:t>4'</a:t>
            </a:r>
            <a:endParaRPr lang="en-US" sz="3600" dirty="0"/>
          </a:p>
        </p:txBody>
      </p:sp>
      <p:sp>
        <p:nvSpPr>
          <p:cNvPr id="19" name="Shape 16"/>
          <p:cNvSpPr/>
          <p:nvPr/>
        </p:nvSpPr>
        <p:spPr>
          <a:xfrm>
            <a:off x="6181344" y="1737360"/>
            <a:ext cx="2651760" cy="3291840"/>
          </a:xfrm>
          <a:prstGeom prst="roundRect">
            <a:avLst>
              <a:gd name="adj" fmla="val 4138"/>
            </a:avLst>
          </a:prstGeom>
          <a:solidFill>
            <a:srgbClr val="13263B"/>
          </a:solidFill>
          <a:ln w="12700">
            <a:solidFill>
              <a:srgbClr val="13263B"/>
            </a:solidFill>
            <a:prstDash val="solid"/>
          </a:ln>
        </p:spPr>
      </p:sp>
      <p:sp>
        <p:nvSpPr>
          <p:cNvPr id="20" name="Shape 17"/>
          <p:cNvSpPr/>
          <p:nvPr/>
        </p:nvSpPr>
        <p:spPr>
          <a:xfrm>
            <a:off x="6364224" y="1920240"/>
            <a:ext cx="411480" cy="411480"/>
          </a:xfrm>
          <a:prstGeom prst="ellipse">
            <a:avLst/>
          </a:prstGeom>
          <a:solidFill>
            <a:srgbClr val="D4AF37"/>
          </a:solidFill>
          <a:ln w="12700">
            <a:solidFill>
              <a:srgbClr val="D4AF37"/>
            </a:solidFill>
            <a:prstDash val="solid"/>
          </a:ln>
        </p:spPr>
      </p:sp>
      <p:sp>
        <p:nvSpPr>
          <p:cNvPr id="21" name="Text 18"/>
          <p:cNvSpPr txBox="1"/>
          <p:nvPr/>
        </p:nvSpPr>
        <p:spPr>
          <a:xfrm>
            <a:off x="6364224" y="19202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3</a:t>
            </a:r>
            <a:endParaRPr lang="en-US" sz="1500" dirty="0"/>
          </a:p>
        </p:txBody>
      </p:sp>
      <p:sp>
        <p:nvSpPr>
          <p:cNvPr id="22" name="Text 19"/>
          <p:cNvSpPr txBox="1"/>
          <p:nvPr/>
        </p:nvSpPr>
        <p:spPr>
          <a:xfrm>
            <a:off x="6912864" y="1901952"/>
            <a:ext cx="173736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Self-learning harnesses</a:t>
            </a:r>
            <a:endParaRPr lang="en-US" sz="1700" dirty="0"/>
          </a:p>
        </p:txBody>
      </p:sp>
      <p:sp>
        <p:nvSpPr>
          <p:cNvPr id="23" name="Text 20"/>
          <p:cNvSpPr txBox="1"/>
          <p:nvPr/>
        </p:nvSpPr>
        <p:spPr>
          <a:xfrm>
            <a:off x="6409944" y="2423160"/>
            <a:ext cx="2194560" cy="246888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Hermes, Prime Agent</a:t>
            </a:r>
            <a:endParaRPr lang="en-US" sz="1400" dirty="0"/>
          </a:p>
        </p:txBody>
      </p:sp>
      <p:sp>
        <p:nvSpPr>
          <p:cNvPr id="24" name="Text 21"/>
          <p:cNvSpPr txBox="1"/>
          <p:nvPr/>
        </p:nvSpPr>
        <p:spPr>
          <a:xfrm>
            <a:off x="6409944" y="4206240"/>
            <a:ext cx="2194560" cy="640080"/>
          </a:xfrm>
          <a:prstGeom prst="rect">
            <a:avLst/>
          </a:prstGeom>
          <a:noFill/>
          <a:ln/>
        </p:spPr>
        <p:txBody>
          <a:bodyPr wrap="square" lIns="0" tIns="0" rIns="0" bIns="0" rtlCol="0" anchor="ctr"/>
          <a:lstStyle/>
          <a:p>
            <a:pPr indent="0" marL="0">
              <a:buNone/>
            </a:pPr>
            <a:r>
              <a:rPr lang="en-US" sz="3600" b="1" dirty="0">
                <a:solidFill>
                  <a:srgbClr val="D4AF37"/>
                </a:solidFill>
                <a:latin typeface="Cambria" pitchFamily="34" charset="0"/>
                <a:ea typeface="Cambria" pitchFamily="34" charset="-122"/>
                <a:cs typeface="Cambria" pitchFamily="34" charset="-120"/>
              </a:rPr>
              <a:t>4'</a:t>
            </a:r>
            <a:endParaRPr lang="en-US" sz="3600" dirty="0"/>
          </a:p>
        </p:txBody>
      </p:sp>
      <p:sp>
        <p:nvSpPr>
          <p:cNvPr id="25" name="Shape 22"/>
          <p:cNvSpPr/>
          <p:nvPr/>
        </p:nvSpPr>
        <p:spPr>
          <a:xfrm>
            <a:off x="8997696" y="1737360"/>
            <a:ext cx="2651760" cy="3291840"/>
          </a:xfrm>
          <a:prstGeom prst="roundRect">
            <a:avLst>
              <a:gd name="adj" fmla="val 4138"/>
            </a:avLst>
          </a:prstGeom>
          <a:solidFill>
            <a:srgbClr val="13263B"/>
          </a:solidFill>
          <a:ln w="12700">
            <a:solidFill>
              <a:srgbClr val="13263B"/>
            </a:solidFill>
            <a:prstDash val="solid"/>
          </a:ln>
        </p:spPr>
      </p:sp>
      <p:sp>
        <p:nvSpPr>
          <p:cNvPr id="26" name="Shape 23"/>
          <p:cNvSpPr/>
          <p:nvPr/>
        </p:nvSpPr>
        <p:spPr>
          <a:xfrm>
            <a:off x="9180576" y="1920240"/>
            <a:ext cx="411480" cy="411480"/>
          </a:xfrm>
          <a:prstGeom prst="ellipse">
            <a:avLst/>
          </a:prstGeom>
          <a:solidFill>
            <a:srgbClr val="5FBF7A"/>
          </a:solidFill>
          <a:ln w="12700">
            <a:solidFill>
              <a:srgbClr val="5FBF7A"/>
            </a:solidFill>
            <a:prstDash val="solid"/>
          </a:ln>
        </p:spPr>
      </p:sp>
      <p:sp>
        <p:nvSpPr>
          <p:cNvPr id="27" name="Text 24"/>
          <p:cNvSpPr txBox="1"/>
          <p:nvPr/>
        </p:nvSpPr>
        <p:spPr>
          <a:xfrm>
            <a:off x="9180576" y="19202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4</a:t>
            </a:r>
            <a:endParaRPr lang="en-US" sz="1500" dirty="0"/>
          </a:p>
        </p:txBody>
      </p:sp>
      <p:sp>
        <p:nvSpPr>
          <p:cNvPr id="28" name="Text 25"/>
          <p:cNvSpPr txBox="1"/>
          <p:nvPr/>
        </p:nvSpPr>
        <p:spPr>
          <a:xfrm>
            <a:off x="9729216" y="1901952"/>
            <a:ext cx="1737360" cy="457200"/>
          </a:xfrm>
          <a:prstGeom prst="rect">
            <a:avLst/>
          </a:prstGeom>
          <a:noFill/>
          <a:ln/>
        </p:spPr>
        <p:txBody>
          <a:bodyPr wrap="square" lIns="0" tIns="0" rIns="0" bIns="0" rtlCol="0" anchor="ctr"/>
          <a:lstStyle/>
          <a:p>
            <a:pPr indent="0" marL="0">
              <a:buNone/>
            </a:pPr>
            <a:r>
              <a:rPr lang="en-US" sz="1700" b="1" dirty="0">
                <a:solidFill>
                  <a:srgbClr val="5FBF7A"/>
                </a:solidFill>
                <a:latin typeface="Calibri" pitchFamily="34" charset="0"/>
                <a:ea typeface="Calibri" pitchFamily="34" charset="-122"/>
                <a:cs typeface="Calibri" pitchFamily="34" charset="-120"/>
              </a:rPr>
              <a:t>Agent-One + demo</a:t>
            </a:r>
            <a:endParaRPr lang="en-US" sz="1700" dirty="0"/>
          </a:p>
        </p:txBody>
      </p:sp>
      <p:sp>
        <p:nvSpPr>
          <p:cNvPr id="29" name="Text 26"/>
          <p:cNvSpPr txBox="1"/>
          <p:nvPr/>
        </p:nvSpPr>
        <p:spPr>
          <a:xfrm>
            <a:off x="9226296" y="2423160"/>
            <a:ext cx="2194560" cy="246888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guardrails, previews, config, live</a:t>
            </a:r>
            <a:endParaRPr lang="en-US" sz="1400" dirty="0"/>
          </a:p>
        </p:txBody>
      </p:sp>
      <p:sp>
        <p:nvSpPr>
          <p:cNvPr id="30" name="Text 27"/>
          <p:cNvSpPr txBox="1"/>
          <p:nvPr/>
        </p:nvSpPr>
        <p:spPr>
          <a:xfrm>
            <a:off x="9226296" y="4206240"/>
            <a:ext cx="2194560" cy="640080"/>
          </a:xfrm>
          <a:prstGeom prst="rect">
            <a:avLst/>
          </a:prstGeom>
          <a:noFill/>
          <a:ln/>
        </p:spPr>
        <p:txBody>
          <a:bodyPr wrap="square" lIns="0" tIns="0" rIns="0" bIns="0" rtlCol="0" anchor="ctr"/>
          <a:lstStyle/>
          <a:p>
            <a:pPr indent="0" marL="0">
              <a:buNone/>
            </a:pPr>
            <a:r>
              <a:rPr lang="en-US" sz="3600" b="1" dirty="0">
                <a:solidFill>
                  <a:srgbClr val="5FBF7A"/>
                </a:solidFill>
                <a:latin typeface="Cambria" pitchFamily="34" charset="0"/>
                <a:ea typeface="Cambria" pitchFamily="34" charset="-122"/>
                <a:cs typeface="Cambria" pitchFamily="34" charset="-120"/>
              </a:rPr>
              <a:t>9'</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3</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1 · FROM LLM TO 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A model alone is text in, text out</a:t>
            </a:r>
            <a:endParaRPr lang="en-US" sz="3400" dirty="0"/>
          </a:p>
        </p:txBody>
      </p:sp>
      <p:sp>
        <p:nvSpPr>
          <p:cNvPr id="7" name="Shape 4"/>
          <p:cNvSpPr/>
          <p:nvPr/>
        </p:nvSpPr>
        <p:spPr>
          <a:xfrm>
            <a:off x="548640" y="2011680"/>
            <a:ext cx="2011680" cy="1097280"/>
          </a:xfrm>
          <a:prstGeom prst="roundRect">
            <a:avLst>
              <a:gd name="adj" fmla="val 10000"/>
            </a:avLst>
          </a:prstGeom>
          <a:solidFill>
            <a:srgbClr val="13263B"/>
          </a:solidFill>
          <a:ln w="12700">
            <a:solidFill>
              <a:srgbClr val="13263B"/>
            </a:solidFill>
            <a:prstDash val="solid"/>
          </a:ln>
        </p:spPr>
      </p:sp>
      <p:sp>
        <p:nvSpPr>
          <p:cNvPr id="8" name="Text 5"/>
          <p:cNvSpPr txBox="1"/>
          <p:nvPr/>
        </p:nvSpPr>
        <p:spPr>
          <a:xfrm>
            <a:off x="777240" y="2176272"/>
            <a:ext cx="1600200" cy="457200"/>
          </a:xfrm>
          <a:prstGeom prst="rect">
            <a:avLst/>
          </a:prstGeom>
          <a:noFill/>
          <a:ln/>
        </p:spPr>
        <p:txBody>
          <a:bodyPr wrap="square" lIns="0" tIns="0" rIns="0" bIns="0" rtlCol="0" anchor="ctr"/>
          <a:lstStyle/>
          <a:p>
            <a:pPr indent="0" marL="0">
              <a:buNone/>
            </a:pPr>
            <a:r>
              <a:rPr lang="en-US" sz="1800" b="1" dirty="0">
                <a:solidFill>
                  <a:srgbClr val="8FA3B8"/>
                </a:solidFill>
                <a:latin typeface="Calibri" pitchFamily="34" charset="0"/>
                <a:ea typeface="Calibri" pitchFamily="34" charset="-122"/>
                <a:cs typeface="Calibri" pitchFamily="34" charset="-120"/>
              </a:rPr>
              <a:t>Prompt</a:t>
            </a:r>
            <a:endParaRPr lang="en-US" sz="1800" dirty="0"/>
          </a:p>
        </p:txBody>
      </p:sp>
      <p:sp>
        <p:nvSpPr>
          <p:cNvPr id="9" name="Shape 6"/>
          <p:cNvSpPr/>
          <p:nvPr/>
        </p:nvSpPr>
        <p:spPr>
          <a:xfrm>
            <a:off x="2651760" y="2560320"/>
            <a:ext cx="640080" cy="0"/>
          </a:xfrm>
          <a:prstGeom prst="line">
            <a:avLst/>
          </a:prstGeom>
          <a:noFill/>
          <a:ln w="25400">
            <a:solidFill>
              <a:srgbClr val="8FA3B8"/>
            </a:solidFill>
            <a:prstDash val="solid"/>
            <a:tailEnd type="triangle"/>
          </a:ln>
        </p:spPr>
      </p:sp>
      <p:sp>
        <p:nvSpPr>
          <p:cNvPr id="10" name="Shape 7"/>
          <p:cNvSpPr/>
          <p:nvPr/>
        </p:nvSpPr>
        <p:spPr>
          <a:xfrm>
            <a:off x="3383280" y="1783080"/>
            <a:ext cx="2194560" cy="1554480"/>
          </a:xfrm>
          <a:prstGeom prst="roundRect">
            <a:avLst>
              <a:gd name="adj" fmla="val 11765"/>
            </a:avLst>
          </a:prstGeom>
          <a:solidFill>
            <a:srgbClr val="8E72E6"/>
          </a:solidFill>
          <a:ln w="12700">
            <a:solidFill>
              <a:srgbClr val="8E72E6"/>
            </a:solidFill>
            <a:prstDash val="solid"/>
          </a:ln>
        </p:spPr>
      </p:sp>
      <p:sp>
        <p:nvSpPr>
          <p:cNvPr id="11" name="Text 8"/>
          <p:cNvSpPr txBox="1"/>
          <p:nvPr/>
        </p:nvSpPr>
        <p:spPr>
          <a:xfrm>
            <a:off x="3383280" y="1783080"/>
            <a:ext cx="2194560" cy="1554480"/>
          </a:xfrm>
          <a:prstGeom prst="rect">
            <a:avLst/>
          </a:prstGeom>
          <a:noFill/>
          <a:ln/>
        </p:spPr>
        <p:txBody>
          <a:bodyPr wrap="square" lIns="0" tIns="0" rIns="0" bIns="0" rtlCol="0" anchor="ctr"/>
          <a:lstStyle/>
          <a:p>
            <a:pPr algn="ctr" indent="0" marL="0">
              <a:buNone/>
            </a:pPr>
            <a:r>
              <a:rPr lang="en-US" sz="3400" b="1" dirty="0">
                <a:solidFill>
                  <a:srgbClr val="0B1A2B"/>
                </a:solidFill>
                <a:latin typeface="Cambria" pitchFamily="34" charset="0"/>
                <a:ea typeface="Cambria" pitchFamily="34" charset="-122"/>
                <a:cs typeface="Cambria" pitchFamily="34" charset="-120"/>
              </a:rPr>
              <a:t>LLM</a:t>
            </a:r>
            <a:endParaRPr lang="en-US" sz="3400" dirty="0"/>
          </a:p>
        </p:txBody>
      </p:sp>
      <p:sp>
        <p:nvSpPr>
          <p:cNvPr id="12" name="Shape 9"/>
          <p:cNvSpPr/>
          <p:nvPr/>
        </p:nvSpPr>
        <p:spPr>
          <a:xfrm>
            <a:off x="5669280" y="2560320"/>
            <a:ext cx="640080" cy="0"/>
          </a:xfrm>
          <a:prstGeom prst="line">
            <a:avLst/>
          </a:prstGeom>
          <a:noFill/>
          <a:ln w="25400">
            <a:solidFill>
              <a:srgbClr val="8FA3B8"/>
            </a:solidFill>
            <a:prstDash val="solid"/>
            <a:tailEnd type="triangle"/>
          </a:ln>
        </p:spPr>
      </p:sp>
      <p:sp>
        <p:nvSpPr>
          <p:cNvPr id="13" name="Shape 10"/>
          <p:cNvSpPr/>
          <p:nvPr/>
        </p:nvSpPr>
        <p:spPr>
          <a:xfrm>
            <a:off x="6400800" y="2011680"/>
            <a:ext cx="2011680" cy="1097280"/>
          </a:xfrm>
          <a:prstGeom prst="roundRect">
            <a:avLst>
              <a:gd name="adj" fmla="val 10000"/>
            </a:avLst>
          </a:prstGeom>
          <a:solidFill>
            <a:srgbClr val="13263B"/>
          </a:solidFill>
          <a:ln w="12700">
            <a:solidFill>
              <a:srgbClr val="13263B"/>
            </a:solidFill>
            <a:prstDash val="solid"/>
          </a:ln>
        </p:spPr>
      </p:sp>
      <p:sp>
        <p:nvSpPr>
          <p:cNvPr id="14" name="Text 11"/>
          <p:cNvSpPr txBox="1"/>
          <p:nvPr/>
        </p:nvSpPr>
        <p:spPr>
          <a:xfrm>
            <a:off x="6629400" y="2176272"/>
            <a:ext cx="1600200" cy="457200"/>
          </a:xfrm>
          <a:prstGeom prst="rect">
            <a:avLst/>
          </a:prstGeom>
          <a:noFill/>
          <a:ln/>
        </p:spPr>
        <p:txBody>
          <a:bodyPr wrap="square" lIns="0" tIns="0" rIns="0" bIns="0" rtlCol="0" anchor="ctr"/>
          <a:lstStyle/>
          <a:p>
            <a:pPr indent="0" marL="0">
              <a:buNone/>
            </a:pPr>
            <a:r>
              <a:rPr lang="en-US" sz="1800" b="1" dirty="0">
                <a:solidFill>
                  <a:srgbClr val="8FA3B8"/>
                </a:solidFill>
                <a:latin typeface="Calibri" pitchFamily="34" charset="0"/>
                <a:ea typeface="Calibri" pitchFamily="34" charset="-122"/>
                <a:cs typeface="Calibri" pitchFamily="34" charset="-120"/>
              </a:rPr>
              <a:t>Text</a:t>
            </a:r>
            <a:endParaRPr lang="en-US" sz="1800" dirty="0"/>
          </a:p>
        </p:txBody>
      </p:sp>
      <p:sp>
        <p:nvSpPr>
          <p:cNvPr id="15" name="Shape 12"/>
          <p:cNvSpPr/>
          <p:nvPr/>
        </p:nvSpPr>
        <p:spPr>
          <a:xfrm>
            <a:off x="548640" y="3840480"/>
            <a:ext cx="2651760" cy="1737360"/>
          </a:xfrm>
          <a:prstGeom prst="roundRect">
            <a:avLst>
              <a:gd name="adj" fmla="val 6316"/>
            </a:avLst>
          </a:prstGeom>
          <a:solidFill>
            <a:srgbClr val="13263B"/>
          </a:solidFill>
          <a:ln w="12700">
            <a:solidFill>
              <a:srgbClr val="13263B"/>
            </a:solidFill>
            <a:prstDash val="solid"/>
          </a:ln>
        </p:spPr>
      </p:sp>
      <p:sp>
        <p:nvSpPr>
          <p:cNvPr id="16" name="Text 13"/>
          <p:cNvSpPr txBox="1"/>
          <p:nvPr/>
        </p:nvSpPr>
        <p:spPr>
          <a:xfrm>
            <a:off x="777240" y="4005072"/>
            <a:ext cx="2240280" cy="457200"/>
          </a:xfrm>
          <a:prstGeom prst="rect">
            <a:avLst/>
          </a:prstGeom>
          <a:noFill/>
          <a:ln/>
        </p:spPr>
        <p:txBody>
          <a:bodyPr wrap="square" lIns="0" tIns="0" rIns="0" bIns="0" rtlCol="0" anchor="ctr"/>
          <a:lstStyle/>
          <a:p>
            <a:pPr indent="0" marL="0">
              <a:buNone/>
            </a:pPr>
            <a:r>
              <a:rPr lang="en-US" sz="1700" b="1" dirty="0">
                <a:solidFill>
                  <a:srgbClr val="E0645A"/>
                </a:solidFill>
                <a:latin typeface="Calibri" pitchFamily="34" charset="0"/>
                <a:ea typeface="Calibri" pitchFamily="34" charset="-122"/>
                <a:cs typeface="Calibri" pitchFamily="34" charset="-120"/>
              </a:rPr>
              <a:t>No hands</a:t>
            </a:r>
            <a:endParaRPr lang="en-US" sz="1700" dirty="0"/>
          </a:p>
        </p:txBody>
      </p:sp>
      <p:sp>
        <p:nvSpPr>
          <p:cNvPr id="17" name="Text 14"/>
          <p:cNvSpPr txBox="1"/>
          <p:nvPr/>
        </p:nvSpPr>
        <p:spPr>
          <a:xfrm>
            <a:off x="777240" y="4526280"/>
            <a:ext cx="2194560" cy="91440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can't read files, run tests, call APIs</a:t>
            </a:r>
            <a:endParaRPr lang="en-US" sz="1400" dirty="0"/>
          </a:p>
        </p:txBody>
      </p:sp>
      <p:sp>
        <p:nvSpPr>
          <p:cNvPr id="18" name="Shape 15"/>
          <p:cNvSpPr/>
          <p:nvPr/>
        </p:nvSpPr>
        <p:spPr>
          <a:xfrm>
            <a:off x="3364992" y="3840480"/>
            <a:ext cx="2651760" cy="1737360"/>
          </a:xfrm>
          <a:prstGeom prst="roundRect">
            <a:avLst>
              <a:gd name="adj" fmla="val 6316"/>
            </a:avLst>
          </a:prstGeom>
          <a:solidFill>
            <a:srgbClr val="13263B"/>
          </a:solidFill>
          <a:ln w="12700">
            <a:solidFill>
              <a:srgbClr val="13263B"/>
            </a:solidFill>
            <a:prstDash val="solid"/>
          </a:ln>
        </p:spPr>
      </p:sp>
      <p:sp>
        <p:nvSpPr>
          <p:cNvPr id="19" name="Text 16"/>
          <p:cNvSpPr txBox="1"/>
          <p:nvPr/>
        </p:nvSpPr>
        <p:spPr>
          <a:xfrm>
            <a:off x="3593592" y="4005072"/>
            <a:ext cx="224028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No memory</a:t>
            </a:r>
            <a:endParaRPr lang="en-US" sz="1700" dirty="0"/>
          </a:p>
        </p:txBody>
      </p:sp>
      <p:sp>
        <p:nvSpPr>
          <p:cNvPr id="20" name="Text 17"/>
          <p:cNvSpPr txBox="1"/>
          <p:nvPr/>
        </p:nvSpPr>
        <p:spPr>
          <a:xfrm>
            <a:off x="3593592" y="4526280"/>
            <a:ext cx="2194560" cy="91440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every call starts from zero</a:t>
            </a:r>
            <a:endParaRPr lang="en-US" sz="1400" dirty="0"/>
          </a:p>
        </p:txBody>
      </p:sp>
      <p:sp>
        <p:nvSpPr>
          <p:cNvPr id="21" name="Shape 18"/>
          <p:cNvSpPr/>
          <p:nvPr/>
        </p:nvSpPr>
        <p:spPr>
          <a:xfrm>
            <a:off x="6181344" y="3840480"/>
            <a:ext cx="2651760" cy="1737360"/>
          </a:xfrm>
          <a:prstGeom prst="roundRect">
            <a:avLst>
              <a:gd name="adj" fmla="val 6316"/>
            </a:avLst>
          </a:prstGeom>
          <a:solidFill>
            <a:srgbClr val="13263B"/>
          </a:solidFill>
          <a:ln w="12700">
            <a:solidFill>
              <a:srgbClr val="13263B"/>
            </a:solidFill>
            <a:prstDash val="solid"/>
          </a:ln>
        </p:spPr>
      </p:sp>
      <p:sp>
        <p:nvSpPr>
          <p:cNvPr id="22" name="Text 19"/>
          <p:cNvSpPr txBox="1"/>
          <p:nvPr/>
        </p:nvSpPr>
        <p:spPr>
          <a:xfrm>
            <a:off x="6409944" y="4005072"/>
            <a:ext cx="224028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Frozen knowledge</a:t>
            </a:r>
            <a:endParaRPr lang="en-US" sz="1700" dirty="0"/>
          </a:p>
        </p:txBody>
      </p:sp>
      <p:sp>
        <p:nvSpPr>
          <p:cNvPr id="23" name="Text 20"/>
          <p:cNvSpPr txBox="1"/>
          <p:nvPr/>
        </p:nvSpPr>
        <p:spPr>
          <a:xfrm>
            <a:off x="6409944" y="4526280"/>
            <a:ext cx="2194560" cy="91440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stops at its training date</a:t>
            </a:r>
            <a:endParaRPr lang="en-US" sz="1400" dirty="0"/>
          </a:p>
        </p:txBody>
      </p:sp>
      <p:sp>
        <p:nvSpPr>
          <p:cNvPr id="24" name="Shape 21"/>
          <p:cNvSpPr/>
          <p:nvPr/>
        </p:nvSpPr>
        <p:spPr>
          <a:xfrm>
            <a:off x="8997696" y="3840480"/>
            <a:ext cx="2651760" cy="1737360"/>
          </a:xfrm>
          <a:prstGeom prst="roundRect">
            <a:avLst>
              <a:gd name="adj" fmla="val 6316"/>
            </a:avLst>
          </a:prstGeom>
          <a:solidFill>
            <a:srgbClr val="13263B"/>
          </a:solidFill>
          <a:ln w="12700">
            <a:solidFill>
              <a:srgbClr val="13263B"/>
            </a:solidFill>
            <a:prstDash val="solid"/>
          </a:ln>
        </p:spPr>
      </p:sp>
      <p:sp>
        <p:nvSpPr>
          <p:cNvPr id="25" name="Text 22"/>
          <p:cNvSpPr txBox="1"/>
          <p:nvPr/>
        </p:nvSpPr>
        <p:spPr>
          <a:xfrm>
            <a:off x="9226296" y="4005072"/>
            <a:ext cx="224028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Can't check itself</a:t>
            </a:r>
            <a:endParaRPr lang="en-US" sz="1700" dirty="0"/>
          </a:p>
        </p:txBody>
      </p:sp>
      <p:sp>
        <p:nvSpPr>
          <p:cNvPr id="26" name="Text 23"/>
          <p:cNvSpPr txBox="1"/>
          <p:nvPr/>
        </p:nvSpPr>
        <p:spPr>
          <a:xfrm>
            <a:off x="9226296" y="4526280"/>
            <a:ext cx="2194560" cy="91440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wrong and right sound the same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4</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1 · FROM LLM TO 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An agent is a model in a loop, with tools</a:t>
            </a:r>
            <a:endParaRPr lang="en-US" sz="3400" dirty="0"/>
          </a:p>
        </p:txBody>
      </p:sp>
      <p:sp>
        <p:nvSpPr>
          <p:cNvPr id="7" name="Shape 4"/>
          <p:cNvSpPr/>
          <p:nvPr/>
        </p:nvSpPr>
        <p:spPr>
          <a:xfrm>
            <a:off x="2194560" y="2103120"/>
            <a:ext cx="1645920" cy="640080"/>
          </a:xfrm>
          <a:prstGeom prst="roundRect">
            <a:avLst>
              <a:gd name="adj" fmla="val 50000"/>
            </a:avLst>
          </a:prstGeom>
          <a:solidFill>
            <a:srgbClr val="2BA3C7"/>
          </a:solidFill>
          <a:ln w="12700">
            <a:solidFill>
              <a:srgbClr val="2BA3C7"/>
            </a:solidFill>
            <a:prstDash val="solid"/>
          </a:ln>
        </p:spPr>
      </p:sp>
      <p:sp>
        <p:nvSpPr>
          <p:cNvPr id="8" name="Text 5"/>
          <p:cNvSpPr txBox="1"/>
          <p:nvPr/>
        </p:nvSpPr>
        <p:spPr>
          <a:xfrm>
            <a:off x="2194560" y="2103120"/>
            <a:ext cx="1645920" cy="640080"/>
          </a:xfrm>
          <a:prstGeom prst="rect">
            <a:avLst/>
          </a:prstGeom>
          <a:noFill/>
          <a:ln/>
        </p:spPr>
        <p:txBody>
          <a:bodyPr wrap="square" lIns="0" tIns="0" rIns="0" bIns="0" rtlCol="0" anchor="ctr"/>
          <a:lstStyle/>
          <a:p>
            <a:pPr algn="ctr" indent="0" marL="0">
              <a:buNone/>
            </a:pPr>
            <a:r>
              <a:rPr lang="en-US" sz="1600" b="1" dirty="0">
                <a:solidFill>
                  <a:srgbClr val="0B1A2B"/>
                </a:solidFill>
                <a:latin typeface="Calibri" pitchFamily="34" charset="0"/>
                <a:ea typeface="Calibri" pitchFamily="34" charset="-122"/>
                <a:cs typeface="Calibri" pitchFamily="34" charset="-120"/>
              </a:rPr>
              <a:t>Observe</a:t>
            </a:r>
            <a:endParaRPr lang="en-US" sz="1600" dirty="0"/>
          </a:p>
        </p:txBody>
      </p:sp>
      <p:sp>
        <p:nvSpPr>
          <p:cNvPr id="9" name="Shape 6"/>
          <p:cNvSpPr/>
          <p:nvPr/>
        </p:nvSpPr>
        <p:spPr>
          <a:xfrm>
            <a:off x="3611880" y="3520440"/>
            <a:ext cx="1645920" cy="640080"/>
          </a:xfrm>
          <a:prstGeom prst="roundRect">
            <a:avLst>
              <a:gd name="adj" fmla="val 50000"/>
            </a:avLst>
          </a:prstGeom>
          <a:solidFill>
            <a:srgbClr val="8E72E6"/>
          </a:solidFill>
          <a:ln w="12700">
            <a:solidFill>
              <a:srgbClr val="8E72E6"/>
            </a:solidFill>
            <a:prstDash val="solid"/>
          </a:ln>
        </p:spPr>
      </p:sp>
      <p:sp>
        <p:nvSpPr>
          <p:cNvPr id="10" name="Text 7"/>
          <p:cNvSpPr txBox="1"/>
          <p:nvPr/>
        </p:nvSpPr>
        <p:spPr>
          <a:xfrm>
            <a:off x="3611880" y="3520440"/>
            <a:ext cx="1645920" cy="640080"/>
          </a:xfrm>
          <a:prstGeom prst="rect">
            <a:avLst/>
          </a:prstGeom>
          <a:noFill/>
          <a:ln/>
        </p:spPr>
        <p:txBody>
          <a:bodyPr wrap="square" lIns="0" tIns="0" rIns="0" bIns="0" rtlCol="0" anchor="ctr"/>
          <a:lstStyle/>
          <a:p>
            <a:pPr algn="ctr" indent="0" marL="0">
              <a:buNone/>
            </a:pPr>
            <a:r>
              <a:rPr lang="en-US" sz="1600" b="1" dirty="0">
                <a:solidFill>
                  <a:srgbClr val="0B1A2B"/>
                </a:solidFill>
                <a:latin typeface="Calibri" pitchFamily="34" charset="0"/>
                <a:ea typeface="Calibri" pitchFamily="34" charset="-122"/>
                <a:cs typeface="Calibri" pitchFamily="34" charset="-120"/>
              </a:rPr>
              <a:t>Think</a:t>
            </a:r>
            <a:endParaRPr lang="en-US" sz="1600" dirty="0"/>
          </a:p>
        </p:txBody>
      </p:sp>
      <p:sp>
        <p:nvSpPr>
          <p:cNvPr id="11" name="Shape 8"/>
          <p:cNvSpPr/>
          <p:nvPr/>
        </p:nvSpPr>
        <p:spPr>
          <a:xfrm>
            <a:off x="2194560" y="4937760"/>
            <a:ext cx="1645920" cy="640080"/>
          </a:xfrm>
          <a:prstGeom prst="roundRect">
            <a:avLst>
              <a:gd name="adj" fmla="val 50000"/>
            </a:avLst>
          </a:prstGeom>
          <a:solidFill>
            <a:srgbClr val="D4AF37"/>
          </a:solidFill>
          <a:ln w="12700">
            <a:solidFill>
              <a:srgbClr val="D4AF37"/>
            </a:solidFill>
            <a:prstDash val="solid"/>
          </a:ln>
        </p:spPr>
      </p:sp>
      <p:sp>
        <p:nvSpPr>
          <p:cNvPr id="12" name="Text 9"/>
          <p:cNvSpPr txBox="1"/>
          <p:nvPr/>
        </p:nvSpPr>
        <p:spPr>
          <a:xfrm>
            <a:off x="2194560" y="4937760"/>
            <a:ext cx="1645920" cy="640080"/>
          </a:xfrm>
          <a:prstGeom prst="rect">
            <a:avLst/>
          </a:prstGeom>
          <a:noFill/>
          <a:ln/>
        </p:spPr>
        <p:txBody>
          <a:bodyPr wrap="square" lIns="0" tIns="0" rIns="0" bIns="0" rtlCol="0" anchor="ctr"/>
          <a:lstStyle/>
          <a:p>
            <a:pPr algn="ctr" indent="0" marL="0">
              <a:buNone/>
            </a:pPr>
            <a:r>
              <a:rPr lang="en-US" sz="1600" b="1" dirty="0">
                <a:solidFill>
                  <a:srgbClr val="0B1A2B"/>
                </a:solidFill>
                <a:latin typeface="Calibri" pitchFamily="34" charset="0"/>
                <a:ea typeface="Calibri" pitchFamily="34" charset="-122"/>
                <a:cs typeface="Calibri" pitchFamily="34" charset="-120"/>
              </a:rPr>
              <a:t>Act</a:t>
            </a:r>
            <a:endParaRPr lang="en-US" sz="1600" dirty="0"/>
          </a:p>
        </p:txBody>
      </p:sp>
      <p:sp>
        <p:nvSpPr>
          <p:cNvPr id="13" name="Shape 10"/>
          <p:cNvSpPr/>
          <p:nvPr/>
        </p:nvSpPr>
        <p:spPr>
          <a:xfrm>
            <a:off x="777240" y="3520440"/>
            <a:ext cx="1645920" cy="640080"/>
          </a:xfrm>
          <a:prstGeom prst="roundRect">
            <a:avLst>
              <a:gd name="adj" fmla="val 50000"/>
            </a:avLst>
          </a:prstGeom>
          <a:solidFill>
            <a:srgbClr val="5FBF7A"/>
          </a:solidFill>
          <a:ln w="12700">
            <a:solidFill>
              <a:srgbClr val="5FBF7A"/>
            </a:solidFill>
            <a:prstDash val="solid"/>
          </a:ln>
        </p:spPr>
      </p:sp>
      <p:sp>
        <p:nvSpPr>
          <p:cNvPr id="14" name="Text 11"/>
          <p:cNvSpPr txBox="1"/>
          <p:nvPr/>
        </p:nvSpPr>
        <p:spPr>
          <a:xfrm>
            <a:off x="777240" y="3520440"/>
            <a:ext cx="1645920" cy="640080"/>
          </a:xfrm>
          <a:prstGeom prst="rect">
            <a:avLst/>
          </a:prstGeom>
          <a:noFill/>
          <a:ln/>
        </p:spPr>
        <p:txBody>
          <a:bodyPr wrap="square" lIns="0" tIns="0" rIns="0" bIns="0" rtlCol="0" anchor="ctr"/>
          <a:lstStyle/>
          <a:p>
            <a:pPr algn="ctr" indent="0" marL="0">
              <a:buNone/>
            </a:pPr>
            <a:r>
              <a:rPr lang="en-US" sz="1600" b="1" dirty="0">
                <a:solidFill>
                  <a:srgbClr val="0B1A2B"/>
                </a:solidFill>
                <a:latin typeface="Calibri" pitchFamily="34" charset="0"/>
                <a:ea typeface="Calibri" pitchFamily="34" charset="-122"/>
                <a:cs typeface="Calibri" pitchFamily="34" charset="-120"/>
              </a:rPr>
              <a:t>Check</a:t>
            </a:r>
            <a:endParaRPr lang="en-US" sz="1600" dirty="0"/>
          </a:p>
        </p:txBody>
      </p:sp>
      <p:sp>
        <p:nvSpPr>
          <p:cNvPr id="15" name="Text 12"/>
          <p:cNvSpPr txBox="1"/>
          <p:nvPr/>
        </p:nvSpPr>
        <p:spPr>
          <a:xfrm>
            <a:off x="2560320" y="3383280"/>
            <a:ext cx="914400" cy="914400"/>
          </a:xfrm>
          <a:prstGeom prst="rect">
            <a:avLst/>
          </a:prstGeom>
          <a:noFill/>
          <a:ln/>
        </p:spPr>
        <p:txBody>
          <a:bodyPr wrap="square" lIns="0" tIns="0" rIns="0" bIns="0" rtlCol="0" anchor="ctr"/>
          <a:lstStyle/>
          <a:p>
            <a:pPr algn="ctr" indent="0" marL="0">
              <a:buNone/>
            </a:pPr>
            <a:r>
              <a:rPr lang="en-US" sz="4000" dirty="0">
                <a:solidFill>
                  <a:srgbClr val="8FA3B8"/>
                </a:solidFill>
                <a:latin typeface="Calibri" pitchFamily="34" charset="0"/>
                <a:ea typeface="Calibri" pitchFamily="34" charset="-122"/>
                <a:cs typeface="Calibri" pitchFamily="34" charset="-120"/>
              </a:rPr>
              <a:t>↻</a:t>
            </a:r>
            <a:endParaRPr lang="en-US" sz="4000" dirty="0"/>
          </a:p>
        </p:txBody>
      </p:sp>
      <p:sp>
        <p:nvSpPr>
          <p:cNvPr id="16" name="Shape 13"/>
          <p:cNvSpPr/>
          <p:nvPr/>
        </p:nvSpPr>
        <p:spPr>
          <a:xfrm>
            <a:off x="6035040" y="1737360"/>
            <a:ext cx="5577840" cy="1554480"/>
          </a:xfrm>
          <a:prstGeom prst="roundRect">
            <a:avLst>
              <a:gd name="adj" fmla="val 7059"/>
            </a:avLst>
          </a:prstGeom>
          <a:solidFill>
            <a:srgbClr val="13263B"/>
          </a:solidFill>
          <a:ln w="12700">
            <a:solidFill>
              <a:srgbClr val="13263B"/>
            </a:solidFill>
            <a:prstDash val="solid"/>
          </a:ln>
        </p:spPr>
      </p:sp>
      <p:sp>
        <p:nvSpPr>
          <p:cNvPr id="17" name="Text 14"/>
          <p:cNvSpPr txBox="1"/>
          <p:nvPr/>
        </p:nvSpPr>
        <p:spPr>
          <a:xfrm>
            <a:off x="6263640" y="1901952"/>
            <a:ext cx="516636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Agent</a:t>
            </a:r>
            <a:endParaRPr lang="en-US" sz="1700" dirty="0"/>
          </a:p>
        </p:txBody>
      </p:sp>
      <p:sp>
        <p:nvSpPr>
          <p:cNvPr id="18" name="Text 15"/>
          <p:cNvSpPr txBox="1"/>
          <p:nvPr/>
        </p:nvSpPr>
        <p:spPr>
          <a:xfrm>
            <a:off x="6263640" y="2423160"/>
            <a:ext cx="5120640" cy="73152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the model deciding, step after step, which tool to use next — until the task is done</a:t>
            </a:r>
            <a:endParaRPr lang="en-US" sz="1500" dirty="0"/>
          </a:p>
        </p:txBody>
      </p:sp>
      <p:sp>
        <p:nvSpPr>
          <p:cNvPr id="19" name="Shape 16"/>
          <p:cNvSpPr/>
          <p:nvPr/>
        </p:nvSpPr>
        <p:spPr>
          <a:xfrm>
            <a:off x="6035040" y="3474720"/>
            <a:ext cx="5577840" cy="2377440"/>
          </a:xfrm>
          <a:prstGeom prst="roundRect">
            <a:avLst>
              <a:gd name="adj" fmla="val 4615"/>
            </a:avLst>
          </a:prstGeom>
          <a:solidFill>
            <a:srgbClr val="13263B"/>
          </a:solidFill>
          <a:ln w="12700">
            <a:solidFill>
              <a:srgbClr val="13263B"/>
            </a:solidFill>
            <a:prstDash val="solid"/>
          </a:ln>
        </p:spPr>
      </p:sp>
      <p:sp>
        <p:nvSpPr>
          <p:cNvPr id="20" name="Text 17"/>
          <p:cNvSpPr txBox="1"/>
          <p:nvPr/>
        </p:nvSpPr>
        <p:spPr>
          <a:xfrm>
            <a:off x="6263640" y="3639312"/>
            <a:ext cx="516636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Harness</a:t>
            </a:r>
            <a:endParaRPr lang="en-US" sz="1700" dirty="0"/>
          </a:p>
        </p:txBody>
      </p:sp>
      <p:sp>
        <p:nvSpPr>
          <p:cNvPr id="21" name="Text 18"/>
          <p:cNvSpPr txBox="1"/>
          <p:nvPr/>
        </p:nvSpPr>
        <p:spPr>
          <a:xfrm>
            <a:off x="6263640" y="4160520"/>
            <a:ext cx="5120640" cy="155448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everything around the model: the tools, the context it sees, what it may do without asking, its memory, its safety net, how you watch it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5</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1 · FROM LLM TO 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Each layer wraps the last</a:t>
            </a:r>
            <a:endParaRPr lang="en-US" sz="3400" dirty="0"/>
          </a:p>
        </p:txBody>
      </p:sp>
      <p:sp>
        <p:nvSpPr>
          <p:cNvPr id="7" name="Shape 4"/>
          <p:cNvSpPr/>
          <p:nvPr/>
        </p:nvSpPr>
        <p:spPr>
          <a:xfrm>
            <a:off x="1645920" y="2834640"/>
            <a:ext cx="4937760" cy="2377440"/>
          </a:xfrm>
          <a:prstGeom prst="roundRect">
            <a:avLst>
              <a:gd name="adj" fmla="val 6923"/>
            </a:avLst>
          </a:prstGeom>
          <a:solidFill>
            <a:srgbClr val="8E72E6"/>
          </a:solidFill>
          <a:ln w="25400">
            <a:solidFill>
              <a:srgbClr val="8E72E6"/>
            </a:solidFill>
            <a:prstDash val="solid"/>
          </a:ln>
        </p:spPr>
      </p:sp>
      <p:sp>
        <p:nvSpPr>
          <p:cNvPr id="8" name="Text 5"/>
          <p:cNvSpPr txBox="1"/>
          <p:nvPr/>
        </p:nvSpPr>
        <p:spPr>
          <a:xfrm>
            <a:off x="1645920" y="3154680"/>
            <a:ext cx="4937760" cy="822960"/>
          </a:xfrm>
          <a:prstGeom prst="rect">
            <a:avLst/>
          </a:prstGeom>
          <a:noFill/>
          <a:ln/>
        </p:spPr>
        <p:txBody>
          <a:bodyPr wrap="square" lIns="0" tIns="0" rIns="0" bIns="0" rtlCol="0" anchor="ctr"/>
          <a:lstStyle/>
          <a:p>
            <a:pPr algn="ctr" indent="0" marL="0">
              <a:buNone/>
            </a:pPr>
            <a:r>
              <a:rPr lang="en-US" sz="4000" b="1" dirty="0">
                <a:solidFill>
                  <a:srgbClr val="0B1A2B"/>
                </a:solidFill>
                <a:latin typeface="Cambria" pitchFamily="34" charset="0"/>
                <a:ea typeface="Cambria" pitchFamily="34" charset="-122"/>
                <a:cs typeface="Cambria" pitchFamily="34" charset="-120"/>
              </a:rPr>
              <a:t>LLM</a:t>
            </a:r>
            <a:endParaRPr lang="en-US" sz="4000" dirty="0"/>
          </a:p>
        </p:txBody>
      </p:sp>
      <p:sp>
        <p:nvSpPr>
          <p:cNvPr id="9" name="Text 6"/>
          <p:cNvSpPr txBox="1"/>
          <p:nvPr/>
        </p:nvSpPr>
        <p:spPr>
          <a:xfrm>
            <a:off x="1645920" y="4023360"/>
            <a:ext cx="4937760" cy="457200"/>
          </a:xfrm>
          <a:prstGeom prst="rect">
            <a:avLst/>
          </a:prstGeom>
          <a:noFill/>
          <a:ln/>
        </p:spPr>
        <p:txBody>
          <a:bodyPr wrap="square" lIns="0" tIns="0" rIns="0" bIns="0" rtlCol="0" anchor="ctr"/>
          <a:lstStyle/>
          <a:p>
            <a:pPr algn="ctr" indent="0" marL="0">
              <a:buNone/>
            </a:pPr>
            <a:r>
              <a:rPr lang="en-US" sz="1500" dirty="0">
                <a:solidFill>
                  <a:srgbClr val="0B1A2B"/>
                </a:solidFill>
                <a:latin typeface="Calibri" pitchFamily="34" charset="0"/>
                <a:ea typeface="Calibri" pitchFamily="34" charset="-122"/>
                <a:cs typeface="Calibri" pitchFamily="34" charset="-120"/>
              </a:rPr>
              <a:t>a bounded mind · text in, text out</a:t>
            </a:r>
            <a:endParaRPr lang="en-US" sz="1500" dirty="0"/>
          </a:p>
        </p:txBody>
      </p:sp>
      <p:sp>
        <p:nvSpPr>
          <p:cNvPr id="10" name="Text 7"/>
          <p:cNvSpPr txBox="1"/>
          <p:nvPr/>
        </p:nvSpPr>
        <p:spPr>
          <a:xfrm>
            <a:off x="1645920" y="4480560"/>
            <a:ext cx="4937760" cy="411480"/>
          </a:xfrm>
          <a:prstGeom prst="rect">
            <a:avLst/>
          </a:prstGeom>
          <a:noFill/>
          <a:ln/>
        </p:spPr>
        <p:txBody>
          <a:bodyPr wrap="square" lIns="0" tIns="0" rIns="0" bIns="0" rtlCol="0" anchor="ctr"/>
          <a:lstStyle/>
          <a:p>
            <a:pPr algn="ctr" indent="0" marL="0">
              <a:buNone/>
            </a:pPr>
            <a:r>
              <a:rPr lang="en-US" sz="1200" dirty="0">
                <a:solidFill>
                  <a:srgbClr val="0B1A2B"/>
                </a:solidFill>
                <a:latin typeface="Calibri" pitchFamily="34" charset="0"/>
                <a:ea typeface="Calibri" pitchFamily="34" charset="-122"/>
                <a:cs typeface="Calibri" pitchFamily="34" charset="-120"/>
              </a:rPr>
              <a:t>frozen knowledge · no hands · no memory</a:t>
            </a:r>
            <a:endParaRPr lang="en-US" sz="1200" dirty="0"/>
          </a:p>
        </p:txBody>
      </p:sp>
      <p:sp>
        <p:nvSpPr>
          <p:cNvPr id="11" name="Text 8"/>
          <p:cNvSpPr txBox="1"/>
          <p:nvPr/>
        </p:nvSpPr>
        <p:spPr>
          <a:xfrm>
            <a:off x="8001000" y="1463040"/>
            <a:ext cx="1097280" cy="320040"/>
          </a:xfrm>
          <a:prstGeom prst="rect">
            <a:avLst/>
          </a:prstGeom>
          <a:noFill/>
          <a:ln/>
        </p:spPr>
        <p:txBody>
          <a:bodyPr wrap="square" lIns="0" tIns="0" rIns="0" bIns="0" rtlCol="0" anchor="ctr"/>
          <a:lstStyle/>
          <a:p>
            <a:pPr indent="0" marL="0">
              <a:buNone/>
            </a:pPr>
            <a:r>
              <a:rPr lang="en-US" sz="1200" b="1" dirty="0">
                <a:solidFill>
                  <a:srgbClr val="8E72E6"/>
                </a:solidFill>
                <a:latin typeface="Calibri" pitchFamily="34" charset="0"/>
                <a:ea typeface="Calibri" pitchFamily="34" charset="-122"/>
                <a:cs typeface="Calibri" pitchFamily="34" charset="-120"/>
              </a:rPr>
              <a:t>1 / 4</a:t>
            </a:r>
            <a:endParaRPr lang="en-US" sz="1200" dirty="0"/>
          </a:p>
        </p:txBody>
      </p:sp>
      <p:sp>
        <p:nvSpPr>
          <p:cNvPr id="12" name="Text 9"/>
          <p:cNvSpPr txBox="1"/>
          <p:nvPr/>
        </p:nvSpPr>
        <p:spPr>
          <a:xfrm>
            <a:off x="8001000" y="1783080"/>
            <a:ext cx="3657600" cy="914400"/>
          </a:xfrm>
          <a:prstGeom prst="rect">
            <a:avLst/>
          </a:prstGeom>
          <a:noFill/>
          <a:ln/>
        </p:spPr>
        <p:txBody>
          <a:bodyPr wrap="square" lIns="0" tIns="0" rIns="0" bIns="0" rtlCol="0" anchor="t"/>
          <a:lstStyle/>
          <a:p>
            <a:pPr indent="0" marL="0">
              <a:buNone/>
            </a:pPr>
            <a:r>
              <a:rPr lang="en-US" sz="1800" b="1" dirty="0">
                <a:solidFill>
                  <a:srgbClr val="EEF3F9"/>
                </a:solidFill>
                <a:latin typeface="Cambria" pitchFamily="34" charset="0"/>
                <a:ea typeface="Cambria" pitchFamily="34" charset="-122"/>
                <a:cs typeface="Cambria" pitchFamily="34" charset="-120"/>
              </a:rPr>
              <a:t>The LLM alone — a bounded mind</a:t>
            </a:r>
            <a:endParaRPr lang="en-US" sz="1800" dirty="0"/>
          </a:p>
        </p:txBody>
      </p:sp>
      <p:sp>
        <p:nvSpPr>
          <p:cNvPr id="13" name="Text 10"/>
          <p:cNvSpPr txBox="1"/>
          <p:nvPr/>
        </p:nvSpPr>
        <p:spPr>
          <a:xfrm>
            <a:off x="8001000" y="2834640"/>
            <a:ext cx="3657600" cy="237744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text in, text out</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knowledge frozen at its training date</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no hands: it touches nothing</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no memory between calls</a:t>
            </a:r>
            <a:endParaRPr lang="en-US" sz="1300" dirty="0"/>
          </a:p>
        </p:txBody>
      </p:sp>
      <p:sp>
        <p:nvSpPr>
          <p:cNvPr id="14" name="Shape 11"/>
          <p:cNvSpPr/>
          <p:nvPr/>
        </p:nvSpPr>
        <p:spPr>
          <a:xfrm>
            <a:off x="8001000" y="5394960"/>
            <a:ext cx="3657600" cy="731520"/>
          </a:xfrm>
          <a:prstGeom prst="roundRect">
            <a:avLst>
              <a:gd name="adj" fmla="val 15000"/>
            </a:avLst>
          </a:prstGeom>
          <a:solidFill>
            <a:srgbClr val="13263B"/>
          </a:solidFill>
          <a:ln w="19050">
            <a:solidFill>
              <a:srgbClr val="8E72E6"/>
            </a:solidFill>
            <a:prstDash val="solid"/>
          </a:ln>
        </p:spPr>
      </p:sp>
      <p:sp>
        <p:nvSpPr>
          <p:cNvPr id="15" name="Text 12"/>
          <p:cNvSpPr txBox="1"/>
          <p:nvPr/>
        </p:nvSpPr>
        <p:spPr>
          <a:xfrm>
            <a:off x="8138160" y="5394960"/>
            <a:ext cx="3383280" cy="731520"/>
          </a:xfrm>
          <a:prstGeom prst="rect">
            <a:avLst/>
          </a:prstGeom>
          <a:noFill/>
          <a:ln/>
        </p:spPr>
        <p:txBody>
          <a:bodyPr wrap="square" lIns="0" tIns="0" rIns="0" bIns="0" rtlCol="0" anchor="ctr"/>
          <a:lstStyle/>
          <a:p>
            <a:pPr indent="0" marL="0">
              <a:buNone/>
            </a:pPr>
            <a:r>
              <a:rPr lang="en-US" sz="1200" b="1" dirty="0">
                <a:solidFill>
                  <a:srgbClr val="8E72E6"/>
                </a:solidFill>
                <a:latin typeface="Courier New" pitchFamily="34" charset="0"/>
                <a:ea typeface="Courier New" pitchFamily="34" charset="-122"/>
                <a:cs typeface="Courier New" pitchFamily="34" charset="-120"/>
              </a:rPr>
              <a:t>LLM = a bounded mind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6</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1 · FROM LLM TO 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Each layer wraps the last</a:t>
            </a:r>
            <a:endParaRPr lang="en-US" sz="3400" dirty="0"/>
          </a:p>
        </p:txBody>
      </p:sp>
      <p:sp>
        <p:nvSpPr>
          <p:cNvPr id="7" name="Shape 4"/>
          <p:cNvSpPr/>
          <p:nvPr/>
        </p:nvSpPr>
        <p:spPr>
          <a:xfrm>
            <a:off x="1280160" y="2377440"/>
            <a:ext cx="5669280" cy="3291840"/>
          </a:xfrm>
          <a:prstGeom prst="roundRect">
            <a:avLst>
              <a:gd name="adj" fmla="val 5556"/>
            </a:avLst>
          </a:prstGeom>
          <a:solidFill>
            <a:srgbClr val="18304A"/>
          </a:solidFill>
          <a:ln w="38100">
            <a:solidFill>
              <a:srgbClr val="2BA3C7"/>
            </a:solidFill>
            <a:prstDash val="solid"/>
          </a:ln>
        </p:spPr>
      </p:sp>
      <p:sp>
        <p:nvSpPr>
          <p:cNvPr id="8" name="Text 5"/>
          <p:cNvSpPr txBox="1"/>
          <p:nvPr/>
        </p:nvSpPr>
        <p:spPr>
          <a:xfrm>
            <a:off x="1463040" y="2432304"/>
            <a:ext cx="1188720" cy="329184"/>
          </a:xfrm>
          <a:prstGeom prst="rect">
            <a:avLst/>
          </a:prstGeom>
          <a:noFill/>
          <a:ln/>
        </p:spPr>
        <p:txBody>
          <a:bodyPr wrap="square" lIns="0" tIns="0" rIns="0" bIns="0" rtlCol="0" anchor="ctr"/>
          <a:lstStyle/>
          <a:p>
            <a:pPr indent="0" marL="0">
              <a:buNone/>
            </a:pPr>
            <a:r>
              <a:rPr lang="en-US" sz="1400" b="1" dirty="0">
                <a:solidFill>
                  <a:srgbClr val="2BA3C7"/>
                </a:solidFill>
                <a:latin typeface="Calibri" pitchFamily="34" charset="0"/>
                <a:ea typeface="Calibri" pitchFamily="34" charset="-122"/>
                <a:cs typeface="Calibri" pitchFamily="34" charset="-120"/>
              </a:rPr>
              <a:t>Agent</a:t>
            </a:r>
            <a:endParaRPr lang="en-US" sz="1400" dirty="0"/>
          </a:p>
        </p:txBody>
      </p:sp>
      <p:sp>
        <p:nvSpPr>
          <p:cNvPr id="9" name="Shape 6"/>
          <p:cNvSpPr/>
          <p:nvPr/>
        </p:nvSpPr>
        <p:spPr>
          <a:xfrm>
            <a:off x="2651760" y="2450592"/>
            <a:ext cx="2020824" cy="292608"/>
          </a:xfrm>
          <a:prstGeom prst="roundRect">
            <a:avLst>
              <a:gd name="adj" fmla="val 50000"/>
            </a:avLst>
          </a:prstGeom>
          <a:solidFill>
            <a:srgbClr val="2BA3C7"/>
          </a:solidFill>
          <a:ln w="12700">
            <a:solidFill>
              <a:srgbClr val="2BA3C7"/>
            </a:solidFill>
            <a:prstDash val="solid"/>
          </a:ln>
        </p:spPr>
      </p:sp>
      <p:sp>
        <p:nvSpPr>
          <p:cNvPr id="10" name="Text 7"/>
          <p:cNvSpPr txBox="1"/>
          <p:nvPr/>
        </p:nvSpPr>
        <p:spPr>
          <a:xfrm>
            <a:off x="2651760" y="2450592"/>
            <a:ext cx="2020824"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system prompt</a:t>
            </a:r>
            <a:endParaRPr lang="en-US" sz="1000" dirty="0"/>
          </a:p>
        </p:txBody>
      </p:sp>
      <p:sp>
        <p:nvSpPr>
          <p:cNvPr id="11" name="Shape 8"/>
          <p:cNvSpPr/>
          <p:nvPr/>
        </p:nvSpPr>
        <p:spPr>
          <a:xfrm>
            <a:off x="4745736" y="2450592"/>
            <a:ext cx="2020824" cy="292608"/>
          </a:xfrm>
          <a:prstGeom prst="roundRect">
            <a:avLst>
              <a:gd name="adj" fmla="val 50000"/>
            </a:avLst>
          </a:prstGeom>
          <a:solidFill>
            <a:srgbClr val="2BA3C7"/>
          </a:solidFill>
          <a:ln w="12700">
            <a:solidFill>
              <a:srgbClr val="2BA3C7"/>
            </a:solidFill>
            <a:prstDash val="solid"/>
          </a:ln>
        </p:spPr>
      </p:sp>
      <p:sp>
        <p:nvSpPr>
          <p:cNvPr id="12" name="Text 9"/>
          <p:cNvSpPr txBox="1"/>
          <p:nvPr/>
        </p:nvSpPr>
        <p:spPr>
          <a:xfrm>
            <a:off x="4745736" y="2450592"/>
            <a:ext cx="2020824"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tools</a:t>
            </a:r>
            <a:endParaRPr lang="en-US" sz="1000" dirty="0"/>
          </a:p>
        </p:txBody>
      </p:sp>
      <p:sp>
        <p:nvSpPr>
          <p:cNvPr id="13" name="Shape 10"/>
          <p:cNvSpPr/>
          <p:nvPr/>
        </p:nvSpPr>
        <p:spPr>
          <a:xfrm>
            <a:off x="1645920" y="2834640"/>
            <a:ext cx="4937760" cy="2377440"/>
          </a:xfrm>
          <a:prstGeom prst="roundRect">
            <a:avLst>
              <a:gd name="adj" fmla="val 6923"/>
            </a:avLst>
          </a:prstGeom>
          <a:solidFill>
            <a:srgbClr val="18304A"/>
          </a:solidFill>
          <a:ln w="25400">
            <a:solidFill>
              <a:srgbClr val="8E72E6"/>
            </a:solidFill>
            <a:prstDash val="solid"/>
          </a:ln>
        </p:spPr>
      </p:sp>
      <p:sp>
        <p:nvSpPr>
          <p:cNvPr id="14" name="Text 11"/>
          <p:cNvSpPr txBox="1"/>
          <p:nvPr/>
        </p:nvSpPr>
        <p:spPr>
          <a:xfrm>
            <a:off x="1645920" y="3154680"/>
            <a:ext cx="4937760" cy="822960"/>
          </a:xfrm>
          <a:prstGeom prst="rect">
            <a:avLst/>
          </a:prstGeom>
          <a:noFill/>
          <a:ln/>
        </p:spPr>
        <p:txBody>
          <a:bodyPr wrap="square" lIns="0" tIns="0" rIns="0" bIns="0" rtlCol="0" anchor="ctr"/>
          <a:lstStyle/>
          <a:p>
            <a:pPr algn="ctr" indent="0" marL="0">
              <a:buNone/>
            </a:pPr>
            <a:r>
              <a:rPr lang="en-US" sz="4000" b="1" dirty="0">
                <a:solidFill>
                  <a:srgbClr val="8E72E6"/>
                </a:solidFill>
                <a:latin typeface="Cambria" pitchFamily="34" charset="0"/>
                <a:ea typeface="Cambria" pitchFamily="34" charset="-122"/>
                <a:cs typeface="Cambria" pitchFamily="34" charset="-120"/>
              </a:rPr>
              <a:t>LLM</a:t>
            </a:r>
            <a:endParaRPr lang="en-US" sz="4000" dirty="0"/>
          </a:p>
        </p:txBody>
      </p:sp>
      <p:sp>
        <p:nvSpPr>
          <p:cNvPr id="15" name="Text 12"/>
          <p:cNvSpPr txBox="1"/>
          <p:nvPr/>
        </p:nvSpPr>
        <p:spPr>
          <a:xfrm>
            <a:off x="1645920" y="4023360"/>
            <a:ext cx="4937760" cy="457200"/>
          </a:xfrm>
          <a:prstGeom prst="rect">
            <a:avLst/>
          </a:prstGeom>
          <a:noFill/>
          <a:ln/>
        </p:spPr>
        <p:txBody>
          <a:bodyPr wrap="square" lIns="0" tIns="0" rIns="0" bIns="0" rtlCol="0" anchor="ctr"/>
          <a:lstStyle/>
          <a:p>
            <a:pPr algn="ctr" indent="0" marL="0">
              <a:buNone/>
            </a:pPr>
            <a:r>
              <a:rPr lang="en-US" sz="1500" dirty="0">
                <a:solidFill>
                  <a:srgbClr val="EEF3F9"/>
                </a:solidFill>
                <a:latin typeface="Calibri" pitchFamily="34" charset="0"/>
                <a:ea typeface="Calibri" pitchFamily="34" charset="-122"/>
                <a:cs typeface="Calibri" pitchFamily="34" charset="-120"/>
              </a:rPr>
              <a:t>a bounded mind · text in, text out</a:t>
            </a:r>
            <a:endParaRPr lang="en-US" sz="1500" dirty="0"/>
          </a:p>
        </p:txBody>
      </p:sp>
      <p:sp>
        <p:nvSpPr>
          <p:cNvPr id="16" name="Text 13"/>
          <p:cNvSpPr txBox="1"/>
          <p:nvPr/>
        </p:nvSpPr>
        <p:spPr>
          <a:xfrm>
            <a:off x="1645920" y="4480560"/>
            <a:ext cx="4937760" cy="411480"/>
          </a:xfrm>
          <a:prstGeom prst="rect">
            <a:avLst/>
          </a:prstGeom>
          <a:noFill/>
          <a:ln/>
        </p:spPr>
        <p:txBody>
          <a:bodyPr wrap="square" lIns="0" tIns="0" rIns="0" bIns="0" rtlCol="0" anchor="ctr"/>
          <a:lstStyle/>
          <a:p>
            <a:pPr algn="ctr" indent="0" marL="0">
              <a:buNone/>
            </a:pPr>
            <a:r>
              <a:rPr lang="en-US" sz="1200" dirty="0">
                <a:solidFill>
                  <a:srgbClr val="8FA3B8"/>
                </a:solidFill>
                <a:latin typeface="Calibri" pitchFamily="34" charset="0"/>
                <a:ea typeface="Calibri" pitchFamily="34" charset="-122"/>
                <a:cs typeface="Calibri" pitchFamily="34" charset="-120"/>
              </a:rPr>
              <a:t>frozen knowledge · no hands · no memory</a:t>
            </a:r>
            <a:endParaRPr lang="en-US" sz="1200" dirty="0"/>
          </a:p>
        </p:txBody>
      </p:sp>
      <p:sp>
        <p:nvSpPr>
          <p:cNvPr id="17" name="Text 14"/>
          <p:cNvSpPr txBox="1"/>
          <p:nvPr/>
        </p:nvSpPr>
        <p:spPr>
          <a:xfrm>
            <a:off x="8001000" y="1463040"/>
            <a:ext cx="1097280" cy="320040"/>
          </a:xfrm>
          <a:prstGeom prst="rect">
            <a:avLst/>
          </a:prstGeom>
          <a:noFill/>
          <a:ln/>
        </p:spPr>
        <p:txBody>
          <a:bodyPr wrap="square" lIns="0" tIns="0" rIns="0" bIns="0" rtlCol="0" anchor="ctr"/>
          <a:lstStyle/>
          <a:p>
            <a:pPr indent="0" marL="0">
              <a:buNone/>
            </a:pPr>
            <a:r>
              <a:rPr lang="en-US" sz="1200" b="1" dirty="0">
                <a:solidFill>
                  <a:srgbClr val="2BA3C7"/>
                </a:solidFill>
                <a:latin typeface="Calibri" pitchFamily="34" charset="0"/>
                <a:ea typeface="Calibri" pitchFamily="34" charset="-122"/>
                <a:cs typeface="Calibri" pitchFamily="34" charset="-120"/>
              </a:rPr>
              <a:t>2 / 4</a:t>
            </a:r>
            <a:endParaRPr lang="en-US" sz="1200" dirty="0"/>
          </a:p>
        </p:txBody>
      </p:sp>
      <p:sp>
        <p:nvSpPr>
          <p:cNvPr id="18" name="Text 15"/>
          <p:cNvSpPr txBox="1"/>
          <p:nvPr/>
        </p:nvSpPr>
        <p:spPr>
          <a:xfrm>
            <a:off x="8001000" y="1783080"/>
            <a:ext cx="3657600" cy="914400"/>
          </a:xfrm>
          <a:prstGeom prst="rect">
            <a:avLst/>
          </a:prstGeom>
          <a:noFill/>
          <a:ln/>
        </p:spPr>
        <p:txBody>
          <a:bodyPr wrap="square" lIns="0" tIns="0" rIns="0" bIns="0" rtlCol="0" anchor="t"/>
          <a:lstStyle/>
          <a:p>
            <a:pPr indent="0" marL="0">
              <a:buNone/>
            </a:pPr>
            <a:r>
              <a:rPr lang="en-US" sz="1800" b="1" dirty="0">
                <a:solidFill>
                  <a:srgbClr val="EEF3F9"/>
                </a:solidFill>
                <a:latin typeface="Cambria" pitchFamily="34" charset="0"/>
                <a:ea typeface="Cambria" pitchFamily="34" charset="-122"/>
                <a:cs typeface="Cambria" pitchFamily="34" charset="-120"/>
              </a:rPr>
              <a:t>+ a system prompt and tools = an agent</a:t>
            </a:r>
            <a:endParaRPr lang="en-US" sz="1800" dirty="0"/>
          </a:p>
        </p:txBody>
      </p:sp>
      <p:sp>
        <p:nvSpPr>
          <p:cNvPr id="19" name="Text 16"/>
          <p:cNvSpPr txBox="1"/>
          <p:nvPr/>
        </p:nvSpPr>
        <p:spPr>
          <a:xfrm>
            <a:off x="8001000" y="2834640"/>
            <a:ext cx="3657600" cy="237744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the system prompt gives it a role, rules and the task's context</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tools give it hands: read files, run commands, call APIs</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it can now act on the world — once per answer</a:t>
            </a:r>
            <a:endParaRPr lang="en-US" sz="1300" dirty="0"/>
          </a:p>
        </p:txBody>
      </p:sp>
      <p:sp>
        <p:nvSpPr>
          <p:cNvPr id="20" name="Shape 17"/>
          <p:cNvSpPr/>
          <p:nvPr/>
        </p:nvSpPr>
        <p:spPr>
          <a:xfrm>
            <a:off x="8001000" y="5394960"/>
            <a:ext cx="3657600" cy="731520"/>
          </a:xfrm>
          <a:prstGeom prst="roundRect">
            <a:avLst>
              <a:gd name="adj" fmla="val 15000"/>
            </a:avLst>
          </a:prstGeom>
          <a:solidFill>
            <a:srgbClr val="13263B"/>
          </a:solidFill>
          <a:ln w="19050">
            <a:solidFill>
              <a:srgbClr val="2BA3C7"/>
            </a:solidFill>
            <a:prstDash val="solid"/>
          </a:ln>
        </p:spPr>
      </p:sp>
      <p:sp>
        <p:nvSpPr>
          <p:cNvPr id="21" name="Text 18"/>
          <p:cNvSpPr txBox="1"/>
          <p:nvPr/>
        </p:nvSpPr>
        <p:spPr>
          <a:xfrm>
            <a:off x="8138160" y="5394960"/>
            <a:ext cx="3383280" cy="731520"/>
          </a:xfrm>
          <a:prstGeom prst="rect">
            <a:avLst/>
          </a:prstGeom>
          <a:noFill/>
          <a:ln/>
        </p:spPr>
        <p:txBody>
          <a:bodyPr wrap="square" lIns="0" tIns="0" rIns="0" bIns="0" rtlCol="0" anchor="ctr"/>
          <a:lstStyle/>
          <a:p>
            <a:pPr indent="0" marL="0">
              <a:buNone/>
            </a:pPr>
            <a:r>
              <a:rPr lang="en-US" sz="1200" b="1" dirty="0">
                <a:solidFill>
                  <a:srgbClr val="2BA3C7"/>
                </a:solidFill>
                <a:latin typeface="Courier New" pitchFamily="34" charset="0"/>
                <a:ea typeface="Courier New" pitchFamily="34" charset="-122"/>
                <a:cs typeface="Courier New" pitchFamily="34" charset="-120"/>
              </a:rPr>
              <a:t>LLM + system prompt + tools = agent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7</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1 · FROM LLM TO 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Each layer wraps the last</a:t>
            </a:r>
            <a:endParaRPr lang="en-US" sz="3400" dirty="0"/>
          </a:p>
        </p:txBody>
      </p:sp>
      <p:sp>
        <p:nvSpPr>
          <p:cNvPr id="7" name="Shape 4"/>
          <p:cNvSpPr/>
          <p:nvPr/>
        </p:nvSpPr>
        <p:spPr>
          <a:xfrm>
            <a:off x="914400" y="1920240"/>
            <a:ext cx="6400800" cy="4114800"/>
          </a:xfrm>
          <a:prstGeom prst="roundRect">
            <a:avLst>
              <a:gd name="adj" fmla="val 4444"/>
            </a:avLst>
          </a:prstGeom>
          <a:solidFill>
            <a:srgbClr val="18304A"/>
          </a:solidFill>
          <a:ln w="38100">
            <a:solidFill>
              <a:srgbClr val="5FBF7A"/>
            </a:solidFill>
            <a:prstDash val="solid"/>
          </a:ln>
        </p:spPr>
      </p:sp>
      <p:sp>
        <p:nvSpPr>
          <p:cNvPr id="8" name="Text 5"/>
          <p:cNvSpPr txBox="1"/>
          <p:nvPr/>
        </p:nvSpPr>
        <p:spPr>
          <a:xfrm>
            <a:off x="1097280" y="1975104"/>
            <a:ext cx="1188720" cy="329184"/>
          </a:xfrm>
          <a:prstGeom prst="rect">
            <a:avLst/>
          </a:prstGeom>
          <a:noFill/>
          <a:ln/>
        </p:spPr>
        <p:txBody>
          <a:bodyPr wrap="square" lIns="0" tIns="0" rIns="0" bIns="0" rtlCol="0" anchor="ctr"/>
          <a:lstStyle/>
          <a:p>
            <a:pPr indent="0" marL="0">
              <a:buNone/>
            </a:pPr>
            <a:r>
              <a:rPr lang="en-US" sz="1400" b="1" dirty="0">
                <a:solidFill>
                  <a:srgbClr val="5FBF7A"/>
                </a:solidFill>
                <a:latin typeface="Calibri" pitchFamily="34" charset="0"/>
                <a:ea typeface="Calibri" pitchFamily="34" charset="-122"/>
                <a:cs typeface="Calibri" pitchFamily="34" charset="-120"/>
              </a:rPr>
              <a:t>Harness</a:t>
            </a:r>
            <a:endParaRPr lang="en-US" sz="1400" dirty="0"/>
          </a:p>
        </p:txBody>
      </p:sp>
      <p:sp>
        <p:nvSpPr>
          <p:cNvPr id="9" name="Shape 6"/>
          <p:cNvSpPr/>
          <p:nvPr/>
        </p:nvSpPr>
        <p:spPr>
          <a:xfrm>
            <a:off x="2286000" y="1993392"/>
            <a:ext cx="1566672" cy="292608"/>
          </a:xfrm>
          <a:prstGeom prst="roundRect">
            <a:avLst>
              <a:gd name="adj" fmla="val 50000"/>
            </a:avLst>
          </a:prstGeom>
          <a:solidFill>
            <a:srgbClr val="5FBF7A"/>
          </a:solidFill>
          <a:ln w="12700">
            <a:solidFill>
              <a:srgbClr val="5FBF7A"/>
            </a:solidFill>
            <a:prstDash val="solid"/>
          </a:ln>
        </p:spPr>
      </p:sp>
      <p:sp>
        <p:nvSpPr>
          <p:cNvPr id="10" name="Text 7"/>
          <p:cNvSpPr txBox="1"/>
          <p:nvPr/>
        </p:nvSpPr>
        <p:spPr>
          <a:xfrm>
            <a:off x="2286000" y="1993392"/>
            <a:ext cx="1566672"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the loop</a:t>
            </a:r>
            <a:endParaRPr lang="en-US" sz="1000" dirty="0"/>
          </a:p>
        </p:txBody>
      </p:sp>
      <p:sp>
        <p:nvSpPr>
          <p:cNvPr id="11" name="Shape 8"/>
          <p:cNvSpPr/>
          <p:nvPr/>
        </p:nvSpPr>
        <p:spPr>
          <a:xfrm>
            <a:off x="3925824" y="1993392"/>
            <a:ext cx="1566672" cy="292608"/>
          </a:xfrm>
          <a:prstGeom prst="roundRect">
            <a:avLst>
              <a:gd name="adj" fmla="val 50000"/>
            </a:avLst>
          </a:prstGeom>
          <a:solidFill>
            <a:srgbClr val="5FBF7A"/>
          </a:solidFill>
          <a:ln w="12700">
            <a:solidFill>
              <a:srgbClr val="5FBF7A"/>
            </a:solidFill>
            <a:prstDash val="solid"/>
          </a:ln>
        </p:spPr>
      </p:sp>
      <p:sp>
        <p:nvSpPr>
          <p:cNvPr id="12" name="Text 9"/>
          <p:cNvSpPr txBox="1"/>
          <p:nvPr/>
        </p:nvSpPr>
        <p:spPr>
          <a:xfrm>
            <a:off x="3925824" y="1993392"/>
            <a:ext cx="1566672"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context &amp; memory</a:t>
            </a:r>
            <a:endParaRPr lang="en-US" sz="1000" dirty="0"/>
          </a:p>
        </p:txBody>
      </p:sp>
      <p:sp>
        <p:nvSpPr>
          <p:cNvPr id="13" name="Shape 10"/>
          <p:cNvSpPr/>
          <p:nvPr/>
        </p:nvSpPr>
        <p:spPr>
          <a:xfrm>
            <a:off x="5565648" y="1993392"/>
            <a:ext cx="1566672" cy="292608"/>
          </a:xfrm>
          <a:prstGeom prst="roundRect">
            <a:avLst>
              <a:gd name="adj" fmla="val 50000"/>
            </a:avLst>
          </a:prstGeom>
          <a:solidFill>
            <a:srgbClr val="5FBF7A"/>
          </a:solidFill>
          <a:ln w="12700">
            <a:solidFill>
              <a:srgbClr val="5FBF7A"/>
            </a:solidFill>
            <a:prstDash val="solid"/>
          </a:ln>
        </p:spPr>
      </p:sp>
      <p:sp>
        <p:nvSpPr>
          <p:cNvPr id="14" name="Text 11"/>
          <p:cNvSpPr txBox="1"/>
          <p:nvPr/>
        </p:nvSpPr>
        <p:spPr>
          <a:xfrm>
            <a:off x="5565648" y="1993392"/>
            <a:ext cx="1566672"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permissions &amp; sandbox</a:t>
            </a:r>
            <a:endParaRPr lang="en-US" sz="1000" dirty="0"/>
          </a:p>
        </p:txBody>
      </p:sp>
      <p:sp>
        <p:nvSpPr>
          <p:cNvPr id="15" name="Shape 12"/>
          <p:cNvSpPr/>
          <p:nvPr/>
        </p:nvSpPr>
        <p:spPr>
          <a:xfrm>
            <a:off x="1280160" y="2377440"/>
            <a:ext cx="5669280" cy="3291840"/>
          </a:xfrm>
          <a:prstGeom prst="roundRect">
            <a:avLst>
              <a:gd name="adj" fmla="val 5556"/>
            </a:avLst>
          </a:prstGeom>
          <a:solidFill>
            <a:srgbClr val="13263B"/>
          </a:solidFill>
          <a:ln w="15875">
            <a:solidFill>
              <a:srgbClr val="2BA3C7"/>
            </a:solidFill>
            <a:prstDash val="dash"/>
          </a:ln>
        </p:spPr>
      </p:sp>
      <p:sp>
        <p:nvSpPr>
          <p:cNvPr id="16" name="Text 13"/>
          <p:cNvSpPr txBox="1"/>
          <p:nvPr/>
        </p:nvSpPr>
        <p:spPr>
          <a:xfrm>
            <a:off x="1463040" y="2432304"/>
            <a:ext cx="1188720" cy="329184"/>
          </a:xfrm>
          <a:prstGeom prst="rect">
            <a:avLst/>
          </a:prstGeom>
          <a:noFill/>
          <a:ln/>
        </p:spPr>
        <p:txBody>
          <a:bodyPr wrap="square" lIns="0" tIns="0" rIns="0" bIns="0" rtlCol="0" anchor="ctr"/>
          <a:lstStyle/>
          <a:p>
            <a:pPr indent="0" marL="0">
              <a:buNone/>
            </a:pPr>
            <a:r>
              <a:rPr lang="en-US" sz="1400" b="1" dirty="0">
                <a:solidFill>
                  <a:srgbClr val="2BA3C7"/>
                </a:solidFill>
                <a:latin typeface="Calibri" pitchFamily="34" charset="0"/>
                <a:ea typeface="Calibri" pitchFamily="34" charset="-122"/>
                <a:cs typeface="Calibri" pitchFamily="34" charset="-120"/>
              </a:rPr>
              <a:t>Agent</a:t>
            </a:r>
            <a:endParaRPr lang="en-US" sz="1400" dirty="0"/>
          </a:p>
        </p:txBody>
      </p:sp>
      <p:sp>
        <p:nvSpPr>
          <p:cNvPr id="17" name="Shape 14"/>
          <p:cNvSpPr/>
          <p:nvPr/>
        </p:nvSpPr>
        <p:spPr>
          <a:xfrm>
            <a:off x="2651760" y="2450592"/>
            <a:ext cx="2020824" cy="292608"/>
          </a:xfrm>
          <a:prstGeom prst="roundRect">
            <a:avLst>
              <a:gd name="adj" fmla="val 50000"/>
            </a:avLst>
          </a:prstGeom>
          <a:solidFill>
            <a:srgbClr val="13263B"/>
          </a:solidFill>
          <a:ln w="12700">
            <a:solidFill>
              <a:srgbClr val="2BA3C7"/>
            </a:solidFill>
            <a:prstDash val="solid"/>
          </a:ln>
        </p:spPr>
      </p:sp>
      <p:sp>
        <p:nvSpPr>
          <p:cNvPr id="18" name="Text 15"/>
          <p:cNvSpPr txBox="1"/>
          <p:nvPr/>
        </p:nvSpPr>
        <p:spPr>
          <a:xfrm>
            <a:off x="2651760" y="2450592"/>
            <a:ext cx="2020824" cy="292608"/>
          </a:xfrm>
          <a:prstGeom prst="rect">
            <a:avLst/>
          </a:prstGeom>
          <a:noFill/>
          <a:ln/>
        </p:spPr>
        <p:txBody>
          <a:bodyPr wrap="square" lIns="0" tIns="0" rIns="0" bIns="0" rtlCol="0" anchor="ctr"/>
          <a:lstStyle/>
          <a:p>
            <a:pPr algn="ctr" indent="0" marL="0">
              <a:buNone/>
            </a:pPr>
            <a:r>
              <a:rPr lang="en-US" sz="1000" b="1" dirty="0">
                <a:solidFill>
                  <a:srgbClr val="2BA3C7"/>
                </a:solidFill>
                <a:latin typeface="Calibri" pitchFamily="34" charset="0"/>
                <a:ea typeface="Calibri" pitchFamily="34" charset="-122"/>
                <a:cs typeface="Calibri" pitchFamily="34" charset="-120"/>
              </a:rPr>
              <a:t>system prompt</a:t>
            </a:r>
            <a:endParaRPr lang="en-US" sz="1000" dirty="0"/>
          </a:p>
        </p:txBody>
      </p:sp>
      <p:sp>
        <p:nvSpPr>
          <p:cNvPr id="19" name="Shape 16"/>
          <p:cNvSpPr/>
          <p:nvPr/>
        </p:nvSpPr>
        <p:spPr>
          <a:xfrm>
            <a:off x="4745736" y="2450592"/>
            <a:ext cx="2020824" cy="292608"/>
          </a:xfrm>
          <a:prstGeom prst="roundRect">
            <a:avLst>
              <a:gd name="adj" fmla="val 50000"/>
            </a:avLst>
          </a:prstGeom>
          <a:solidFill>
            <a:srgbClr val="13263B"/>
          </a:solidFill>
          <a:ln w="12700">
            <a:solidFill>
              <a:srgbClr val="2BA3C7"/>
            </a:solidFill>
            <a:prstDash val="solid"/>
          </a:ln>
        </p:spPr>
      </p:sp>
      <p:sp>
        <p:nvSpPr>
          <p:cNvPr id="20" name="Text 17"/>
          <p:cNvSpPr txBox="1"/>
          <p:nvPr/>
        </p:nvSpPr>
        <p:spPr>
          <a:xfrm>
            <a:off x="4745736" y="2450592"/>
            <a:ext cx="2020824" cy="292608"/>
          </a:xfrm>
          <a:prstGeom prst="rect">
            <a:avLst/>
          </a:prstGeom>
          <a:noFill/>
          <a:ln/>
        </p:spPr>
        <p:txBody>
          <a:bodyPr wrap="square" lIns="0" tIns="0" rIns="0" bIns="0" rtlCol="0" anchor="ctr"/>
          <a:lstStyle/>
          <a:p>
            <a:pPr algn="ctr" indent="0" marL="0">
              <a:buNone/>
            </a:pPr>
            <a:r>
              <a:rPr lang="en-US" sz="1000" b="1" dirty="0">
                <a:solidFill>
                  <a:srgbClr val="2BA3C7"/>
                </a:solidFill>
                <a:latin typeface="Calibri" pitchFamily="34" charset="0"/>
                <a:ea typeface="Calibri" pitchFamily="34" charset="-122"/>
                <a:cs typeface="Calibri" pitchFamily="34" charset="-120"/>
              </a:rPr>
              <a:t>tools</a:t>
            </a:r>
            <a:endParaRPr lang="en-US" sz="1000" dirty="0"/>
          </a:p>
        </p:txBody>
      </p:sp>
      <p:sp>
        <p:nvSpPr>
          <p:cNvPr id="21" name="Shape 18"/>
          <p:cNvSpPr/>
          <p:nvPr/>
        </p:nvSpPr>
        <p:spPr>
          <a:xfrm>
            <a:off x="1645920" y="2834640"/>
            <a:ext cx="4937760" cy="2377440"/>
          </a:xfrm>
          <a:prstGeom prst="roundRect">
            <a:avLst>
              <a:gd name="adj" fmla="val 6923"/>
            </a:avLst>
          </a:prstGeom>
          <a:solidFill>
            <a:srgbClr val="18304A"/>
          </a:solidFill>
          <a:ln w="25400">
            <a:solidFill>
              <a:srgbClr val="8E72E6"/>
            </a:solidFill>
            <a:prstDash val="solid"/>
          </a:ln>
        </p:spPr>
      </p:sp>
      <p:sp>
        <p:nvSpPr>
          <p:cNvPr id="22" name="Text 19"/>
          <p:cNvSpPr txBox="1"/>
          <p:nvPr/>
        </p:nvSpPr>
        <p:spPr>
          <a:xfrm>
            <a:off x="1645920" y="3154680"/>
            <a:ext cx="4937760" cy="822960"/>
          </a:xfrm>
          <a:prstGeom prst="rect">
            <a:avLst/>
          </a:prstGeom>
          <a:noFill/>
          <a:ln/>
        </p:spPr>
        <p:txBody>
          <a:bodyPr wrap="square" lIns="0" tIns="0" rIns="0" bIns="0" rtlCol="0" anchor="ctr"/>
          <a:lstStyle/>
          <a:p>
            <a:pPr algn="ctr" indent="0" marL="0">
              <a:buNone/>
            </a:pPr>
            <a:r>
              <a:rPr lang="en-US" sz="4000" b="1" dirty="0">
                <a:solidFill>
                  <a:srgbClr val="8E72E6"/>
                </a:solidFill>
                <a:latin typeface="Cambria" pitchFamily="34" charset="0"/>
                <a:ea typeface="Cambria" pitchFamily="34" charset="-122"/>
                <a:cs typeface="Cambria" pitchFamily="34" charset="-120"/>
              </a:rPr>
              <a:t>LLM</a:t>
            </a:r>
            <a:endParaRPr lang="en-US" sz="4000" dirty="0"/>
          </a:p>
        </p:txBody>
      </p:sp>
      <p:sp>
        <p:nvSpPr>
          <p:cNvPr id="23" name="Text 20"/>
          <p:cNvSpPr txBox="1"/>
          <p:nvPr/>
        </p:nvSpPr>
        <p:spPr>
          <a:xfrm>
            <a:off x="1645920" y="4023360"/>
            <a:ext cx="4937760" cy="457200"/>
          </a:xfrm>
          <a:prstGeom prst="rect">
            <a:avLst/>
          </a:prstGeom>
          <a:noFill/>
          <a:ln/>
        </p:spPr>
        <p:txBody>
          <a:bodyPr wrap="square" lIns="0" tIns="0" rIns="0" bIns="0" rtlCol="0" anchor="ctr"/>
          <a:lstStyle/>
          <a:p>
            <a:pPr algn="ctr" indent="0" marL="0">
              <a:buNone/>
            </a:pPr>
            <a:r>
              <a:rPr lang="en-US" sz="1500" dirty="0">
                <a:solidFill>
                  <a:srgbClr val="EEF3F9"/>
                </a:solidFill>
                <a:latin typeface="Calibri" pitchFamily="34" charset="0"/>
                <a:ea typeface="Calibri" pitchFamily="34" charset="-122"/>
                <a:cs typeface="Calibri" pitchFamily="34" charset="-120"/>
              </a:rPr>
              <a:t>a bounded mind · text in, text out</a:t>
            </a:r>
            <a:endParaRPr lang="en-US" sz="1500" dirty="0"/>
          </a:p>
        </p:txBody>
      </p:sp>
      <p:sp>
        <p:nvSpPr>
          <p:cNvPr id="24" name="Text 21"/>
          <p:cNvSpPr txBox="1"/>
          <p:nvPr/>
        </p:nvSpPr>
        <p:spPr>
          <a:xfrm>
            <a:off x="1645920" y="4480560"/>
            <a:ext cx="4937760" cy="411480"/>
          </a:xfrm>
          <a:prstGeom prst="rect">
            <a:avLst/>
          </a:prstGeom>
          <a:noFill/>
          <a:ln/>
        </p:spPr>
        <p:txBody>
          <a:bodyPr wrap="square" lIns="0" tIns="0" rIns="0" bIns="0" rtlCol="0" anchor="ctr"/>
          <a:lstStyle/>
          <a:p>
            <a:pPr algn="ctr" indent="0" marL="0">
              <a:buNone/>
            </a:pPr>
            <a:r>
              <a:rPr lang="en-US" sz="1200" dirty="0">
                <a:solidFill>
                  <a:srgbClr val="8FA3B8"/>
                </a:solidFill>
                <a:latin typeface="Calibri" pitchFamily="34" charset="0"/>
                <a:ea typeface="Calibri" pitchFamily="34" charset="-122"/>
                <a:cs typeface="Calibri" pitchFamily="34" charset="-120"/>
              </a:rPr>
              <a:t>frozen knowledge · no hands · no memory</a:t>
            </a:r>
            <a:endParaRPr lang="en-US" sz="1200" dirty="0"/>
          </a:p>
        </p:txBody>
      </p:sp>
      <p:sp>
        <p:nvSpPr>
          <p:cNvPr id="25" name="Text 22"/>
          <p:cNvSpPr txBox="1"/>
          <p:nvPr/>
        </p:nvSpPr>
        <p:spPr>
          <a:xfrm>
            <a:off x="8001000" y="1463040"/>
            <a:ext cx="1097280" cy="320040"/>
          </a:xfrm>
          <a:prstGeom prst="rect">
            <a:avLst/>
          </a:prstGeom>
          <a:noFill/>
          <a:ln/>
        </p:spPr>
        <p:txBody>
          <a:bodyPr wrap="square" lIns="0" tIns="0" rIns="0" bIns="0" rtlCol="0" anchor="ctr"/>
          <a:lstStyle/>
          <a:p>
            <a:pPr indent="0" marL="0">
              <a:buNone/>
            </a:pPr>
            <a:r>
              <a:rPr lang="en-US" sz="1200" b="1" dirty="0">
                <a:solidFill>
                  <a:srgbClr val="5FBF7A"/>
                </a:solidFill>
                <a:latin typeface="Calibri" pitchFamily="34" charset="0"/>
                <a:ea typeface="Calibri" pitchFamily="34" charset="-122"/>
                <a:cs typeface="Calibri" pitchFamily="34" charset="-120"/>
              </a:rPr>
              <a:t>3 / 4</a:t>
            </a:r>
            <a:endParaRPr lang="en-US" sz="1200" dirty="0"/>
          </a:p>
        </p:txBody>
      </p:sp>
      <p:sp>
        <p:nvSpPr>
          <p:cNvPr id="26" name="Text 23"/>
          <p:cNvSpPr txBox="1"/>
          <p:nvPr/>
        </p:nvSpPr>
        <p:spPr>
          <a:xfrm>
            <a:off x="8001000" y="1783080"/>
            <a:ext cx="3657600" cy="914400"/>
          </a:xfrm>
          <a:prstGeom prst="rect">
            <a:avLst/>
          </a:prstGeom>
          <a:noFill/>
          <a:ln/>
        </p:spPr>
        <p:txBody>
          <a:bodyPr wrap="square" lIns="0" tIns="0" rIns="0" bIns="0" rtlCol="0" anchor="t"/>
          <a:lstStyle/>
          <a:p>
            <a:pPr indent="0" marL="0">
              <a:buNone/>
            </a:pPr>
            <a:r>
              <a:rPr lang="en-US" sz="1800" b="1" dirty="0">
                <a:solidFill>
                  <a:srgbClr val="EEF3F9"/>
                </a:solidFill>
                <a:latin typeface="Cambria" pitchFamily="34" charset="0"/>
                <a:ea typeface="Cambria" pitchFamily="34" charset="-122"/>
                <a:cs typeface="Cambria" pitchFamily="34" charset="-120"/>
              </a:rPr>
              <a:t>+ a loop, memory and permissions = a harness</a:t>
            </a:r>
            <a:endParaRPr lang="en-US" sz="1800" dirty="0"/>
          </a:p>
        </p:txBody>
      </p:sp>
      <p:sp>
        <p:nvSpPr>
          <p:cNvPr id="27" name="Text 24"/>
          <p:cNvSpPr txBox="1"/>
          <p:nvPr/>
        </p:nvSpPr>
        <p:spPr>
          <a:xfrm>
            <a:off x="8001000" y="2834640"/>
            <a:ext cx="3657600" cy="237744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the loop: observe → think → act → check, until the task is done</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context and memory: what it sees now, what survives the session</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permissions and sandbox: what it may do without asking</a:t>
            </a:r>
            <a:endParaRPr lang="en-US" sz="1300" dirty="0"/>
          </a:p>
        </p:txBody>
      </p:sp>
      <p:sp>
        <p:nvSpPr>
          <p:cNvPr id="28" name="Shape 25"/>
          <p:cNvSpPr/>
          <p:nvPr/>
        </p:nvSpPr>
        <p:spPr>
          <a:xfrm>
            <a:off x="8001000" y="5394960"/>
            <a:ext cx="3657600" cy="731520"/>
          </a:xfrm>
          <a:prstGeom prst="roundRect">
            <a:avLst>
              <a:gd name="adj" fmla="val 15000"/>
            </a:avLst>
          </a:prstGeom>
          <a:solidFill>
            <a:srgbClr val="13263B"/>
          </a:solidFill>
          <a:ln w="19050">
            <a:solidFill>
              <a:srgbClr val="5FBF7A"/>
            </a:solidFill>
            <a:prstDash val="solid"/>
          </a:ln>
        </p:spPr>
      </p:sp>
      <p:sp>
        <p:nvSpPr>
          <p:cNvPr id="29" name="Text 26"/>
          <p:cNvSpPr txBox="1"/>
          <p:nvPr/>
        </p:nvSpPr>
        <p:spPr>
          <a:xfrm>
            <a:off x="8138160" y="5394960"/>
            <a:ext cx="3383280" cy="731520"/>
          </a:xfrm>
          <a:prstGeom prst="rect">
            <a:avLst/>
          </a:prstGeom>
          <a:noFill/>
          <a:ln/>
        </p:spPr>
        <p:txBody>
          <a:bodyPr wrap="square" lIns="0" tIns="0" rIns="0" bIns="0" rtlCol="0" anchor="ctr"/>
          <a:lstStyle/>
          <a:p>
            <a:pPr indent="0" marL="0">
              <a:buNone/>
            </a:pPr>
            <a:r>
              <a:rPr lang="en-US" sz="1200" b="1" dirty="0">
                <a:solidFill>
                  <a:srgbClr val="5FBF7A"/>
                </a:solidFill>
                <a:latin typeface="Courier New" pitchFamily="34" charset="0"/>
                <a:ea typeface="Courier New" pitchFamily="34" charset="-122"/>
                <a:cs typeface="Courier New" pitchFamily="34" charset="-120"/>
              </a:rPr>
              <a:t>agent + loop + memory + permissions = harness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8</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1 · FROM LLM TO 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Each layer wraps the last</a:t>
            </a:r>
            <a:endParaRPr lang="en-US" sz="3400" dirty="0"/>
          </a:p>
        </p:txBody>
      </p:sp>
      <p:sp>
        <p:nvSpPr>
          <p:cNvPr id="7" name="Shape 4"/>
          <p:cNvSpPr/>
          <p:nvPr/>
        </p:nvSpPr>
        <p:spPr>
          <a:xfrm>
            <a:off x="457200" y="1463040"/>
            <a:ext cx="7223760" cy="4937760"/>
          </a:xfrm>
          <a:prstGeom prst="roundRect">
            <a:avLst>
              <a:gd name="adj" fmla="val 3704"/>
            </a:avLst>
          </a:prstGeom>
          <a:solidFill>
            <a:srgbClr val="18304A"/>
          </a:solidFill>
          <a:ln w="38100">
            <a:solidFill>
              <a:srgbClr val="D4AF37"/>
            </a:solidFill>
            <a:prstDash val="solid"/>
          </a:ln>
        </p:spPr>
      </p:sp>
      <p:sp>
        <p:nvSpPr>
          <p:cNvPr id="8" name="Text 5"/>
          <p:cNvSpPr txBox="1"/>
          <p:nvPr/>
        </p:nvSpPr>
        <p:spPr>
          <a:xfrm>
            <a:off x="640080" y="1517904"/>
            <a:ext cx="1188720" cy="329184"/>
          </a:xfrm>
          <a:prstGeom prst="rect">
            <a:avLst/>
          </a:prstGeom>
          <a:noFill/>
          <a:ln/>
        </p:spPr>
        <p:txBody>
          <a:bodyPr wrap="square" lIns="0" tIns="0" rIns="0" bIns="0" rtlCol="0" anchor="ctr"/>
          <a:lstStyle/>
          <a:p>
            <a:pPr indent="0" marL="0">
              <a:buNone/>
            </a:pPr>
            <a:r>
              <a:rPr lang="en-US" sz="1400" b="1" dirty="0">
                <a:solidFill>
                  <a:srgbClr val="D4AF37"/>
                </a:solidFill>
                <a:latin typeface="Calibri" pitchFamily="34" charset="0"/>
                <a:ea typeface="Calibri" pitchFamily="34" charset="-122"/>
                <a:cs typeface="Calibri" pitchFamily="34" charset="-120"/>
              </a:rPr>
              <a:t>Agent-One</a:t>
            </a:r>
            <a:endParaRPr lang="en-US" sz="1400" dirty="0"/>
          </a:p>
        </p:txBody>
      </p:sp>
      <p:sp>
        <p:nvSpPr>
          <p:cNvPr id="9" name="Shape 6"/>
          <p:cNvSpPr/>
          <p:nvPr/>
        </p:nvSpPr>
        <p:spPr>
          <a:xfrm>
            <a:off x="1828800" y="1536192"/>
            <a:ext cx="1075334" cy="292608"/>
          </a:xfrm>
          <a:prstGeom prst="roundRect">
            <a:avLst>
              <a:gd name="adj" fmla="val 50000"/>
            </a:avLst>
          </a:prstGeom>
          <a:solidFill>
            <a:srgbClr val="D4AF37"/>
          </a:solidFill>
          <a:ln w="12700">
            <a:solidFill>
              <a:srgbClr val="D4AF37"/>
            </a:solidFill>
            <a:prstDash val="solid"/>
          </a:ln>
        </p:spPr>
      </p:sp>
      <p:sp>
        <p:nvSpPr>
          <p:cNvPr id="10" name="Text 7"/>
          <p:cNvSpPr txBox="1"/>
          <p:nvPr/>
        </p:nvSpPr>
        <p:spPr>
          <a:xfrm>
            <a:off x="1828800" y="1536192"/>
            <a:ext cx="1075334"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guard &amp; gate</a:t>
            </a:r>
            <a:endParaRPr lang="en-US" sz="1000" dirty="0"/>
          </a:p>
        </p:txBody>
      </p:sp>
      <p:sp>
        <p:nvSpPr>
          <p:cNvPr id="11" name="Shape 8"/>
          <p:cNvSpPr/>
          <p:nvPr/>
        </p:nvSpPr>
        <p:spPr>
          <a:xfrm>
            <a:off x="2977286" y="1536192"/>
            <a:ext cx="1075334" cy="292608"/>
          </a:xfrm>
          <a:prstGeom prst="roundRect">
            <a:avLst>
              <a:gd name="adj" fmla="val 50000"/>
            </a:avLst>
          </a:prstGeom>
          <a:solidFill>
            <a:srgbClr val="D4AF37"/>
          </a:solidFill>
          <a:ln w="12700">
            <a:solidFill>
              <a:srgbClr val="D4AF37"/>
            </a:solidFill>
            <a:prstDash val="solid"/>
          </a:ln>
        </p:spPr>
      </p:sp>
      <p:sp>
        <p:nvSpPr>
          <p:cNvPr id="12" name="Text 9"/>
          <p:cNvSpPr txBox="1"/>
          <p:nvPr/>
        </p:nvSpPr>
        <p:spPr>
          <a:xfrm>
            <a:off x="2977286" y="1536192"/>
            <a:ext cx="1075334"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previews</a:t>
            </a:r>
            <a:endParaRPr lang="en-US" sz="1000" dirty="0"/>
          </a:p>
        </p:txBody>
      </p:sp>
      <p:sp>
        <p:nvSpPr>
          <p:cNvPr id="13" name="Shape 10"/>
          <p:cNvSpPr/>
          <p:nvPr/>
        </p:nvSpPr>
        <p:spPr>
          <a:xfrm>
            <a:off x="4125773" y="1536192"/>
            <a:ext cx="1075334" cy="292608"/>
          </a:xfrm>
          <a:prstGeom prst="roundRect">
            <a:avLst>
              <a:gd name="adj" fmla="val 50000"/>
            </a:avLst>
          </a:prstGeom>
          <a:solidFill>
            <a:srgbClr val="D4AF37"/>
          </a:solidFill>
          <a:ln w="12700">
            <a:solidFill>
              <a:srgbClr val="D4AF37"/>
            </a:solidFill>
            <a:prstDash val="solid"/>
          </a:ln>
        </p:spPr>
      </p:sp>
      <p:sp>
        <p:nvSpPr>
          <p:cNvPr id="14" name="Text 11"/>
          <p:cNvSpPr txBox="1"/>
          <p:nvPr/>
        </p:nvSpPr>
        <p:spPr>
          <a:xfrm>
            <a:off x="4125773" y="1536192"/>
            <a:ext cx="1075334"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subagents</a:t>
            </a:r>
            <a:endParaRPr lang="en-US" sz="1000" dirty="0"/>
          </a:p>
        </p:txBody>
      </p:sp>
      <p:sp>
        <p:nvSpPr>
          <p:cNvPr id="15" name="Shape 12"/>
          <p:cNvSpPr/>
          <p:nvPr/>
        </p:nvSpPr>
        <p:spPr>
          <a:xfrm>
            <a:off x="5274259" y="1536192"/>
            <a:ext cx="1075334" cy="292608"/>
          </a:xfrm>
          <a:prstGeom prst="roundRect">
            <a:avLst>
              <a:gd name="adj" fmla="val 50000"/>
            </a:avLst>
          </a:prstGeom>
          <a:solidFill>
            <a:srgbClr val="D4AF37"/>
          </a:solidFill>
          <a:ln w="12700">
            <a:solidFill>
              <a:srgbClr val="D4AF37"/>
            </a:solidFill>
            <a:prstDash val="solid"/>
          </a:ln>
        </p:spPr>
      </p:sp>
      <p:sp>
        <p:nvSpPr>
          <p:cNvPr id="16" name="Text 13"/>
          <p:cNvSpPr txBox="1"/>
          <p:nvPr/>
        </p:nvSpPr>
        <p:spPr>
          <a:xfrm>
            <a:off x="5274259" y="1536192"/>
            <a:ext cx="1075334"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gateway · registry</a:t>
            </a:r>
            <a:endParaRPr lang="en-US" sz="1000" dirty="0"/>
          </a:p>
        </p:txBody>
      </p:sp>
      <p:sp>
        <p:nvSpPr>
          <p:cNvPr id="17" name="Shape 14"/>
          <p:cNvSpPr/>
          <p:nvPr/>
        </p:nvSpPr>
        <p:spPr>
          <a:xfrm>
            <a:off x="6422746" y="1536192"/>
            <a:ext cx="1075334" cy="292608"/>
          </a:xfrm>
          <a:prstGeom prst="roundRect">
            <a:avLst>
              <a:gd name="adj" fmla="val 50000"/>
            </a:avLst>
          </a:prstGeom>
          <a:solidFill>
            <a:srgbClr val="D4AF37"/>
          </a:solidFill>
          <a:ln w="12700">
            <a:solidFill>
              <a:srgbClr val="D4AF37"/>
            </a:solidFill>
            <a:prstDash val="solid"/>
          </a:ln>
        </p:spPr>
      </p:sp>
      <p:sp>
        <p:nvSpPr>
          <p:cNvPr id="18" name="Text 15"/>
          <p:cNvSpPr txBox="1"/>
          <p:nvPr/>
        </p:nvSpPr>
        <p:spPr>
          <a:xfrm>
            <a:off x="6422746" y="1536192"/>
            <a:ext cx="1075334"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it learns</a:t>
            </a:r>
            <a:endParaRPr lang="en-US" sz="1000" dirty="0"/>
          </a:p>
        </p:txBody>
      </p:sp>
      <p:sp>
        <p:nvSpPr>
          <p:cNvPr id="19" name="Shape 16"/>
          <p:cNvSpPr/>
          <p:nvPr/>
        </p:nvSpPr>
        <p:spPr>
          <a:xfrm>
            <a:off x="914400" y="1920240"/>
            <a:ext cx="6400800" cy="4114800"/>
          </a:xfrm>
          <a:prstGeom prst="roundRect">
            <a:avLst>
              <a:gd name="adj" fmla="val 4444"/>
            </a:avLst>
          </a:prstGeom>
          <a:solidFill>
            <a:srgbClr val="13263B"/>
          </a:solidFill>
          <a:ln w="15875">
            <a:solidFill>
              <a:srgbClr val="5FBF7A"/>
            </a:solidFill>
            <a:prstDash val="dash"/>
          </a:ln>
        </p:spPr>
      </p:sp>
      <p:sp>
        <p:nvSpPr>
          <p:cNvPr id="20" name="Text 17"/>
          <p:cNvSpPr txBox="1"/>
          <p:nvPr/>
        </p:nvSpPr>
        <p:spPr>
          <a:xfrm>
            <a:off x="1097280" y="1975104"/>
            <a:ext cx="1188720" cy="329184"/>
          </a:xfrm>
          <a:prstGeom prst="rect">
            <a:avLst/>
          </a:prstGeom>
          <a:noFill/>
          <a:ln/>
        </p:spPr>
        <p:txBody>
          <a:bodyPr wrap="square" lIns="0" tIns="0" rIns="0" bIns="0" rtlCol="0" anchor="ctr"/>
          <a:lstStyle/>
          <a:p>
            <a:pPr indent="0" marL="0">
              <a:buNone/>
            </a:pPr>
            <a:r>
              <a:rPr lang="en-US" sz="1400" b="1" dirty="0">
                <a:solidFill>
                  <a:srgbClr val="5FBF7A"/>
                </a:solidFill>
                <a:latin typeface="Calibri" pitchFamily="34" charset="0"/>
                <a:ea typeface="Calibri" pitchFamily="34" charset="-122"/>
                <a:cs typeface="Calibri" pitchFamily="34" charset="-120"/>
              </a:rPr>
              <a:t>Harness</a:t>
            </a:r>
            <a:endParaRPr lang="en-US" sz="1400" dirty="0"/>
          </a:p>
        </p:txBody>
      </p:sp>
      <p:sp>
        <p:nvSpPr>
          <p:cNvPr id="21" name="Shape 18"/>
          <p:cNvSpPr/>
          <p:nvPr/>
        </p:nvSpPr>
        <p:spPr>
          <a:xfrm>
            <a:off x="2286000" y="1993392"/>
            <a:ext cx="1566672" cy="292608"/>
          </a:xfrm>
          <a:prstGeom prst="roundRect">
            <a:avLst>
              <a:gd name="adj" fmla="val 50000"/>
            </a:avLst>
          </a:prstGeom>
          <a:solidFill>
            <a:srgbClr val="13263B"/>
          </a:solidFill>
          <a:ln w="12700">
            <a:solidFill>
              <a:srgbClr val="5FBF7A"/>
            </a:solidFill>
            <a:prstDash val="solid"/>
          </a:ln>
        </p:spPr>
      </p:sp>
      <p:sp>
        <p:nvSpPr>
          <p:cNvPr id="22" name="Text 19"/>
          <p:cNvSpPr txBox="1"/>
          <p:nvPr/>
        </p:nvSpPr>
        <p:spPr>
          <a:xfrm>
            <a:off x="2286000" y="1993392"/>
            <a:ext cx="1566672" cy="292608"/>
          </a:xfrm>
          <a:prstGeom prst="rect">
            <a:avLst/>
          </a:prstGeom>
          <a:noFill/>
          <a:ln/>
        </p:spPr>
        <p:txBody>
          <a:bodyPr wrap="square" lIns="0" tIns="0" rIns="0" bIns="0" rtlCol="0" anchor="ctr"/>
          <a:lstStyle/>
          <a:p>
            <a:pPr algn="ctr" indent="0" marL="0">
              <a:buNone/>
            </a:pPr>
            <a:r>
              <a:rPr lang="en-US" sz="1000" b="1" dirty="0">
                <a:solidFill>
                  <a:srgbClr val="5FBF7A"/>
                </a:solidFill>
                <a:latin typeface="Calibri" pitchFamily="34" charset="0"/>
                <a:ea typeface="Calibri" pitchFamily="34" charset="-122"/>
                <a:cs typeface="Calibri" pitchFamily="34" charset="-120"/>
              </a:rPr>
              <a:t>the loop</a:t>
            </a:r>
            <a:endParaRPr lang="en-US" sz="1000" dirty="0"/>
          </a:p>
        </p:txBody>
      </p:sp>
      <p:sp>
        <p:nvSpPr>
          <p:cNvPr id="23" name="Shape 20"/>
          <p:cNvSpPr/>
          <p:nvPr/>
        </p:nvSpPr>
        <p:spPr>
          <a:xfrm>
            <a:off x="3925824" y="1993392"/>
            <a:ext cx="1566672" cy="292608"/>
          </a:xfrm>
          <a:prstGeom prst="roundRect">
            <a:avLst>
              <a:gd name="adj" fmla="val 50000"/>
            </a:avLst>
          </a:prstGeom>
          <a:solidFill>
            <a:srgbClr val="13263B"/>
          </a:solidFill>
          <a:ln w="12700">
            <a:solidFill>
              <a:srgbClr val="5FBF7A"/>
            </a:solidFill>
            <a:prstDash val="solid"/>
          </a:ln>
        </p:spPr>
      </p:sp>
      <p:sp>
        <p:nvSpPr>
          <p:cNvPr id="24" name="Text 21"/>
          <p:cNvSpPr txBox="1"/>
          <p:nvPr/>
        </p:nvSpPr>
        <p:spPr>
          <a:xfrm>
            <a:off x="3925824" y="1993392"/>
            <a:ext cx="1566672" cy="292608"/>
          </a:xfrm>
          <a:prstGeom prst="rect">
            <a:avLst/>
          </a:prstGeom>
          <a:noFill/>
          <a:ln/>
        </p:spPr>
        <p:txBody>
          <a:bodyPr wrap="square" lIns="0" tIns="0" rIns="0" bIns="0" rtlCol="0" anchor="ctr"/>
          <a:lstStyle/>
          <a:p>
            <a:pPr algn="ctr" indent="0" marL="0">
              <a:buNone/>
            </a:pPr>
            <a:r>
              <a:rPr lang="en-US" sz="1000" b="1" dirty="0">
                <a:solidFill>
                  <a:srgbClr val="5FBF7A"/>
                </a:solidFill>
                <a:latin typeface="Calibri" pitchFamily="34" charset="0"/>
                <a:ea typeface="Calibri" pitchFamily="34" charset="-122"/>
                <a:cs typeface="Calibri" pitchFamily="34" charset="-120"/>
              </a:rPr>
              <a:t>context &amp; memory</a:t>
            </a:r>
            <a:endParaRPr lang="en-US" sz="1000" dirty="0"/>
          </a:p>
        </p:txBody>
      </p:sp>
      <p:sp>
        <p:nvSpPr>
          <p:cNvPr id="25" name="Shape 22"/>
          <p:cNvSpPr/>
          <p:nvPr/>
        </p:nvSpPr>
        <p:spPr>
          <a:xfrm>
            <a:off x="5565648" y="1993392"/>
            <a:ext cx="1566672" cy="292608"/>
          </a:xfrm>
          <a:prstGeom prst="roundRect">
            <a:avLst>
              <a:gd name="adj" fmla="val 50000"/>
            </a:avLst>
          </a:prstGeom>
          <a:solidFill>
            <a:srgbClr val="13263B"/>
          </a:solidFill>
          <a:ln w="12700">
            <a:solidFill>
              <a:srgbClr val="5FBF7A"/>
            </a:solidFill>
            <a:prstDash val="solid"/>
          </a:ln>
        </p:spPr>
      </p:sp>
      <p:sp>
        <p:nvSpPr>
          <p:cNvPr id="26" name="Text 23"/>
          <p:cNvSpPr txBox="1"/>
          <p:nvPr/>
        </p:nvSpPr>
        <p:spPr>
          <a:xfrm>
            <a:off x="5565648" y="1993392"/>
            <a:ext cx="1566672" cy="292608"/>
          </a:xfrm>
          <a:prstGeom prst="rect">
            <a:avLst/>
          </a:prstGeom>
          <a:noFill/>
          <a:ln/>
        </p:spPr>
        <p:txBody>
          <a:bodyPr wrap="square" lIns="0" tIns="0" rIns="0" bIns="0" rtlCol="0" anchor="ctr"/>
          <a:lstStyle/>
          <a:p>
            <a:pPr algn="ctr" indent="0" marL="0">
              <a:buNone/>
            </a:pPr>
            <a:r>
              <a:rPr lang="en-US" sz="1000" b="1" dirty="0">
                <a:solidFill>
                  <a:srgbClr val="5FBF7A"/>
                </a:solidFill>
                <a:latin typeface="Calibri" pitchFamily="34" charset="0"/>
                <a:ea typeface="Calibri" pitchFamily="34" charset="-122"/>
                <a:cs typeface="Calibri" pitchFamily="34" charset="-120"/>
              </a:rPr>
              <a:t>permissions &amp; sandbox</a:t>
            </a:r>
            <a:endParaRPr lang="en-US" sz="1000" dirty="0"/>
          </a:p>
        </p:txBody>
      </p:sp>
      <p:sp>
        <p:nvSpPr>
          <p:cNvPr id="27" name="Shape 24"/>
          <p:cNvSpPr/>
          <p:nvPr/>
        </p:nvSpPr>
        <p:spPr>
          <a:xfrm>
            <a:off x="1280160" y="2377440"/>
            <a:ext cx="5669280" cy="3291840"/>
          </a:xfrm>
          <a:prstGeom prst="roundRect">
            <a:avLst>
              <a:gd name="adj" fmla="val 5556"/>
            </a:avLst>
          </a:prstGeom>
          <a:solidFill>
            <a:srgbClr val="13263B"/>
          </a:solidFill>
          <a:ln w="15875">
            <a:solidFill>
              <a:srgbClr val="2BA3C7"/>
            </a:solidFill>
            <a:prstDash val="dash"/>
          </a:ln>
        </p:spPr>
      </p:sp>
      <p:sp>
        <p:nvSpPr>
          <p:cNvPr id="28" name="Text 25"/>
          <p:cNvSpPr txBox="1"/>
          <p:nvPr/>
        </p:nvSpPr>
        <p:spPr>
          <a:xfrm>
            <a:off x="1463040" y="2432304"/>
            <a:ext cx="1188720" cy="329184"/>
          </a:xfrm>
          <a:prstGeom prst="rect">
            <a:avLst/>
          </a:prstGeom>
          <a:noFill/>
          <a:ln/>
        </p:spPr>
        <p:txBody>
          <a:bodyPr wrap="square" lIns="0" tIns="0" rIns="0" bIns="0" rtlCol="0" anchor="ctr"/>
          <a:lstStyle/>
          <a:p>
            <a:pPr indent="0" marL="0">
              <a:buNone/>
            </a:pPr>
            <a:r>
              <a:rPr lang="en-US" sz="1400" b="1" dirty="0">
                <a:solidFill>
                  <a:srgbClr val="2BA3C7"/>
                </a:solidFill>
                <a:latin typeface="Calibri" pitchFamily="34" charset="0"/>
                <a:ea typeface="Calibri" pitchFamily="34" charset="-122"/>
                <a:cs typeface="Calibri" pitchFamily="34" charset="-120"/>
              </a:rPr>
              <a:t>Agent</a:t>
            </a:r>
            <a:endParaRPr lang="en-US" sz="1400" dirty="0"/>
          </a:p>
        </p:txBody>
      </p:sp>
      <p:sp>
        <p:nvSpPr>
          <p:cNvPr id="29" name="Shape 26"/>
          <p:cNvSpPr/>
          <p:nvPr/>
        </p:nvSpPr>
        <p:spPr>
          <a:xfrm>
            <a:off x="2651760" y="2450592"/>
            <a:ext cx="2020824" cy="292608"/>
          </a:xfrm>
          <a:prstGeom prst="roundRect">
            <a:avLst>
              <a:gd name="adj" fmla="val 50000"/>
            </a:avLst>
          </a:prstGeom>
          <a:solidFill>
            <a:srgbClr val="13263B"/>
          </a:solidFill>
          <a:ln w="12700">
            <a:solidFill>
              <a:srgbClr val="2BA3C7"/>
            </a:solidFill>
            <a:prstDash val="solid"/>
          </a:ln>
        </p:spPr>
      </p:sp>
      <p:sp>
        <p:nvSpPr>
          <p:cNvPr id="30" name="Text 27"/>
          <p:cNvSpPr txBox="1"/>
          <p:nvPr/>
        </p:nvSpPr>
        <p:spPr>
          <a:xfrm>
            <a:off x="2651760" y="2450592"/>
            <a:ext cx="2020824" cy="292608"/>
          </a:xfrm>
          <a:prstGeom prst="rect">
            <a:avLst/>
          </a:prstGeom>
          <a:noFill/>
          <a:ln/>
        </p:spPr>
        <p:txBody>
          <a:bodyPr wrap="square" lIns="0" tIns="0" rIns="0" bIns="0" rtlCol="0" anchor="ctr"/>
          <a:lstStyle/>
          <a:p>
            <a:pPr algn="ctr" indent="0" marL="0">
              <a:buNone/>
            </a:pPr>
            <a:r>
              <a:rPr lang="en-US" sz="1000" b="1" dirty="0">
                <a:solidFill>
                  <a:srgbClr val="2BA3C7"/>
                </a:solidFill>
                <a:latin typeface="Calibri" pitchFamily="34" charset="0"/>
                <a:ea typeface="Calibri" pitchFamily="34" charset="-122"/>
                <a:cs typeface="Calibri" pitchFamily="34" charset="-120"/>
              </a:rPr>
              <a:t>system prompt</a:t>
            </a:r>
            <a:endParaRPr lang="en-US" sz="1000" dirty="0"/>
          </a:p>
        </p:txBody>
      </p:sp>
      <p:sp>
        <p:nvSpPr>
          <p:cNvPr id="31" name="Shape 28"/>
          <p:cNvSpPr/>
          <p:nvPr/>
        </p:nvSpPr>
        <p:spPr>
          <a:xfrm>
            <a:off x="4745736" y="2450592"/>
            <a:ext cx="2020824" cy="292608"/>
          </a:xfrm>
          <a:prstGeom prst="roundRect">
            <a:avLst>
              <a:gd name="adj" fmla="val 50000"/>
            </a:avLst>
          </a:prstGeom>
          <a:solidFill>
            <a:srgbClr val="13263B"/>
          </a:solidFill>
          <a:ln w="12700">
            <a:solidFill>
              <a:srgbClr val="2BA3C7"/>
            </a:solidFill>
            <a:prstDash val="solid"/>
          </a:ln>
        </p:spPr>
      </p:sp>
      <p:sp>
        <p:nvSpPr>
          <p:cNvPr id="32" name="Text 29"/>
          <p:cNvSpPr txBox="1"/>
          <p:nvPr/>
        </p:nvSpPr>
        <p:spPr>
          <a:xfrm>
            <a:off x="4745736" y="2450592"/>
            <a:ext cx="2020824" cy="292608"/>
          </a:xfrm>
          <a:prstGeom prst="rect">
            <a:avLst/>
          </a:prstGeom>
          <a:noFill/>
          <a:ln/>
        </p:spPr>
        <p:txBody>
          <a:bodyPr wrap="square" lIns="0" tIns="0" rIns="0" bIns="0" rtlCol="0" anchor="ctr"/>
          <a:lstStyle/>
          <a:p>
            <a:pPr algn="ctr" indent="0" marL="0">
              <a:buNone/>
            </a:pPr>
            <a:r>
              <a:rPr lang="en-US" sz="1000" b="1" dirty="0">
                <a:solidFill>
                  <a:srgbClr val="2BA3C7"/>
                </a:solidFill>
                <a:latin typeface="Calibri" pitchFamily="34" charset="0"/>
                <a:ea typeface="Calibri" pitchFamily="34" charset="-122"/>
                <a:cs typeface="Calibri" pitchFamily="34" charset="-120"/>
              </a:rPr>
              <a:t>tools</a:t>
            </a:r>
            <a:endParaRPr lang="en-US" sz="1000" dirty="0"/>
          </a:p>
        </p:txBody>
      </p:sp>
      <p:sp>
        <p:nvSpPr>
          <p:cNvPr id="33" name="Shape 30"/>
          <p:cNvSpPr/>
          <p:nvPr/>
        </p:nvSpPr>
        <p:spPr>
          <a:xfrm>
            <a:off x="1645920" y="2834640"/>
            <a:ext cx="4937760" cy="2377440"/>
          </a:xfrm>
          <a:prstGeom prst="roundRect">
            <a:avLst>
              <a:gd name="adj" fmla="val 6923"/>
            </a:avLst>
          </a:prstGeom>
          <a:solidFill>
            <a:srgbClr val="18304A"/>
          </a:solidFill>
          <a:ln w="25400">
            <a:solidFill>
              <a:srgbClr val="8E72E6"/>
            </a:solidFill>
            <a:prstDash val="solid"/>
          </a:ln>
        </p:spPr>
      </p:sp>
      <p:sp>
        <p:nvSpPr>
          <p:cNvPr id="34" name="Text 31"/>
          <p:cNvSpPr txBox="1"/>
          <p:nvPr/>
        </p:nvSpPr>
        <p:spPr>
          <a:xfrm>
            <a:off x="1645920" y="3154680"/>
            <a:ext cx="4937760" cy="822960"/>
          </a:xfrm>
          <a:prstGeom prst="rect">
            <a:avLst/>
          </a:prstGeom>
          <a:noFill/>
          <a:ln/>
        </p:spPr>
        <p:txBody>
          <a:bodyPr wrap="square" lIns="0" tIns="0" rIns="0" bIns="0" rtlCol="0" anchor="ctr"/>
          <a:lstStyle/>
          <a:p>
            <a:pPr algn="ctr" indent="0" marL="0">
              <a:buNone/>
            </a:pPr>
            <a:r>
              <a:rPr lang="en-US" sz="4000" b="1" dirty="0">
                <a:solidFill>
                  <a:srgbClr val="8E72E6"/>
                </a:solidFill>
                <a:latin typeface="Cambria" pitchFamily="34" charset="0"/>
                <a:ea typeface="Cambria" pitchFamily="34" charset="-122"/>
                <a:cs typeface="Cambria" pitchFamily="34" charset="-120"/>
              </a:rPr>
              <a:t>LLM</a:t>
            </a:r>
            <a:endParaRPr lang="en-US" sz="4000" dirty="0"/>
          </a:p>
        </p:txBody>
      </p:sp>
      <p:sp>
        <p:nvSpPr>
          <p:cNvPr id="35" name="Text 32"/>
          <p:cNvSpPr txBox="1"/>
          <p:nvPr/>
        </p:nvSpPr>
        <p:spPr>
          <a:xfrm>
            <a:off x="1645920" y="4023360"/>
            <a:ext cx="4937760" cy="457200"/>
          </a:xfrm>
          <a:prstGeom prst="rect">
            <a:avLst/>
          </a:prstGeom>
          <a:noFill/>
          <a:ln/>
        </p:spPr>
        <p:txBody>
          <a:bodyPr wrap="square" lIns="0" tIns="0" rIns="0" bIns="0" rtlCol="0" anchor="ctr"/>
          <a:lstStyle/>
          <a:p>
            <a:pPr algn="ctr" indent="0" marL="0">
              <a:buNone/>
            </a:pPr>
            <a:r>
              <a:rPr lang="en-US" sz="1500" dirty="0">
                <a:solidFill>
                  <a:srgbClr val="EEF3F9"/>
                </a:solidFill>
                <a:latin typeface="Calibri" pitchFamily="34" charset="0"/>
                <a:ea typeface="Calibri" pitchFamily="34" charset="-122"/>
                <a:cs typeface="Calibri" pitchFamily="34" charset="-120"/>
              </a:rPr>
              <a:t>a bounded mind · text in, text out</a:t>
            </a:r>
            <a:endParaRPr lang="en-US" sz="1500" dirty="0"/>
          </a:p>
        </p:txBody>
      </p:sp>
      <p:sp>
        <p:nvSpPr>
          <p:cNvPr id="36" name="Text 33"/>
          <p:cNvSpPr txBox="1"/>
          <p:nvPr/>
        </p:nvSpPr>
        <p:spPr>
          <a:xfrm>
            <a:off x="1645920" y="4480560"/>
            <a:ext cx="4937760" cy="411480"/>
          </a:xfrm>
          <a:prstGeom prst="rect">
            <a:avLst/>
          </a:prstGeom>
          <a:noFill/>
          <a:ln/>
        </p:spPr>
        <p:txBody>
          <a:bodyPr wrap="square" lIns="0" tIns="0" rIns="0" bIns="0" rtlCol="0" anchor="ctr"/>
          <a:lstStyle/>
          <a:p>
            <a:pPr algn="ctr" indent="0" marL="0">
              <a:buNone/>
            </a:pPr>
            <a:r>
              <a:rPr lang="en-US" sz="1200" dirty="0">
                <a:solidFill>
                  <a:srgbClr val="8FA3B8"/>
                </a:solidFill>
                <a:latin typeface="Calibri" pitchFamily="34" charset="0"/>
                <a:ea typeface="Calibri" pitchFamily="34" charset="-122"/>
                <a:cs typeface="Calibri" pitchFamily="34" charset="-120"/>
              </a:rPr>
              <a:t>frozen knowledge · no hands · no memory</a:t>
            </a:r>
            <a:endParaRPr lang="en-US" sz="1200" dirty="0"/>
          </a:p>
        </p:txBody>
      </p:sp>
      <p:sp>
        <p:nvSpPr>
          <p:cNvPr id="37" name="Text 34"/>
          <p:cNvSpPr txBox="1"/>
          <p:nvPr/>
        </p:nvSpPr>
        <p:spPr>
          <a:xfrm>
            <a:off x="8001000" y="1463040"/>
            <a:ext cx="1097280" cy="320040"/>
          </a:xfrm>
          <a:prstGeom prst="rect">
            <a:avLst/>
          </a:prstGeom>
          <a:noFill/>
          <a:ln/>
        </p:spPr>
        <p:txBody>
          <a:bodyPr wrap="square" lIns="0" tIns="0" rIns="0" bIns="0" rtlCol="0" anchor="ctr"/>
          <a:lstStyle/>
          <a:p>
            <a:pPr indent="0" marL="0">
              <a:buNone/>
            </a:pPr>
            <a:r>
              <a:rPr lang="en-US" sz="1200" b="1" dirty="0">
                <a:solidFill>
                  <a:srgbClr val="D4AF37"/>
                </a:solidFill>
                <a:latin typeface="Calibri" pitchFamily="34" charset="0"/>
                <a:ea typeface="Calibri" pitchFamily="34" charset="-122"/>
                <a:cs typeface="Calibri" pitchFamily="34" charset="-120"/>
              </a:rPr>
              <a:t>4 / 4</a:t>
            </a:r>
            <a:endParaRPr lang="en-US" sz="1200" dirty="0"/>
          </a:p>
        </p:txBody>
      </p:sp>
      <p:sp>
        <p:nvSpPr>
          <p:cNvPr id="38" name="Text 35"/>
          <p:cNvSpPr txBox="1"/>
          <p:nvPr/>
        </p:nvSpPr>
        <p:spPr>
          <a:xfrm>
            <a:off x="8001000" y="1783080"/>
            <a:ext cx="3657600" cy="914400"/>
          </a:xfrm>
          <a:prstGeom prst="rect">
            <a:avLst/>
          </a:prstGeom>
          <a:noFill/>
          <a:ln/>
        </p:spPr>
        <p:txBody>
          <a:bodyPr wrap="square" lIns="0" tIns="0" rIns="0" bIns="0" rtlCol="0" anchor="t"/>
          <a:lstStyle/>
          <a:p>
            <a:pPr indent="0" marL="0">
              <a:buNone/>
            </a:pPr>
            <a:r>
              <a:rPr lang="en-US" sz="1800" b="1" dirty="0">
                <a:solidFill>
                  <a:srgbClr val="EEF3F9"/>
                </a:solidFill>
                <a:latin typeface="Cambria" pitchFamily="34" charset="0"/>
                <a:ea typeface="Cambria" pitchFamily="34" charset="-122"/>
                <a:cs typeface="Cambria" pitchFamily="34" charset="-120"/>
              </a:rPr>
              <a:t>+ policy in code, previews and a team = Agent-One</a:t>
            </a:r>
            <a:endParaRPr lang="en-US" sz="1800" dirty="0"/>
          </a:p>
        </p:txBody>
      </p:sp>
      <p:sp>
        <p:nvSpPr>
          <p:cNvPr id="39" name="Text 36"/>
          <p:cNvSpPr txBox="1"/>
          <p:nvPr/>
        </p:nvSpPr>
        <p:spPr>
          <a:xfrm>
            <a:off x="8001000" y="2834640"/>
            <a:ext cx="3657600" cy="237744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the guard and the gate: refused or checked in code, not by prompt</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previews: dry-run, diffs, the live dashboard</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subagents and roles on different models, one merged review</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your gateway, your registry, your containers</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a workspace that remembers and learns</a:t>
            </a:r>
            <a:endParaRPr lang="en-US" sz="1300" dirty="0"/>
          </a:p>
        </p:txBody>
      </p:sp>
      <p:sp>
        <p:nvSpPr>
          <p:cNvPr id="40" name="Shape 37"/>
          <p:cNvSpPr/>
          <p:nvPr/>
        </p:nvSpPr>
        <p:spPr>
          <a:xfrm>
            <a:off x="8001000" y="5394960"/>
            <a:ext cx="3657600" cy="731520"/>
          </a:xfrm>
          <a:prstGeom prst="roundRect">
            <a:avLst>
              <a:gd name="adj" fmla="val 15000"/>
            </a:avLst>
          </a:prstGeom>
          <a:solidFill>
            <a:srgbClr val="13263B"/>
          </a:solidFill>
          <a:ln w="19050">
            <a:solidFill>
              <a:srgbClr val="D4AF37"/>
            </a:solidFill>
            <a:prstDash val="solid"/>
          </a:ln>
        </p:spPr>
      </p:sp>
      <p:sp>
        <p:nvSpPr>
          <p:cNvPr id="41" name="Text 38"/>
          <p:cNvSpPr txBox="1"/>
          <p:nvPr/>
        </p:nvSpPr>
        <p:spPr>
          <a:xfrm>
            <a:off x="8138160" y="5394960"/>
            <a:ext cx="3383280" cy="731520"/>
          </a:xfrm>
          <a:prstGeom prst="rect">
            <a:avLst/>
          </a:prstGeom>
          <a:noFill/>
          <a:ln/>
        </p:spPr>
        <p:txBody>
          <a:bodyPr wrap="square" lIns="0" tIns="0" rIns="0" bIns="0" rtlCol="0" anchor="ctr"/>
          <a:lstStyle/>
          <a:p>
            <a:pPr indent="0" marL="0">
              <a:buNone/>
            </a:pPr>
            <a:r>
              <a:rPr lang="en-US" sz="1200" b="1" dirty="0">
                <a:solidFill>
                  <a:srgbClr val="D4AF37"/>
                </a:solidFill>
                <a:latin typeface="Courier New" pitchFamily="34" charset="0"/>
                <a:ea typeface="Courier New" pitchFamily="34" charset="-122"/>
                <a:cs typeface="Courier New" pitchFamily="34" charset="-120"/>
              </a:rPr>
              <a:t>harness + policy in code + a team = Agent-One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9</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1 · THE LAYERS</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Every agent is built from the same layers</a:t>
            </a:r>
            <a:endParaRPr lang="en-US" sz="3400" dirty="0"/>
          </a:p>
        </p:txBody>
      </p:sp>
      <p:sp>
        <p:nvSpPr>
          <p:cNvPr id="7" name="Shape 4"/>
          <p:cNvSpPr/>
          <p:nvPr/>
        </p:nvSpPr>
        <p:spPr>
          <a:xfrm>
            <a:off x="548640" y="1554480"/>
            <a:ext cx="6766560" cy="566928"/>
          </a:xfrm>
          <a:prstGeom prst="roundRect">
            <a:avLst>
              <a:gd name="adj" fmla="val 16129"/>
            </a:avLst>
          </a:prstGeom>
          <a:solidFill>
            <a:srgbClr val="13263B"/>
          </a:solidFill>
          <a:ln w="19050">
            <a:solidFill>
              <a:srgbClr val="2BA3C7"/>
            </a:solidFill>
            <a:prstDash val="solid"/>
          </a:ln>
        </p:spPr>
      </p:sp>
      <p:sp>
        <p:nvSpPr>
          <p:cNvPr id="8" name="Text 5"/>
          <p:cNvSpPr txBox="1"/>
          <p:nvPr/>
        </p:nvSpPr>
        <p:spPr>
          <a:xfrm>
            <a:off x="731520" y="1554480"/>
            <a:ext cx="2377440" cy="566928"/>
          </a:xfrm>
          <a:prstGeom prst="rect">
            <a:avLst/>
          </a:prstGeom>
          <a:noFill/>
          <a:ln/>
        </p:spPr>
        <p:txBody>
          <a:bodyPr wrap="square" lIns="0" tIns="0" rIns="0" bIns="0" rtlCol="0" anchor="ctr"/>
          <a:lstStyle/>
          <a:p>
            <a:pPr indent="0" marL="0">
              <a:buNone/>
            </a:pPr>
            <a:r>
              <a:rPr lang="en-US" sz="1500" b="1" dirty="0">
                <a:solidFill>
                  <a:srgbClr val="2BA3C7"/>
                </a:solidFill>
                <a:latin typeface="Calibri" pitchFamily="34" charset="0"/>
                <a:ea typeface="Calibri" pitchFamily="34" charset="-122"/>
                <a:cs typeface="Calibri" pitchFamily="34" charset="-120"/>
              </a:rPr>
              <a:t>Interfaces</a:t>
            </a:r>
            <a:endParaRPr lang="en-US" sz="1500" dirty="0"/>
          </a:p>
        </p:txBody>
      </p:sp>
      <p:sp>
        <p:nvSpPr>
          <p:cNvPr id="9" name="Text 6"/>
          <p:cNvSpPr txBox="1"/>
          <p:nvPr/>
        </p:nvSpPr>
        <p:spPr>
          <a:xfrm>
            <a:off x="3108960" y="1554480"/>
            <a:ext cx="4114800" cy="566928"/>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terminal, IDE, CI, dashboards</a:t>
            </a:r>
            <a:endParaRPr lang="en-US" sz="1300" dirty="0"/>
          </a:p>
        </p:txBody>
      </p:sp>
      <p:sp>
        <p:nvSpPr>
          <p:cNvPr id="10" name="Shape 7"/>
          <p:cNvSpPr/>
          <p:nvPr/>
        </p:nvSpPr>
        <p:spPr>
          <a:xfrm>
            <a:off x="548640" y="2212848"/>
            <a:ext cx="6766560" cy="566928"/>
          </a:xfrm>
          <a:prstGeom prst="roundRect">
            <a:avLst>
              <a:gd name="adj" fmla="val 16129"/>
            </a:avLst>
          </a:prstGeom>
          <a:solidFill>
            <a:srgbClr val="13263B"/>
          </a:solidFill>
          <a:ln w="19050">
            <a:solidFill>
              <a:srgbClr val="8FA3B8"/>
            </a:solidFill>
            <a:prstDash val="solid"/>
          </a:ln>
        </p:spPr>
      </p:sp>
      <p:sp>
        <p:nvSpPr>
          <p:cNvPr id="11" name="Text 8"/>
          <p:cNvSpPr txBox="1"/>
          <p:nvPr/>
        </p:nvSpPr>
        <p:spPr>
          <a:xfrm>
            <a:off x="731520" y="2212848"/>
            <a:ext cx="2377440" cy="566928"/>
          </a:xfrm>
          <a:prstGeom prst="rect">
            <a:avLst/>
          </a:prstGeom>
          <a:noFill/>
          <a:ln/>
        </p:spPr>
        <p:txBody>
          <a:bodyPr wrap="square" lIns="0" tIns="0" rIns="0" bIns="0" rtlCol="0" anchor="ctr"/>
          <a:lstStyle/>
          <a:p>
            <a:pPr indent="0" marL="0">
              <a:buNone/>
            </a:pPr>
            <a:r>
              <a:rPr lang="en-US" sz="1500" b="1" dirty="0">
                <a:solidFill>
                  <a:srgbClr val="8FA3B8"/>
                </a:solidFill>
                <a:latin typeface="Calibri" pitchFamily="34" charset="0"/>
                <a:ea typeface="Calibri" pitchFamily="34" charset="-122"/>
                <a:cs typeface="Calibri" pitchFamily="34" charset="-120"/>
              </a:rPr>
              <a:t>Observability</a:t>
            </a:r>
            <a:endParaRPr lang="en-US" sz="1500" dirty="0"/>
          </a:p>
        </p:txBody>
      </p:sp>
      <p:sp>
        <p:nvSpPr>
          <p:cNvPr id="12" name="Text 9"/>
          <p:cNvSpPr txBox="1"/>
          <p:nvPr/>
        </p:nvSpPr>
        <p:spPr>
          <a:xfrm>
            <a:off x="3108960" y="2212848"/>
            <a:ext cx="4114800" cy="566928"/>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logs, traces, usage and cost</a:t>
            </a:r>
            <a:endParaRPr lang="en-US" sz="1300" dirty="0"/>
          </a:p>
        </p:txBody>
      </p:sp>
      <p:sp>
        <p:nvSpPr>
          <p:cNvPr id="13" name="Shape 10"/>
          <p:cNvSpPr/>
          <p:nvPr/>
        </p:nvSpPr>
        <p:spPr>
          <a:xfrm>
            <a:off x="548640" y="2871216"/>
            <a:ext cx="6766560" cy="566928"/>
          </a:xfrm>
          <a:prstGeom prst="roundRect">
            <a:avLst>
              <a:gd name="adj" fmla="val 16129"/>
            </a:avLst>
          </a:prstGeom>
          <a:solidFill>
            <a:srgbClr val="13263B"/>
          </a:solidFill>
          <a:ln w="19050">
            <a:solidFill>
              <a:srgbClr val="E0645A"/>
            </a:solidFill>
            <a:prstDash val="solid"/>
          </a:ln>
        </p:spPr>
      </p:sp>
      <p:sp>
        <p:nvSpPr>
          <p:cNvPr id="14" name="Text 11"/>
          <p:cNvSpPr txBox="1"/>
          <p:nvPr/>
        </p:nvSpPr>
        <p:spPr>
          <a:xfrm>
            <a:off x="731520" y="2871216"/>
            <a:ext cx="2377440" cy="566928"/>
          </a:xfrm>
          <a:prstGeom prst="rect">
            <a:avLst/>
          </a:prstGeom>
          <a:noFill/>
          <a:ln/>
        </p:spPr>
        <p:txBody>
          <a:bodyPr wrap="square" lIns="0" tIns="0" rIns="0" bIns="0" rtlCol="0" anchor="ctr"/>
          <a:lstStyle/>
          <a:p>
            <a:pPr indent="0" marL="0">
              <a:buNone/>
            </a:pPr>
            <a:r>
              <a:rPr lang="en-US" sz="1500" b="1" dirty="0">
                <a:solidFill>
                  <a:srgbClr val="E0645A"/>
                </a:solidFill>
                <a:latin typeface="Calibri" pitchFamily="34" charset="0"/>
                <a:ea typeface="Calibri" pitchFamily="34" charset="-122"/>
                <a:cs typeface="Calibri" pitchFamily="34" charset="-120"/>
              </a:rPr>
              <a:t>Safety</a:t>
            </a:r>
            <a:endParaRPr lang="en-US" sz="1500" dirty="0"/>
          </a:p>
        </p:txBody>
      </p:sp>
      <p:sp>
        <p:nvSpPr>
          <p:cNvPr id="15" name="Text 12"/>
          <p:cNvSpPr txBox="1"/>
          <p:nvPr/>
        </p:nvSpPr>
        <p:spPr>
          <a:xfrm>
            <a:off x="3108960" y="2871216"/>
            <a:ext cx="4114800" cy="566928"/>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permissions, sandbox, guardrails, review gates</a:t>
            </a:r>
            <a:endParaRPr lang="en-US" sz="1300" dirty="0"/>
          </a:p>
        </p:txBody>
      </p:sp>
      <p:sp>
        <p:nvSpPr>
          <p:cNvPr id="16" name="Shape 13"/>
          <p:cNvSpPr/>
          <p:nvPr/>
        </p:nvSpPr>
        <p:spPr>
          <a:xfrm>
            <a:off x="548640" y="3529584"/>
            <a:ext cx="6766560" cy="566928"/>
          </a:xfrm>
          <a:prstGeom prst="roundRect">
            <a:avLst>
              <a:gd name="adj" fmla="val 16129"/>
            </a:avLst>
          </a:prstGeom>
          <a:solidFill>
            <a:srgbClr val="13263B"/>
          </a:solidFill>
          <a:ln w="19050">
            <a:solidFill>
              <a:srgbClr val="D4AF37"/>
            </a:solidFill>
            <a:prstDash val="solid"/>
          </a:ln>
        </p:spPr>
      </p:sp>
      <p:sp>
        <p:nvSpPr>
          <p:cNvPr id="17" name="Text 14"/>
          <p:cNvSpPr txBox="1"/>
          <p:nvPr/>
        </p:nvSpPr>
        <p:spPr>
          <a:xfrm>
            <a:off x="731520" y="3529584"/>
            <a:ext cx="2377440" cy="566928"/>
          </a:xfrm>
          <a:prstGeom prst="rect">
            <a:avLst/>
          </a:prstGeom>
          <a:noFill/>
          <a:ln/>
        </p:spPr>
        <p:txBody>
          <a:bodyPr wrap="square" lIns="0" tIns="0" rIns="0" bIns="0" rtlCol="0" anchor="ctr"/>
          <a:lstStyle/>
          <a:p>
            <a:pPr indent="0" marL="0">
              <a:buNone/>
            </a:pPr>
            <a:r>
              <a:rPr lang="en-US" sz="1500" b="1" dirty="0">
                <a:solidFill>
                  <a:srgbClr val="D4AF37"/>
                </a:solidFill>
                <a:latin typeface="Calibri" pitchFamily="34" charset="0"/>
                <a:ea typeface="Calibri" pitchFamily="34" charset="-122"/>
                <a:cs typeface="Calibri" pitchFamily="34" charset="-120"/>
              </a:rPr>
              <a:t>Context &amp; memory</a:t>
            </a:r>
            <a:endParaRPr lang="en-US" sz="1500" dirty="0"/>
          </a:p>
        </p:txBody>
      </p:sp>
      <p:sp>
        <p:nvSpPr>
          <p:cNvPr id="18" name="Text 15"/>
          <p:cNvSpPr txBox="1"/>
          <p:nvPr/>
        </p:nvSpPr>
        <p:spPr>
          <a:xfrm>
            <a:off x="3108960" y="3529584"/>
            <a:ext cx="4114800" cy="566928"/>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what the model sees; what survives the session</a:t>
            </a:r>
            <a:endParaRPr lang="en-US" sz="1300" dirty="0"/>
          </a:p>
        </p:txBody>
      </p:sp>
      <p:sp>
        <p:nvSpPr>
          <p:cNvPr id="19" name="Shape 16"/>
          <p:cNvSpPr/>
          <p:nvPr/>
        </p:nvSpPr>
        <p:spPr>
          <a:xfrm>
            <a:off x="548640" y="4187952"/>
            <a:ext cx="6766560" cy="566928"/>
          </a:xfrm>
          <a:prstGeom prst="roundRect">
            <a:avLst>
              <a:gd name="adj" fmla="val 16129"/>
            </a:avLst>
          </a:prstGeom>
          <a:solidFill>
            <a:srgbClr val="13263B"/>
          </a:solidFill>
          <a:ln w="19050">
            <a:solidFill>
              <a:srgbClr val="5FBF7A"/>
            </a:solidFill>
            <a:prstDash val="solid"/>
          </a:ln>
        </p:spPr>
      </p:sp>
      <p:sp>
        <p:nvSpPr>
          <p:cNvPr id="20" name="Text 17"/>
          <p:cNvSpPr txBox="1"/>
          <p:nvPr/>
        </p:nvSpPr>
        <p:spPr>
          <a:xfrm>
            <a:off x="731520" y="4187952"/>
            <a:ext cx="2377440" cy="566928"/>
          </a:xfrm>
          <a:prstGeom prst="rect">
            <a:avLst/>
          </a:prstGeom>
          <a:noFill/>
          <a:ln/>
        </p:spPr>
        <p:txBody>
          <a:bodyPr wrap="square" lIns="0" tIns="0" rIns="0" bIns="0" rtlCol="0" anchor="ctr"/>
          <a:lstStyle/>
          <a:p>
            <a:pPr indent="0" marL="0">
              <a:buNone/>
            </a:pPr>
            <a:r>
              <a:rPr lang="en-US" sz="1500" b="1" dirty="0">
                <a:solidFill>
                  <a:srgbClr val="5FBF7A"/>
                </a:solidFill>
                <a:latin typeface="Calibri" pitchFamily="34" charset="0"/>
                <a:ea typeface="Calibri" pitchFamily="34" charset="-122"/>
                <a:cs typeface="Calibri" pitchFamily="34" charset="-120"/>
              </a:rPr>
              <a:t>Tools &amp; MCP</a:t>
            </a:r>
            <a:endParaRPr lang="en-US" sz="1500" dirty="0"/>
          </a:p>
        </p:txBody>
      </p:sp>
      <p:sp>
        <p:nvSpPr>
          <p:cNvPr id="21" name="Text 18"/>
          <p:cNvSpPr txBox="1"/>
          <p:nvPr/>
        </p:nvSpPr>
        <p:spPr>
          <a:xfrm>
            <a:off x="3108960" y="4187952"/>
            <a:ext cx="4114800" cy="566928"/>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files, shell, web, APIs, skills</a:t>
            </a:r>
            <a:endParaRPr lang="en-US" sz="1300" dirty="0"/>
          </a:p>
        </p:txBody>
      </p:sp>
      <p:sp>
        <p:nvSpPr>
          <p:cNvPr id="22" name="Shape 19"/>
          <p:cNvSpPr/>
          <p:nvPr/>
        </p:nvSpPr>
        <p:spPr>
          <a:xfrm>
            <a:off x="548640" y="4846320"/>
            <a:ext cx="6766560" cy="566928"/>
          </a:xfrm>
          <a:prstGeom prst="roundRect">
            <a:avLst>
              <a:gd name="adj" fmla="val 16129"/>
            </a:avLst>
          </a:prstGeom>
          <a:solidFill>
            <a:srgbClr val="13263B"/>
          </a:solidFill>
          <a:ln w="19050">
            <a:solidFill>
              <a:srgbClr val="8E72E6"/>
            </a:solidFill>
            <a:prstDash val="solid"/>
          </a:ln>
        </p:spPr>
      </p:sp>
      <p:sp>
        <p:nvSpPr>
          <p:cNvPr id="23" name="Text 20"/>
          <p:cNvSpPr txBox="1"/>
          <p:nvPr/>
        </p:nvSpPr>
        <p:spPr>
          <a:xfrm>
            <a:off x="731520" y="4846320"/>
            <a:ext cx="2377440" cy="566928"/>
          </a:xfrm>
          <a:prstGeom prst="rect">
            <a:avLst/>
          </a:prstGeom>
          <a:noFill/>
          <a:ln/>
        </p:spPr>
        <p:txBody>
          <a:bodyPr wrap="square" lIns="0" tIns="0" rIns="0" bIns="0" rtlCol="0" anchor="ctr"/>
          <a:lstStyle/>
          <a:p>
            <a:pPr indent="0" marL="0">
              <a:buNone/>
            </a:pPr>
            <a:r>
              <a:rPr lang="en-US" sz="1500" b="1" dirty="0">
                <a:solidFill>
                  <a:srgbClr val="8E72E6"/>
                </a:solidFill>
                <a:latin typeface="Calibri" pitchFamily="34" charset="0"/>
                <a:ea typeface="Calibri" pitchFamily="34" charset="-122"/>
                <a:cs typeface="Calibri" pitchFamily="34" charset="-120"/>
              </a:rPr>
              <a:t>Agent loop</a:t>
            </a:r>
            <a:endParaRPr lang="en-US" sz="1500" dirty="0"/>
          </a:p>
        </p:txBody>
      </p:sp>
      <p:sp>
        <p:nvSpPr>
          <p:cNvPr id="24" name="Text 21"/>
          <p:cNvSpPr txBox="1"/>
          <p:nvPr/>
        </p:nvSpPr>
        <p:spPr>
          <a:xfrm>
            <a:off x="3108960" y="4846320"/>
            <a:ext cx="4114800" cy="566928"/>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observe → think → act → check; sub-agents</a:t>
            </a:r>
            <a:endParaRPr lang="en-US" sz="1300" dirty="0"/>
          </a:p>
        </p:txBody>
      </p:sp>
      <p:sp>
        <p:nvSpPr>
          <p:cNvPr id="25" name="Shape 22"/>
          <p:cNvSpPr/>
          <p:nvPr/>
        </p:nvSpPr>
        <p:spPr>
          <a:xfrm>
            <a:off x="548640" y="5504688"/>
            <a:ext cx="6766560" cy="566928"/>
          </a:xfrm>
          <a:prstGeom prst="roundRect">
            <a:avLst>
              <a:gd name="adj" fmla="val 16129"/>
            </a:avLst>
          </a:prstGeom>
          <a:solidFill>
            <a:srgbClr val="13263B"/>
          </a:solidFill>
          <a:ln w="19050">
            <a:solidFill>
              <a:srgbClr val="2BA3C7"/>
            </a:solidFill>
            <a:prstDash val="solid"/>
          </a:ln>
        </p:spPr>
      </p:sp>
      <p:sp>
        <p:nvSpPr>
          <p:cNvPr id="26" name="Text 23"/>
          <p:cNvSpPr txBox="1"/>
          <p:nvPr/>
        </p:nvSpPr>
        <p:spPr>
          <a:xfrm>
            <a:off x="731520" y="5504688"/>
            <a:ext cx="2377440" cy="566928"/>
          </a:xfrm>
          <a:prstGeom prst="rect">
            <a:avLst/>
          </a:prstGeom>
          <a:noFill/>
          <a:ln/>
        </p:spPr>
        <p:txBody>
          <a:bodyPr wrap="square" lIns="0" tIns="0" rIns="0" bIns="0" rtlCol="0" anchor="ctr"/>
          <a:lstStyle/>
          <a:p>
            <a:pPr indent="0" marL="0">
              <a:buNone/>
            </a:pPr>
            <a:r>
              <a:rPr lang="en-US" sz="1500" b="1" dirty="0">
                <a:solidFill>
                  <a:srgbClr val="2BA3C7"/>
                </a:solidFill>
                <a:latin typeface="Calibri" pitchFamily="34" charset="0"/>
                <a:ea typeface="Calibri" pitchFamily="34" charset="-122"/>
                <a:cs typeface="Calibri" pitchFamily="34" charset="-120"/>
              </a:rPr>
              <a:t>Models</a:t>
            </a:r>
            <a:endParaRPr lang="en-US" sz="1500" dirty="0"/>
          </a:p>
        </p:txBody>
      </p:sp>
      <p:sp>
        <p:nvSpPr>
          <p:cNvPr id="27" name="Text 24"/>
          <p:cNvSpPr txBox="1"/>
          <p:nvPr/>
        </p:nvSpPr>
        <p:spPr>
          <a:xfrm>
            <a:off x="3108960" y="5504688"/>
            <a:ext cx="4114800" cy="566928"/>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providers, gateways, routing, fallbacks</a:t>
            </a:r>
            <a:endParaRPr lang="en-US" sz="1300" dirty="0"/>
          </a:p>
        </p:txBody>
      </p:sp>
      <p:sp>
        <p:nvSpPr>
          <p:cNvPr id="28" name="Shape 25"/>
          <p:cNvSpPr/>
          <p:nvPr/>
        </p:nvSpPr>
        <p:spPr>
          <a:xfrm>
            <a:off x="7772400" y="1554480"/>
            <a:ext cx="3840480" cy="4480560"/>
          </a:xfrm>
          <a:prstGeom prst="roundRect">
            <a:avLst>
              <a:gd name="adj" fmla="val 2857"/>
            </a:avLst>
          </a:prstGeom>
          <a:solidFill>
            <a:srgbClr val="13263B"/>
          </a:solidFill>
          <a:ln w="12700">
            <a:solidFill>
              <a:srgbClr val="13263B"/>
            </a:solidFill>
            <a:prstDash val="solid"/>
          </a:ln>
        </p:spPr>
      </p:sp>
      <p:sp>
        <p:nvSpPr>
          <p:cNvPr id="29" name="Text 26"/>
          <p:cNvSpPr txBox="1"/>
          <p:nvPr/>
        </p:nvSpPr>
        <p:spPr>
          <a:xfrm>
            <a:off x="8001000" y="1719072"/>
            <a:ext cx="342900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The harness decides</a:t>
            </a:r>
            <a:endParaRPr lang="en-US" sz="1700" dirty="0"/>
          </a:p>
        </p:txBody>
      </p:sp>
      <p:sp>
        <p:nvSpPr>
          <p:cNvPr id="30" name="Text 27"/>
          <p:cNvSpPr txBox="1"/>
          <p:nvPr/>
        </p:nvSpPr>
        <p:spPr>
          <a:xfrm>
            <a:off x="8001000" y="2240280"/>
            <a:ext cx="3474720" cy="36576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EEF3F9"/>
                </a:solidFill>
                <a:latin typeface="Calibri" pitchFamily="34" charset="0"/>
                <a:ea typeface="Calibri" pitchFamily="34" charset="-122"/>
                <a:cs typeface="Calibri" pitchFamily="34" charset="-120"/>
              </a:rPr>
              <a:t>which model does which job</a:t>
            </a:r>
            <a:endParaRPr lang="en-US" sz="1500" dirty="0"/>
          </a:p>
          <a:p>
            <a:pPr marL="203200" indent="-203200">
              <a:spcAft>
                <a:spcPts val="800"/>
              </a:spcAft>
              <a:buSzPct val="100000"/>
              <a:buChar char="•"/>
            </a:pPr>
            <a:r>
              <a:rPr lang="en-US" sz="1500" dirty="0">
                <a:solidFill>
                  <a:srgbClr val="EEF3F9"/>
                </a:solidFill>
                <a:latin typeface="Calibri" pitchFamily="34" charset="0"/>
                <a:ea typeface="Calibri" pitchFamily="34" charset="-122"/>
                <a:cs typeface="Calibri" pitchFamily="34" charset="-120"/>
              </a:rPr>
              <a:t>what the model may touch</a:t>
            </a:r>
            <a:endParaRPr lang="en-US" sz="1500" dirty="0"/>
          </a:p>
          <a:p>
            <a:pPr marL="203200" indent="-203200">
              <a:spcAft>
                <a:spcPts val="800"/>
              </a:spcAft>
              <a:buSzPct val="100000"/>
              <a:buChar char="•"/>
            </a:pPr>
            <a:r>
              <a:rPr lang="en-US" sz="1500" dirty="0">
                <a:solidFill>
                  <a:srgbClr val="EEF3F9"/>
                </a:solidFill>
                <a:latin typeface="Calibri" pitchFamily="34" charset="0"/>
                <a:ea typeface="Calibri" pitchFamily="34" charset="-122"/>
                <a:cs typeface="Calibri" pitchFamily="34" charset="-120"/>
              </a:rPr>
              <a:t>what it remembers</a:t>
            </a:r>
            <a:endParaRPr lang="en-US" sz="1500" dirty="0"/>
          </a:p>
          <a:p>
            <a:pPr marL="203200" indent="-203200">
              <a:spcAft>
                <a:spcPts val="800"/>
              </a:spcAft>
              <a:buSzPct val="100000"/>
              <a:buChar char="•"/>
            </a:pPr>
            <a:r>
              <a:rPr lang="en-US" sz="1500" dirty="0">
                <a:solidFill>
                  <a:srgbClr val="EEF3F9"/>
                </a:solidFill>
                <a:latin typeface="Calibri" pitchFamily="34" charset="0"/>
                <a:ea typeface="Calibri" pitchFamily="34" charset="-122"/>
                <a:cs typeface="Calibri" pitchFamily="34" charset="-120"/>
              </a:rPr>
              <a:t>what needs a human</a:t>
            </a:r>
            <a:endParaRPr lang="en-US" sz="1500" dirty="0"/>
          </a:p>
          <a:p>
            <a:pPr marL="203200" indent="-203200">
              <a:spcAft>
                <a:spcPts val="800"/>
              </a:spcAft>
              <a:buSzPct val="100000"/>
              <a:buChar char="•"/>
            </a:pPr>
            <a:r>
              <a:rPr lang="en-US" sz="1500" dirty="0">
                <a:solidFill>
                  <a:srgbClr val="EEF3F9"/>
                </a:solidFill>
                <a:latin typeface="Calibri" pitchFamily="34" charset="0"/>
                <a:ea typeface="Calibri" pitchFamily="34" charset="-122"/>
                <a:cs typeface="Calibri" pitchFamily="34" charset="-120"/>
              </a:rPr>
              <a:t>what you can see and audit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10</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2 · HARNESSES TODAY</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The harnesses you will meet</a:t>
            </a:r>
            <a:endParaRPr lang="en-US" sz="3400" dirty="0"/>
          </a:p>
        </p:txBody>
      </p:sp>
      <p:sp>
        <p:nvSpPr>
          <p:cNvPr id="7" name="Shape 4"/>
          <p:cNvSpPr/>
          <p:nvPr/>
        </p:nvSpPr>
        <p:spPr>
          <a:xfrm>
            <a:off x="548640" y="1554480"/>
            <a:ext cx="3749040" cy="4572000"/>
          </a:xfrm>
          <a:prstGeom prst="roundRect">
            <a:avLst>
              <a:gd name="adj" fmla="val 2927"/>
            </a:avLst>
          </a:prstGeom>
          <a:solidFill>
            <a:srgbClr val="13263B"/>
          </a:solidFill>
          <a:ln w="12700">
            <a:solidFill>
              <a:srgbClr val="13263B"/>
            </a:solidFill>
            <a:prstDash val="solid"/>
          </a:ln>
        </p:spPr>
      </p:sp>
      <p:sp>
        <p:nvSpPr>
          <p:cNvPr id="8" name="Text 5"/>
          <p:cNvSpPr txBox="1"/>
          <p:nvPr/>
        </p:nvSpPr>
        <p:spPr>
          <a:xfrm>
            <a:off x="777240" y="1691640"/>
            <a:ext cx="3291840" cy="411480"/>
          </a:xfrm>
          <a:prstGeom prst="rect">
            <a:avLst/>
          </a:prstGeom>
          <a:noFill/>
          <a:ln/>
        </p:spPr>
        <p:txBody>
          <a:bodyPr wrap="square" lIns="0" tIns="0" rIns="0" bIns="0" rtlCol="0" anchor="ctr"/>
          <a:lstStyle/>
          <a:p>
            <a:pPr indent="0" marL="0">
              <a:buNone/>
            </a:pPr>
            <a:r>
              <a:rPr lang="en-US" sz="1600" b="1" dirty="0">
                <a:solidFill>
                  <a:srgbClr val="2BA3C7"/>
                </a:solidFill>
                <a:latin typeface="Calibri" pitchFamily="34" charset="0"/>
                <a:ea typeface="Calibri" pitchFamily="34" charset="-122"/>
                <a:cs typeface="Calibri" pitchFamily="34" charset="-120"/>
              </a:rPr>
              <a:t>Vendor CLIs</a:t>
            </a:r>
            <a:endParaRPr lang="en-US" sz="1600" dirty="0"/>
          </a:p>
        </p:txBody>
      </p:sp>
      <p:pic>
        <p:nvPicPr>
          <p:cNvPr id="9" name="Image 0" descr="/home/monta/convention-jura/presentations/src/logos/anthropics.png">    </p:cNvPr>
          <p:cNvPicPr>
            <a:picLocks noChangeAspect="1"/>
          </p:cNvPicPr>
          <p:nvPr/>
        </p:nvPicPr>
        <p:blipFill>
          <a:blip r:embed="rId1"/>
          <a:stretch>
            <a:fillRect/>
          </a:stretch>
        </p:blipFill>
        <p:spPr>
          <a:xfrm>
            <a:off x="777240" y="2240280"/>
            <a:ext cx="731520" cy="731520"/>
          </a:xfrm>
          <a:prstGeom prst="rect">
            <a:avLst/>
          </a:prstGeom>
        </p:spPr>
      </p:pic>
      <p:sp>
        <p:nvSpPr>
          <p:cNvPr id="10" name="Text 6"/>
          <p:cNvSpPr txBox="1"/>
          <p:nvPr/>
        </p:nvSpPr>
        <p:spPr>
          <a:xfrm>
            <a:off x="1645920" y="2240280"/>
            <a:ext cx="246888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Claude Code</a:t>
            </a:r>
            <a:endParaRPr lang="en-US" sz="1600" dirty="0"/>
          </a:p>
        </p:txBody>
      </p:sp>
      <p:sp>
        <p:nvSpPr>
          <p:cNvPr id="11" name="Text 7"/>
          <p:cNvSpPr txBox="1"/>
          <p:nvPr/>
        </p:nvSpPr>
        <p:spPr>
          <a:xfrm>
            <a:off x="1645920" y="2606040"/>
            <a:ext cx="246888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Anthropic · terminal agent</a:t>
            </a:r>
            <a:endParaRPr lang="en-US" sz="1200" dirty="0"/>
          </a:p>
        </p:txBody>
      </p:sp>
      <p:pic>
        <p:nvPicPr>
          <p:cNvPr id="12" name="Image 1" descr="/home/monta/convention-jura/presentations/src/logos/openai.png">    </p:cNvPr>
          <p:cNvPicPr>
            <a:picLocks noChangeAspect="1"/>
          </p:cNvPicPr>
          <p:nvPr/>
        </p:nvPicPr>
        <p:blipFill>
          <a:blip r:embed="rId2"/>
          <a:stretch>
            <a:fillRect/>
          </a:stretch>
        </p:blipFill>
        <p:spPr>
          <a:xfrm>
            <a:off x="777240" y="3200400"/>
            <a:ext cx="731520" cy="731520"/>
          </a:xfrm>
          <a:prstGeom prst="rect">
            <a:avLst/>
          </a:prstGeom>
        </p:spPr>
      </p:pic>
      <p:sp>
        <p:nvSpPr>
          <p:cNvPr id="13" name="Text 8"/>
          <p:cNvSpPr txBox="1"/>
          <p:nvPr/>
        </p:nvSpPr>
        <p:spPr>
          <a:xfrm>
            <a:off x="1645920" y="3200400"/>
            <a:ext cx="246888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Codex</a:t>
            </a:r>
            <a:endParaRPr lang="en-US" sz="1600" dirty="0"/>
          </a:p>
        </p:txBody>
      </p:sp>
      <p:sp>
        <p:nvSpPr>
          <p:cNvPr id="14" name="Text 9"/>
          <p:cNvSpPr txBox="1"/>
          <p:nvPr/>
        </p:nvSpPr>
        <p:spPr>
          <a:xfrm>
            <a:off x="1645920" y="3566160"/>
            <a:ext cx="246888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OpenAI · terminal and cloud</a:t>
            </a:r>
            <a:endParaRPr lang="en-US" sz="1200" dirty="0"/>
          </a:p>
        </p:txBody>
      </p:sp>
      <p:pic>
        <p:nvPicPr>
          <p:cNvPr id="15" name="Image 2" descr="/home/monta/convention-jura/presentations/src/logos/google-gemini.png">    </p:cNvPr>
          <p:cNvPicPr>
            <a:picLocks noChangeAspect="1"/>
          </p:cNvPicPr>
          <p:nvPr/>
        </p:nvPicPr>
        <p:blipFill>
          <a:blip r:embed="rId3"/>
          <a:stretch>
            <a:fillRect/>
          </a:stretch>
        </p:blipFill>
        <p:spPr>
          <a:xfrm>
            <a:off x="777240" y="4160520"/>
            <a:ext cx="731520" cy="731520"/>
          </a:xfrm>
          <a:prstGeom prst="rect">
            <a:avLst/>
          </a:prstGeom>
        </p:spPr>
      </p:pic>
      <p:sp>
        <p:nvSpPr>
          <p:cNvPr id="16" name="Text 10"/>
          <p:cNvSpPr txBox="1"/>
          <p:nvPr/>
        </p:nvSpPr>
        <p:spPr>
          <a:xfrm>
            <a:off x="1645920" y="4160520"/>
            <a:ext cx="246888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Gemini CLI</a:t>
            </a:r>
            <a:endParaRPr lang="en-US" sz="1600" dirty="0"/>
          </a:p>
        </p:txBody>
      </p:sp>
      <p:sp>
        <p:nvSpPr>
          <p:cNvPr id="17" name="Text 11"/>
          <p:cNvSpPr txBox="1"/>
          <p:nvPr/>
        </p:nvSpPr>
        <p:spPr>
          <a:xfrm>
            <a:off x="1645920" y="4526280"/>
            <a:ext cx="246888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Google · open source</a:t>
            </a:r>
            <a:endParaRPr lang="en-US" sz="1200" dirty="0"/>
          </a:p>
        </p:txBody>
      </p:sp>
      <p:sp>
        <p:nvSpPr>
          <p:cNvPr id="18" name="Shape 12"/>
          <p:cNvSpPr/>
          <p:nvPr/>
        </p:nvSpPr>
        <p:spPr>
          <a:xfrm>
            <a:off x="4480560" y="1554480"/>
            <a:ext cx="4023360" cy="4572000"/>
          </a:xfrm>
          <a:prstGeom prst="roundRect">
            <a:avLst>
              <a:gd name="adj" fmla="val 2727"/>
            </a:avLst>
          </a:prstGeom>
          <a:solidFill>
            <a:srgbClr val="13263B"/>
          </a:solidFill>
          <a:ln w="12700">
            <a:solidFill>
              <a:srgbClr val="13263B"/>
            </a:solidFill>
            <a:prstDash val="solid"/>
          </a:ln>
        </p:spPr>
      </p:sp>
      <p:sp>
        <p:nvSpPr>
          <p:cNvPr id="19" name="Text 13"/>
          <p:cNvSpPr txBox="1"/>
          <p:nvPr/>
        </p:nvSpPr>
        <p:spPr>
          <a:xfrm>
            <a:off x="4709160" y="1691640"/>
            <a:ext cx="3566160" cy="411480"/>
          </a:xfrm>
          <a:prstGeom prst="rect">
            <a:avLst/>
          </a:prstGeom>
          <a:noFill/>
          <a:ln/>
        </p:spPr>
        <p:txBody>
          <a:bodyPr wrap="square" lIns="0" tIns="0" rIns="0" bIns="0" rtlCol="0" anchor="ctr"/>
          <a:lstStyle/>
          <a:p>
            <a:pPr indent="0" marL="0">
              <a:buNone/>
            </a:pPr>
            <a:r>
              <a:rPr lang="en-US" sz="1600" b="1" dirty="0">
                <a:solidFill>
                  <a:srgbClr val="5FBF7A"/>
                </a:solidFill>
                <a:latin typeface="Calibri" pitchFamily="34" charset="0"/>
                <a:ea typeface="Calibri" pitchFamily="34" charset="-122"/>
                <a:cs typeface="Calibri" pitchFamily="34" charset="-120"/>
              </a:rPr>
              <a:t>Open, any model</a:t>
            </a:r>
            <a:endParaRPr lang="en-US" sz="1600" dirty="0"/>
          </a:p>
        </p:txBody>
      </p:sp>
      <p:sp>
        <p:nvSpPr>
          <p:cNvPr id="20" name="Shape 14"/>
          <p:cNvSpPr/>
          <p:nvPr/>
        </p:nvSpPr>
        <p:spPr>
          <a:xfrm>
            <a:off x="4709160" y="2240280"/>
            <a:ext cx="731520" cy="731520"/>
          </a:xfrm>
          <a:prstGeom prst="roundRect">
            <a:avLst>
              <a:gd name="adj" fmla="val 18750"/>
            </a:avLst>
          </a:prstGeom>
          <a:solidFill>
            <a:srgbClr val="5FBF7A"/>
          </a:solidFill>
          <a:ln w="12700">
            <a:solidFill>
              <a:srgbClr val="5FBF7A"/>
            </a:solidFill>
            <a:prstDash val="solid"/>
          </a:ln>
        </p:spPr>
      </p:sp>
      <p:sp>
        <p:nvSpPr>
          <p:cNvPr id="21" name="Text 15"/>
          <p:cNvSpPr txBox="1"/>
          <p:nvPr/>
        </p:nvSpPr>
        <p:spPr>
          <a:xfrm>
            <a:off x="4709160" y="2240280"/>
            <a:ext cx="731520" cy="731520"/>
          </a:xfrm>
          <a:prstGeom prst="rect">
            <a:avLst/>
          </a:prstGeom>
          <a:noFill/>
          <a:ln/>
        </p:spPr>
        <p:txBody>
          <a:bodyPr wrap="square" lIns="0" tIns="0" rIns="0" bIns="0" rtlCol="0" anchor="ctr"/>
          <a:lstStyle/>
          <a:p>
            <a:pPr algn="ctr" indent="0" marL="0">
              <a:buNone/>
            </a:pPr>
            <a:r>
              <a:rPr lang="en-US" sz="2200" b="1" dirty="0">
                <a:solidFill>
                  <a:srgbClr val="0B1A2B"/>
                </a:solidFill>
                <a:latin typeface="Cambria" pitchFamily="34" charset="0"/>
                <a:ea typeface="Cambria" pitchFamily="34" charset="-122"/>
                <a:cs typeface="Cambria" pitchFamily="34" charset="-120"/>
              </a:rPr>
              <a:t>OC</a:t>
            </a:r>
            <a:endParaRPr lang="en-US" sz="2200" dirty="0"/>
          </a:p>
        </p:txBody>
      </p:sp>
      <p:sp>
        <p:nvSpPr>
          <p:cNvPr id="22" name="Text 16"/>
          <p:cNvSpPr txBox="1"/>
          <p:nvPr/>
        </p:nvSpPr>
        <p:spPr>
          <a:xfrm>
            <a:off x="5577840" y="2240280"/>
            <a:ext cx="274320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OpenCode</a:t>
            </a:r>
            <a:endParaRPr lang="en-US" sz="1600" dirty="0"/>
          </a:p>
        </p:txBody>
      </p:sp>
      <p:sp>
        <p:nvSpPr>
          <p:cNvPr id="23" name="Text 17"/>
          <p:cNvSpPr txBox="1"/>
          <p:nvPr/>
        </p:nvSpPr>
        <p:spPr>
          <a:xfrm>
            <a:off x="5577840" y="2606040"/>
            <a:ext cx="274320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open source · any provider</a:t>
            </a:r>
            <a:endParaRPr lang="en-US" sz="1200" dirty="0"/>
          </a:p>
        </p:txBody>
      </p:sp>
      <p:sp>
        <p:nvSpPr>
          <p:cNvPr id="24" name="Shape 18"/>
          <p:cNvSpPr/>
          <p:nvPr/>
        </p:nvSpPr>
        <p:spPr>
          <a:xfrm>
            <a:off x="4709160" y="3200400"/>
            <a:ext cx="731520" cy="731520"/>
          </a:xfrm>
          <a:prstGeom prst="roundRect">
            <a:avLst>
              <a:gd name="adj" fmla="val 18750"/>
            </a:avLst>
          </a:prstGeom>
          <a:solidFill>
            <a:srgbClr val="5FBF7A"/>
          </a:solidFill>
          <a:ln w="12700">
            <a:solidFill>
              <a:srgbClr val="5FBF7A"/>
            </a:solidFill>
            <a:prstDash val="solid"/>
          </a:ln>
        </p:spPr>
      </p:sp>
      <p:sp>
        <p:nvSpPr>
          <p:cNvPr id="25" name="Text 19"/>
          <p:cNvSpPr txBox="1"/>
          <p:nvPr/>
        </p:nvSpPr>
        <p:spPr>
          <a:xfrm>
            <a:off x="4709160" y="3200400"/>
            <a:ext cx="731520" cy="731520"/>
          </a:xfrm>
          <a:prstGeom prst="rect">
            <a:avLst/>
          </a:prstGeom>
          <a:noFill/>
          <a:ln/>
        </p:spPr>
        <p:txBody>
          <a:bodyPr wrap="square" lIns="0" tIns="0" rIns="0" bIns="0" rtlCol="0" anchor="ctr"/>
          <a:lstStyle/>
          <a:p>
            <a:pPr algn="ctr" indent="0" marL="0">
              <a:buNone/>
            </a:pPr>
            <a:r>
              <a:rPr lang="en-US" sz="2200" b="1" dirty="0">
                <a:solidFill>
                  <a:srgbClr val="0B1A2B"/>
                </a:solidFill>
                <a:latin typeface="Cambria" pitchFamily="34" charset="0"/>
                <a:ea typeface="Cambria" pitchFamily="34" charset="-122"/>
                <a:cs typeface="Cambria" pitchFamily="34" charset="-120"/>
              </a:rPr>
              <a:t>π</a:t>
            </a:r>
            <a:endParaRPr lang="en-US" sz="2200" dirty="0"/>
          </a:p>
        </p:txBody>
      </p:sp>
      <p:sp>
        <p:nvSpPr>
          <p:cNvPr id="26" name="Text 20"/>
          <p:cNvSpPr txBox="1"/>
          <p:nvPr/>
        </p:nvSpPr>
        <p:spPr>
          <a:xfrm>
            <a:off x="5577840" y="3200400"/>
            <a:ext cx="274320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Pi</a:t>
            </a:r>
            <a:endParaRPr lang="en-US" sz="1600" dirty="0"/>
          </a:p>
        </p:txBody>
      </p:sp>
      <p:sp>
        <p:nvSpPr>
          <p:cNvPr id="27" name="Text 21"/>
          <p:cNvSpPr txBox="1"/>
          <p:nvPr/>
        </p:nvSpPr>
        <p:spPr>
          <a:xfrm>
            <a:off x="5577840" y="3566160"/>
            <a:ext cx="274320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minimal, extensible core</a:t>
            </a:r>
            <a:endParaRPr lang="en-US" sz="1200" dirty="0"/>
          </a:p>
        </p:txBody>
      </p:sp>
      <p:pic>
        <p:nvPicPr>
          <p:cNvPr id="28" name="Image 3" descr="/home/monta/convention-jura/presentations/src/logos/Aider-AI.png">    </p:cNvPr>
          <p:cNvPicPr>
            <a:picLocks noChangeAspect="1"/>
          </p:cNvPicPr>
          <p:nvPr/>
        </p:nvPicPr>
        <p:blipFill>
          <a:blip r:embed="rId4"/>
          <a:stretch>
            <a:fillRect/>
          </a:stretch>
        </p:blipFill>
        <p:spPr>
          <a:xfrm>
            <a:off x="4709160" y="4160520"/>
            <a:ext cx="731520" cy="731520"/>
          </a:xfrm>
          <a:prstGeom prst="rect">
            <a:avLst/>
          </a:prstGeom>
        </p:spPr>
      </p:pic>
      <p:sp>
        <p:nvSpPr>
          <p:cNvPr id="29" name="Text 22"/>
          <p:cNvSpPr txBox="1"/>
          <p:nvPr/>
        </p:nvSpPr>
        <p:spPr>
          <a:xfrm>
            <a:off x="5577840" y="4160520"/>
            <a:ext cx="274320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Aider</a:t>
            </a:r>
            <a:endParaRPr lang="en-US" sz="1600" dirty="0"/>
          </a:p>
        </p:txBody>
      </p:sp>
      <p:sp>
        <p:nvSpPr>
          <p:cNvPr id="30" name="Text 23"/>
          <p:cNvSpPr txBox="1"/>
          <p:nvPr/>
        </p:nvSpPr>
        <p:spPr>
          <a:xfrm>
            <a:off x="5577840" y="4526280"/>
            <a:ext cx="274320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git-native pair programmer</a:t>
            </a:r>
            <a:endParaRPr lang="en-US" sz="1200" dirty="0"/>
          </a:p>
        </p:txBody>
      </p:sp>
      <p:pic>
        <p:nvPicPr>
          <p:cNvPr id="31" name="Image 4" descr="/home/monta/convention-jura/presentations/src/logos/block.png">    </p:cNvPr>
          <p:cNvPicPr>
            <a:picLocks noChangeAspect="1"/>
          </p:cNvPicPr>
          <p:nvPr/>
        </p:nvPicPr>
        <p:blipFill>
          <a:blip r:embed="rId5"/>
          <a:stretch>
            <a:fillRect/>
          </a:stretch>
        </p:blipFill>
        <p:spPr>
          <a:xfrm>
            <a:off x="4709160" y="5120640"/>
            <a:ext cx="731520" cy="731520"/>
          </a:xfrm>
          <a:prstGeom prst="rect">
            <a:avLst/>
          </a:prstGeom>
        </p:spPr>
      </p:pic>
      <p:sp>
        <p:nvSpPr>
          <p:cNvPr id="32" name="Text 24"/>
          <p:cNvSpPr txBox="1"/>
          <p:nvPr/>
        </p:nvSpPr>
        <p:spPr>
          <a:xfrm>
            <a:off x="5577840" y="5120640"/>
            <a:ext cx="274320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Goose</a:t>
            </a:r>
            <a:endParaRPr lang="en-US" sz="1600" dirty="0"/>
          </a:p>
        </p:txBody>
      </p:sp>
      <p:sp>
        <p:nvSpPr>
          <p:cNvPr id="33" name="Text 25"/>
          <p:cNvSpPr txBox="1"/>
          <p:nvPr/>
        </p:nvSpPr>
        <p:spPr>
          <a:xfrm>
            <a:off x="5577840" y="5486400"/>
            <a:ext cx="274320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Block · open source</a:t>
            </a:r>
            <a:endParaRPr lang="en-US" sz="1200" dirty="0"/>
          </a:p>
        </p:txBody>
      </p:sp>
      <p:sp>
        <p:nvSpPr>
          <p:cNvPr id="34" name="Shape 26"/>
          <p:cNvSpPr/>
          <p:nvPr/>
        </p:nvSpPr>
        <p:spPr>
          <a:xfrm>
            <a:off x="8686800" y="1554480"/>
            <a:ext cx="3108960" cy="4572000"/>
          </a:xfrm>
          <a:prstGeom prst="roundRect">
            <a:avLst>
              <a:gd name="adj" fmla="val 3529"/>
            </a:avLst>
          </a:prstGeom>
          <a:solidFill>
            <a:srgbClr val="13263B"/>
          </a:solidFill>
          <a:ln w="12700">
            <a:solidFill>
              <a:srgbClr val="13263B"/>
            </a:solidFill>
            <a:prstDash val="solid"/>
          </a:ln>
        </p:spPr>
      </p:sp>
      <p:sp>
        <p:nvSpPr>
          <p:cNvPr id="35" name="Text 27"/>
          <p:cNvSpPr txBox="1"/>
          <p:nvPr/>
        </p:nvSpPr>
        <p:spPr>
          <a:xfrm>
            <a:off x="8915400" y="1691640"/>
            <a:ext cx="2651760" cy="411480"/>
          </a:xfrm>
          <a:prstGeom prst="rect">
            <a:avLst/>
          </a:prstGeom>
          <a:noFill/>
          <a:ln/>
        </p:spPr>
        <p:txBody>
          <a:bodyPr wrap="square" lIns="0" tIns="0" rIns="0" bIns="0" rtlCol="0" anchor="ctr"/>
          <a:lstStyle/>
          <a:p>
            <a:pPr indent="0" marL="0">
              <a:buNone/>
            </a:pPr>
            <a:r>
              <a:rPr lang="en-US" sz="1600" b="1" dirty="0">
                <a:solidFill>
                  <a:srgbClr val="8E72E6"/>
                </a:solidFill>
                <a:latin typeface="Calibri" pitchFamily="34" charset="0"/>
                <a:ea typeface="Calibri" pitchFamily="34" charset="-122"/>
                <a:cs typeface="Calibri" pitchFamily="34" charset="-120"/>
              </a:rPr>
              <a:t>In the IDE</a:t>
            </a:r>
            <a:endParaRPr lang="en-US" sz="1600" dirty="0"/>
          </a:p>
        </p:txBody>
      </p:sp>
      <p:pic>
        <p:nvPicPr>
          <p:cNvPr id="36" name="Image 5" descr="/home/monta/convention-jura/presentations/src/logos/cursor.png">    </p:cNvPr>
          <p:cNvPicPr>
            <a:picLocks noChangeAspect="1"/>
          </p:cNvPicPr>
          <p:nvPr/>
        </p:nvPicPr>
        <p:blipFill>
          <a:blip r:embed="rId6"/>
          <a:stretch>
            <a:fillRect/>
          </a:stretch>
        </p:blipFill>
        <p:spPr>
          <a:xfrm>
            <a:off x="8915400" y="2240280"/>
            <a:ext cx="731520" cy="731520"/>
          </a:xfrm>
          <a:prstGeom prst="rect">
            <a:avLst/>
          </a:prstGeom>
        </p:spPr>
      </p:pic>
      <p:sp>
        <p:nvSpPr>
          <p:cNvPr id="37" name="Text 28"/>
          <p:cNvSpPr txBox="1"/>
          <p:nvPr/>
        </p:nvSpPr>
        <p:spPr>
          <a:xfrm>
            <a:off x="9784080" y="2240280"/>
            <a:ext cx="182880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Cursor</a:t>
            </a:r>
            <a:endParaRPr lang="en-US" sz="1600" dirty="0"/>
          </a:p>
        </p:txBody>
      </p:sp>
      <p:sp>
        <p:nvSpPr>
          <p:cNvPr id="38" name="Text 29"/>
          <p:cNvSpPr txBox="1"/>
          <p:nvPr/>
        </p:nvSpPr>
        <p:spPr>
          <a:xfrm>
            <a:off x="9784080" y="2606040"/>
            <a:ext cx="182880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AI-first editor</a:t>
            </a:r>
            <a:endParaRPr lang="en-US" sz="1200" dirty="0"/>
          </a:p>
        </p:txBody>
      </p:sp>
      <p:pic>
        <p:nvPicPr>
          <p:cNvPr id="39" name="Image 6" descr="/home/monta/convention-jura/presentations/src/logos/cline.png">    </p:cNvPr>
          <p:cNvPicPr>
            <a:picLocks noChangeAspect="1"/>
          </p:cNvPicPr>
          <p:nvPr/>
        </p:nvPicPr>
        <p:blipFill>
          <a:blip r:embed="rId7"/>
          <a:stretch>
            <a:fillRect/>
          </a:stretch>
        </p:blipFill>
        <p:spPr>
          <a:xfrm>
            <a:off x="8915400" y="3200400"/>
            <a:ext cx="731520" cy="731520"/>
          </a:xfrm>
          <a:prstGeom prst="rect">
            <a:avLst/>
          </a:prstGeom>
        </p:spPr>
      </p:pic>
      <p:sp>
        <p:nvSpPr>
          <p:cNvPr id="40" name="Text 30"/>
          <p:cNvSpPr txBox="1"/>
          <p:nvPr/>
        </p:nvSpPr>
        <p:spPr>
          <a:xfrm>
            <a:off x="9784080" y="3200400"/>
            <a:ext cx="182880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Cline</a:t>
            </a:r>
            <a:endParaRPr lang="en-US" sz="1600" dirty="0"/>
          </a:p>
        </p:txBody>
      </p:sp>
      <p:sp>
        <p:nvSpPr>
          <p:cNvPr id="41" name="Text 31"/>
          <p:cNvSpPr txBox="1"/>
          <p:nvPr/>
        </p:nvSpPr>
        <p:spPr>
          <a:xfrm>
            <a:off x="9784080" y="3566160"/>
            <a:ext cx="182880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VS Code extension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11</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2 · HARNESSES TODAY</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Four questions to ask any harness</a:t>
            </a:r>
            <a:endParaRPr lang="en-US" sz="3400" dirty="0"/>
          </a:p>
        </p:txBody>
      </p:sp>
      <p:sp>
        <p:nvSpPr>
          <p:cNvPr id="7" name="Shape 4"/>
          <p:cNvSpPr/>
          <p:nvPr/>
        </p:nvSpPr>
        <p:spPr>
          <a:xfrm>
            <a:off x="548640" y="1645920"/>
            <a:ext cx="5440680" cy="2011680"/>
          </a:xfrm>
          <a:prstGeom prst="roundRect">
            <a:avLst>
              <a:gd name="adj" fmla="val 5455"/>
            </a:avLst>
          </a:prstGeom>
          <a:solidFill>
            <a:srgbClr val="13263B"/>
          </a:solidFill>
          <a:ln w="12700">
            <a:solidFill>
              <a:srgbClr val="13263B"/>
            </a:solidFill>
            <a:prstDash val="solid"/>
          </a:ln>
        </p:spPr>
      </p:sp>
      <p:sp>
        <p:nvSpPr>
          <p:cNvPr id="8" name="Shape 5"/>
          <p:cNvSpPr/>
          <p:nvPr/>
        </p:nvSpPr>
        <p:spPr>
          <a:xfrm>
            <a:off x="731520" y="1828800"/>
            <a:ext cx="411480" cy="411480"/>
          </a:xfrm>
          <a:prstGeom prst="ellipse">
            <a:avLst/>
          </a:prstGeom>
          <a:solidFill>
            <a:srgbClr val="2BA3C7"/>
          </a:solidFill>
          <a:ln w="12700">
            <a:solidFill>
              <a:srgbClr val="2BA3C7"/>
            </a:solidFill>
            <a:prstDash val="solid"/>
          </a:ln>
        </p:spPr>
      </p:sp>
      <p:sp>
        <p:nvSpPr>
          <p:cNvPr id="9" name="Text 6"/>
          <p:cNvSpPr txBox="1"/>
          <p:nvPr/>
        </p:nvSpPr>
        <p:spPr>
          <a:xfrm>
            <a:off x="731520" y="18288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1</a:t>
            </a:r>
            <a:endParaRPr lang="en-US" sz="1500" dirty="0"/>
          </a:p>
        </p:txBody>
      </p:sp>
      <p:sp>
        <p:nvSpPr>
          <p:cNvPr id="10" name="Text 7"/>
          <p:cNvSpPr txBox="1"/>
          <p:nvPr/>
        </p:nvSpPr>
        <p:spPr>
          <a:xfrm>
            <a:off x="1280160" y="1810512"/>
            <a:ext cx="452628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Who chooses the model?</a:t>
            </a:r>
            <a:endParaRPr lang="en-US" sz="1700" dirty="0"/>
          </a:p>
        </p:txBody>
      </p:sp>
      <p:sp>
        <p:nvSpPr>
          <p:cNvPr id="11" name="Text 8"/>
          <p:cNvSpPr txBox="1"/>
          <p:nvPr/>
        </p:nvSpPr>
        <p:spPr>
          <a:xfrm>
            <a:off x="777240" y="2331720"/>
            <a:ext cx="4983480" cy="118872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the vendor's models only — or any provider, your own vLLM behind a gateway</a:t>
            </a:r>
            <a:endParaRPr lang="en-US" sz="1500" dirty="0"/>
          </a:p>
        </p:txBody>
      </p:sp>
      <p:sp>
        <p:nvSpPr>
          <p:cNvPr id="12" name="Shape 9"/>
          <p:cNvSpPr/>
          <p:nvPr/>
        </p:nvSpPr>
        <p:spPr>
          <a:xfrm>
            <a:off x="6217920" y="1645920"/>
            <a:ext cx="5440680" cy="2011680"/>
          </a:xfrm>
          <a:prstGeom prst="roundRect">
            <a:avLst>
              <a:gd name="adj" fmla="val 5455"/>
            </a:avLst>
          </a:prstGeom>
          <a:solidFill>
            <a:srgbClr val="13263B"/>
          </a:solidFill>
          <a:ln w="12700">
            <a:solidFill>
              <a:srgbClr val="13263B"/>
            </a:solidFill>
            <a:prstDash val="solid"/>
          </a:ln>
        </p:spPr>
      </p:sp>
      <p:sp>
        <p:nvSpPr>
          <p:cNvPr id="13" name="Shape 10"/>
          <p:cNvSpPr/>
          <p:nvPr/>
        </p:nvSpPr>
        <p:spPr>
          <a:xfrm>
            <a:off x="6400800" y="1828800"/>
            <a:ext cx="411480" cy="411480"/>
          </a:xfrm>
          <a:prstGeom prst="ellipse">
            <a:avLst/>
          </a:prstGeom>
          <a:solidFill>
            <a:srgbClr val="5FBF7A"/>
          </a:solidFill>
          <a:ln w="12700">
            <a:solidFill>
              <a:srgbClr val="5FBF7A"/>
            </a:solidFill>
            <a:prstDash val="solid"/>
          </a:ln>
        </p:spPr>
      </p:sp>
      <p:sp>
        <p:nvSpPr>
          <p:cNvPr id="14" name="Text 11"/>
          <p:cNvSpPr txBox="1"/>
          <p:nvPr/>
        </p:nvSpPr>
        <p:spPr>
          <a:xfrm>
            <a:off x="6400800" y="18288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2</a:t>
            </a:r>
            <a:endParaRPr lang="en-US" sz="1500" dirty="0"/>
          </a:p>
        </p:txBody>
      </p:sp>
      <p:sp>
        <p:nvSpPr>
          <p:cNvPr id="15" name="Text 12"/>
          <p:cNvSpPr txBox="1"/>
          <p:nvPr/>
        </p:nvSpPr>
        <p:spPr>
          <a:xfrm>
            <a:off x="6949440" y="1810512"/>
            <a:ext cx="4526280" cy="457200"/>
          </a:xfrm>
          <a:prstGeom prst="rect">
            <a:avLst/>
          </a:prstGeom>
          <a:noFill/>
          <a:ln/>
        </p:spPr>
        <p:txBody>
          <a:bodyPr wrap="square" lIns="0" tIns="0" rIns="0" bIns="0" rtlCol="0" anchor="ctr"/>
          <a:lstStyle/>
          <a:p>
            <a:pPr indent="0" marL="0">
              <a:buNone/>
            </a:pPr>
            <a:r>
              <a:rPr lang="en-US" sz="1700" b="1" dirty="0">
                <a:solidFill>
                  <a:srgbClr val="5FBF7A"/>
                </a:solidFill>
                <a:latin typeface="Calibri" pitchFamily="34" charset="0"/>
                <a:ea typeface="Calibri" pitchFamily="34" charset="-122"/>
                <a:cs typeface="Calibri" pitchFamily="34" charset="-120"/>
              </a:rPr>
              <a:t>Where does it run?</a:t>
            </a:r>
            <a:endParaRPr lang="en-US" sz="1700" dirty="0"/>
          </a:p>
        </p:txBody>
      </p:sp>
      <p:sp>
        <p:nvSpPr>
          <p:cNvPr id="16" name="Text 13"/>
          <p:cNvSpPr txBox="1"/>
          <p:nvPr/>
        </p:nvSpPr>
        <p:spPr>
          <a:xfrm>
            <a:off x="6446520" y="2331720"/>
            <a:ext cx="4983480" cy="118872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your terminal, the editor, the vendor's cloud — and what it can reach from there</a:t>
            </a:r>
            <a:endParaRPr lang="en-US" sz="1500" dirty="0"/>
          </a:p>
        </p:txBody>
      </p:sp>
      <p:sp>
        <p:nvSpPr>
          <p:cNvPr id="17" name="Shape 14"/>
          <p:cNvSpPr/>
          <p:nvPr/>
        </p:nvSpPr>
        <p:spPr>
          <a:xfrm>
            <a:off x="548640" y="3886200"/>
            <a:ext cx="5440680" cy="2011680"/>
          </a:xfrm>
          <a:prstGeom prst="roundRect">
            <a:avLst>
              <a:gd name="adj" fmla="val 5455"/>
            </a:avLst>
          </a:prstGeom>
          <a:solidFill>
            <a:srgbClr val="13263B"/>
          </a:solidFill>
          <a:ln w="12700">
            <a:solidFill>
              <a:srgbClr val="13263B"/>
            </a:solidFill>
            <a:prstDash val="solid"/>
          </a:ln>
        </p:spPr>
      </p:sp>
      <p:sp>
        <p:nvSpPr>
          <p:cNvPr id="18" name="Shape 15"/>
          <p:cNvSpPr/>
          <p:nvPr/>
        </p:nvSpPr>
        <p:spPr>
          <a:xfrm>
            <a:off x="731520" y="4069080"/>
            <a:ext cx="411480" cy="411480"/>
          </a:xfrm>
          <a:prstGeom prst="ellipse">
            <a:avLst/>
          </a:prstGeom>
          <a:solidFill>
            <a:srgbClr val="8E72E6"/>
          </a:solidFill>
          <a:ln w="12700">
            <a:solidFill>
              <a:srgbClr val="8E72E6"/>
            </a:solidFill>
            <a:prstDash val="solid"/>
          </a:ln>
        </p:spPr>
      </p:sp>
      <p:sp>
        <p:nvSpPr>
          <p:cNvPr id="19" name="Text 16"/>
          <p:cNvSpPr txBox="1"/>
          <p:nvPr/>
        </p:nvSpPr>
        <p:spPr>
          <a:xfrm>
            <a:off x="731520" y="406908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3</a:t>
            </a:r>
            <a:endParaRPr lang="en-US" sz="1500" dirty="0"/>
          </a:p>
        </p:txBody>
      </p:sp>
      <p:sp>
        <p:nvSpPr>
          <p:cNvPr id="20" name="Text 17"/>
          <p:cNvSpPr txBox="1"/>
          <p:nvPr/>
        </p:nvSpPr>
        <p:spPr>
          <a:xfrm>
            <a:off x="1280160" y="4050792"/>
            <a:ext cx="452628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How far does it extend?</a:t>
            </a:r>
            <a:endParaRPr lang="en-US" sz="1700" dirty="0"/>
          </a:p>
        </p:txBody>
      </p:sp>
      <p:sp>
        <p:nvSpPr>
          <p:cNvPr id="21" name="Text 18"/>
          <p:cNvSpPr txBox="1"/>
          <p:nvPr/>
        </p:nvSpPr>
        <p:spPr>
          <a:xfrm>
            <a:off x="777240" y="4572000"/>
            <a:ext cx="4983480" cy="118872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skills, MCP servers, hooks, plugins, sub-agents</a:t>
            </a:r>
            <a:endParaRPr lang="en-US" sz="1500" dirty="0"/>
          </a:p>
        </p:txBody>
      </p:sp>
      <p:sp>
        <p:nvSpPr>
          <p:cNvPr id="22" name="Shape 19"/>
          <p:cNvSpPr/>
          <p:nvPr/>
        </p:nvSpPr>
        <p:spPr>
          <a:xfrm>
            <a:off x="6217920" y="3886200"/>
            <a:ext cx="5440680" cy="2011680"/>
          </a:xfrm>
          <a:prstGeom prst="roundRect">
            <a:avLst>
              <a:gd name="adj" fmla="val 5455"/>
            </a:avLst>
          </a:prstGeom>
          <a:solidFill>
            <a:srgbClr val="13263B"/>
          </a:solidFill>
          <a:ln w="12700">
            <a:solidFill>
              <a:srgbClr val="13263B"/>
            </a:solidFill>
            <a:prstDash val="solid"/>
          </a:ln>
        </p:spPr>
      </p:sp>
      <p:sp>
        <p:nvSpPr>
          <p:cNvPr id="23" name="Shape 20"/>
          <p:cNvSpPr/>
          <p:nvPr/>
        </p:nvSpPr>
        <p:spPr>
          <a:xfrm>
            <a:off x="6400800" y="4069080"/>
            <a:ext cx="411480" cy="411480"/>
          </a:xfrm>
          <a:prstGeom prst="ellipse">
            <a:avLst/>
          </a:prstGeom>
          <a:solidFill>
            <a:srgbClr val="E0645A"/>
          </a:solidFill>
          <a:ln w="12700">
            <a:solidFill>
              <a:srgbClr val="E0645A"/>
            </a:solidFill>
            <a:prstDash val="solid"/>
          </a:ln>
        </p:spPr>
      </p:sp>
      <p:sp>
        <p:nvSpPr>
          <p:cNvPr id="24" name="Text 21"/>
          <p:cNvSpPr txBox="1"/>
          <p:nvPr/>
        </p:nvSpPr>
        <p:spPr>
          <a:xfrm>
            <a:off x="6400800" y="406908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4</a:t>
            </a:r>
            <a:endParaRPr lang="en-US" sz="1500" dirty="0"/>
          </a:p>
        </p:txBody>
      </p:sp>
      <p:sp>
        <p:nvSpPr>
          <p:cNvPr id="25" name="Text 22"/>
          <p:cNvSpPr txBox="1"/>
          <p:nvPr/>
        </p:nvSpPr>
        <p:spPr>
          <a:xfrm>
            <a:off x="6949440" y="4050792"/>
            <a:ext cx="4526280" cy="457200"/>
          </a:xfrm>
          <a:prstGeom prst="rect">
            <a:avLst/>
          </a:prstGeom>
          <a:noFill/>
          <a:ln/>
        </p:spPr>
        <p:txBody>
          <a:bodyPr wrap="square" lIns="0" tIns="0" rIns="0" bIns="0" rtlCol="0" anchor="ctr"/>
          <a:lstStyle/>
          <a:p>
            <a:pPr indent="0" marL="0">
              <a:buNone/>
            </a:pPr>
            <a:r>
              <a:rPr lang="en-US" sz="1700" b="1" dirty="0">
                <a:solidFill>
                  <a:srgbClr val="E0645A"/>
                </a:solidFill>
                <a:latin typeface="Calibri" pitchFamily="34" charset="0"/>
                <a:ea typeface="Calibri" pitchFamily="34" charset="-122"/>
                <a:cs typeface="Calibri" pitchFamily="34" charset="-120"/>
              </a:rPr>
              <a:t>Rules in code, or in a prompt?</a:t>
            </a:r>
            <a:endParaRPr lang="en-US" sz="1700" dirty="0"/>
          </a:p>
        </p:txBody>
      </p:sp>
      <p:sp>
        <p:nvSpPr>
          <p:cNvPr id="26" name="Text 23"/>
          <p:cNvSpPr txBox="1"/>
          <p:nvPr/>
        </p:nvSpPr>
        <p:spPr>
          <a:xfrm>
            <a:off x="6446520" y="4572000"/>
            <a:ext cx="4983480" cy="118872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asking before a risky command is common; guaranteeing a rule is followed is rare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12</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3 · SELF-LEARNING HARNESSES</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Better from their own runs — without retraining</a:t>
            </a:r>
            <a:endParaRPr lang="en-US" sz="3400" dirty="0"/>
          </a:p>
        </p:txBody>
      </p:sp>
      <p:sp>
        <p:nvSpPr>
          <p:cNvPr id="7" name="Shape 4"/>
          <p:cNvSpPr/>
          <p:nvPr/>
        </p:nvSpPr>
        <p:spPr>
          <a:xfrm>
            <a:off x="548640" y="4572000"/>
            <a:ext cx="2651760" cy="1371600"/>
          </a:xfrm>
          <a:prstGeom prst="roundRect">
            <a:avLst>
              <a:gd name="adj" fmla="val 8000"/>
            </a:avLst>
          </a:prstGeom>
          <a:solidFill>
            <a:srgbClr val="13263B"/>
          </a:solidFill>
          <a:ln w="12700">
            <a:solidFill>
              <a:srgbClr val="13263B"/>
            </a:solidFill>
            <a:prstDash val="solid"/>
          </a:ln>
        </p:spPr>
      </p:sp>
      <p:sp>
        <p:nvSpPr>
          <p:cNvPr id="8" name="Shape 5"/>
          <p:cNvSpPr/>
          <p:nvPr/>
        </p:nvSpPr>
        <p:spPr>
          <a:xfrm>
            <a:off x="731520" y="4754880"/>
            <a:ext cx="411480" cy="411480"/>
          </a:xfrm>
          <a:prstGeom prst="ellipse">
            <a:avLst/>
          </a:prstGeom>
          <a:solidFill>
            <a:srgbClr val="2BA3C7"/>
          </a:solidFill>
          <a:ln w="12700">
            <a:solidFill>
              <a:srgbClr val="2BA3C7"/>
            </a:solidFill>
            <a:prstDash val="solid"/>
          </a:ln>
        </p:spPr>
      </p:sp>
      <p:sp>
        <p:nvSpPr>
          <p:cNvPr id="9" name="Text 6"/>
          <p:cNvSpPr txBox="1"/>
          <p:nvPr/>
        </p:nvSpPr>
        <p:spPr>
          <a:xfrm>
            <a:off x="731520" y="475488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1</a:t>
            </a:r>
            <a:endParaRPr lang="en-US" sz="1500" dirty="0"/>
          </a:p>
        </p:txBody>
      </p:sp>
      <p:sp>
        <p:nvSpPr>
          <p:cNvPr id="10" name="Text 7"/>
          <p:cNvSpPr txBox="1"/>
          <p:nvPr/>
        </p:nvSpPr>
        <p:spPr>
          <a:xfrm>
            <a:off x="1280160" y="4736592"/>
            <a:ext cx="173736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Remember</a:t>
            </a:r>
            <a:endParaRPr lang="en-US" sz="1700" dirty="0"/>
          </a:p>
        </p:txBody>
      </p:sp>
      <p:sp>
        <p:nvSpPr>
          <p:cNvPr id="11" name="Text 8"/>
          <p:cNvSpPr txBox="1"/>
          <p:nvPr/>
        </p:nvSpPr>
        <p:spPr>
          <a:xfrm>
            <a:off x="777240" y="5257800"/>
            <a:ext cx="2194560" cy="54864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memory that survives the session</a:t>
            </a:r>
            <a:endParaRPr lang="en-US" sz="1400" dirty="0"/>
          </a:p>
        </p:txBody>
      </p:sp>
      <p:sp>
        <p:nvSpPr>
          <p:cNvPr id="12" name="Shape 9"/>
          <p:cNvSpPr/>
          <p:nvPr/>
        </p:nvSpPr>
        <p:spPr>
          <a:xfrm>
            <a:off x="3383280" y="3794760"/>
            <a:ext cx="2651760" cy="2148840"/>
          </a:xfrm>
          <a:prstGeom prst="roundRect">
            <a:avLst>
              <a:gd name="adj" fmla="val 5106"/>
            </a:avLst>
          </a:prstGeom>
          <a:solidFill>
            <a:srgbClr val="13263B"/>
          </a:solidFill>
          <a:ln w="12700">
            <a:solidFill>
              <a:srgbClr val="13263B"/>
            </a:solidFill>
            <a:prstDash val="solid"/>
          </a:ln>
        </p:spPr>
      </p:sp>
      <p:sp>
        <p:nvSpPr>
          <p:cNvPr id="13" name="Shape 10"/>
          <p:cNvSpPr/>
          <p:nvPr/>
        </p:nvSpPr>
        <p:spPr>
          <a:xfrm>
            <a:off x="3566160" y="3977640"/>
            <a:ext cx="411480" cy="411480"/>
          </a:xfrm>
          <a:prstGeom prst="ellipse">
            <a:avLst/>
          </a:prstGeom>
          <a:solidFill>
            <a:srgbClr val="5FBF7A"/>
          </a:solidFill>
          <a:ln w="12700">
            <a:solidFill>
              <a:srgbClr val="5FBF7A"/>
            </a:solidFill>
            <a:prstDash val="solid"/>
          </a:ln>
        </p:spPr>
      </p:sp>
      <p:sp>
        <p:nvSpPr>
          <p:cNvPr id="14" name="Text 11"/>
          <p:cNvSpPr txBox="1"/>
          <p:nvPr/>
        </p:nvSpPr>
        <p:spPr>
          <a:xfrm>
            <a:off x="3566160" y="39776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2</a:t>
            </a:r>
            <a:endParaRPr lang="en-US" sz="1500" dirty="0"/>
          </a:p>
        </p:txBody>
      </p:sp>
      <p:sp>
        <p:nvSpPr>
          <p:cNvPr id="15" name="Text 12"/>
          <p:cNvSpPr txBox="1"/>
          <p:nvPr/>
        </p:nvSpPr>
        <p:spPr>
          <a:xfrm>
            <a:off x="4114800" y="3959352"/>
            <a:ext cx="1737360" cy="457200"/>
          </a:xfrm>
          <a:prstGeom prst="rect">
            <a:avLst/>
          </a:prstGeom>
          <a:noFill/>
          <a:ln/>
        </p:spPr>
        <p:txBody>
          <a:bodyPr wrap="square" lIns="0" tIns="0" rIns="0" bIns="0" rtlCol="0" anchor="ctr"/>
          <a:lstStyle/>
          <a:p>
            <a:pPr indent="0" marL="0">
              <a:buNone/>
            </a:pPr>
            <a:r>
              <a:rPr lang="en-US" sz="1700" b="1" dirty="0">
                <a:solidFill>
                  <a:srgbClr val="5FBF7A"/>
                </a:solidFill>
                <a:latin typeface="Calibri" pitchFamily="34" charset="0"/>
                <a:ea typeface="Calibri" pitchFamily="34" charset="-122"/>
                <a:cs typeface="Calibri" pitchFamily="34" charset="-120"/>
              </a:rPr>
              <a:t>Write procedures</a:t>
            </a:r>
            <a:endParaRPr lang="en-US" sz="1700" dirty="0"/>
          </a:p>
        </p:txBody>
      </p:sp>
      <p:sp>
        <p:nvSpPr>
          <p:cNvPr id="16" name="Text 13"/>
          <p:cNvSpPr txBox="1"/>
          <p:nvPr/>
        </p:nvSpPr>
        <p:spPr>
          <a:xfrm>
            <a:off x="3611880" y="4480560"/>
            <a:ext cx="2194560" cy="132588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a repeated workflow becomes a skill</a:t>
            </a:r>
            <a:endParaRPr lang="en-US" sz="1400" dirty="0"/>
          </a:p>
        </p:txBody>
      </p:sp>
      <p:sp>
        <p:nvSpPr>
          <p:cNvPr id="17" name="Shape 14"/>
          <p:cNvSpPr/>
          <p:nvPr/>
        </p:nvSpPr>
        <p:spPr>
          <a:xfrm>
            <a:off x="6217920" y="3017520"/>
            <a:ext cx="2651760" cy="2926080"/>
          </a:xfrm>
          <a:prstGeom prst="roundRect">
            <a:avLst>
              <a:gd name="adj" fmla="val 4138"/>
            </a:avLst>
          </a:prstGeom>
          <a:solidFill>
            <a:srgbClr val="13263B"/>
          </a:solidFill>
          <a:ln w="12700">
            <a:solidFill>
              <a:srgbClr val="13263B"/>
            </a:solidFill>
            <a:prstDash val="solid"/>
          </a:ln>
        </p:spPr>
      </p:sp>
      <p:sp>
        <p:nvSpPr>
          <p:cNvPr id="18" name="Shape 15"/>
          <p:cNvSpPr/>
          <p:nvPr/>
        </p:nvSpPr>
        <p:spPr>
          <a:xfrm>
            <a:off x="6400800" y="3200400"/>
            <a:ext cx="411480" cy="411480"/>
          </a:xfrm>
          <a:prstGeom prst="ellipse">
            <a:avLst/>
          </a:prstGeom>
          <a:solidFill>
            <a:srgbClr val="D4AF37"/>
          </a:solidFill>
          <a:ln w="12700">
            <a:solidFill>
              <a:srgbClr val="D4AF37"/>
            </a:solidFill>
            <a:prstDash val="solid"/>
          </a:ln>
        </p:spPr>
      </p:sp>
      <p:sp>
        <p:nvSpPr>
          <p:cNvPr id="19" name="Text 16"/>
          <p:cNvSpPr txBox="1"/>
          <p:nvPr/>
        </p:nvSpPr>
        <p:spPr>
          <a:xfrm>
            <a:off x="6400800" y="32004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3</a:t>
            </a:r>
            <a:endParaRPr lang="en-US" sz="1500" dirty="0"/>
          </a:p>
        </p:txBody>
      </p:sp>
      <p:sp>
        <p:nvSpPr>
          <p:cNvPr id="20" name="Text 17"/>
          <p:cNvSpPr txBox="1"/>
          <p:nvPr/>
        </p:nvSpPr>
        <p:spPr>
          <a:xfrm>
            <a:off x="6949440" y="3182112"/>
            <a:ext cx="173736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Check and retry</a:t>
            </a:r>
            <a:endParaRPr lang="en-US" sz="1700" dirty="0"/>
          </a:p>
        </p:txBody>
      </p:sp>
      <p:sp>
        <p:nvSpPr>
          <p:cNvPr id="21" name="Text 18"/>
          <p:cNvSpPr txBox="1"/>
          <p:nvPr/>
        </p:nvSpPr>
        <p:spPr>
          <a:xfrm>
            <a:off x="6446520" y="3703320"/>
            <a:ext cx="2194560" cy="21031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a failed check goes back to the agent</a:t>
            </a:r>
            <a:endParaRPr lang="en-US" sz="1400" dirty="0"/>
          </a:p>
        </p:txBody>
      </p:sp>
      <p:sp>
        <p:nvSpPr>
          <p:cNvPr id="22" name="Shape 19"/>
          <p:cNvSpPr/>
          <p:nvPr/>
        </p:nvSpPr>
        <p:spPr>
          <a:xfrm>
            <a:off x="9052560" y="2240280"/>
            <a:ext cx="2651760" cy="3703320"/>
          </a:xfrm>
          <a:prstGeom prst="roundRect">
            <a:avLst>
              <a:gd name="adj" fmla="val 4138"/>
            </a:avLst>
          </a:prstGeom>
          <a:solidFill>
            <a:srgbClr val="13263B"/>
          </a:solidFill>
          <a:ln w="12700">
            <a:solidFill>
              <a:srgbClr val="13263B"/>
            </a:solidFill>
            <a:prstDash val="solid"/>
          </a:ln>
        </p:spPr>
      </p:sp>
      <p:sp>
        <p:nvSpPr>
          <p:cNvPr id="23" name="Shape 20"/>
          <p:cNvSpPr/>
          <p:nvPr/>
        </p:nvSpPr>
        <p:spPr>
          <a:xfrm>
            <a:off x="9235440" y="2423160"/>
            <a:ext cx="411480" cy="411480"/>
          </a:xfrm>
          <a:prstGeom prst="ellipse">
            <a:avLst/>
          </a:prstGeom>
          <a:solidFill>
            <a:srgbClr val="8E72E6"/>
          </a:solidFill>
          <a:ln w="12700">
            <a:solidFill>
              <a:srgbClr val="8E72E6"/>
            </a:solidFill>
            <a:prstDash val="solid"/>
          </a:ln>
        </p:spPr>
      </p:sp>
      <p:sp>
        <p:nvSpPr>
          <p:cNvPr id="24" name="Text 21"/>
          <p:cNvSpPr txBox="1"/>
          <p:nvPr/>
        </p:nvSpPr>
        <p:spPr>
          <a:xfrm>
            <a:off x="9235440" y="242316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4</a:t>
            </a:r>
            <a:endParaRPr lang="en-US" sz="1500" dirty="0"/>
          </a:p>
        </p:txBody>
      </p:sp>
      <p:sp>
        <p:nvSpPr>
          <p:cNvPr id="25" name="Text 22"/>
          <p:cNvSpPr txBox="1"/>
          <p:nvPr/>
        </p:nvSpPr>
        <p:spPr>
          <a:xfrm>
            <a:off x="9784080" y="2404872"/>
            <a:ext cx="173736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Train</a:t>
            </a:r>
            <a:endParaRPr lang="en-US" sz="1700" dirty="0"/>
          </a:p>
        </p:txBody>
      </p:sp>
      <p:sp>
        <p:nvSpPr>
          <p:cNvPr id="26" name="Text 23"/>
          <p:cNvSpPr txBox="1"/>
          <p:nvPr/>
        </p:nvSpPr>
        <p:spPr>
          <a:xfrm>
            <a:off x="9281160" y="2926080"/>
            <a:ext cx="2194560" cy="288036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runs become training data</a:t>
            </a:r>
            <a:endParaRPr lang="en-US" sz="1400" dirty="0"/>
          </a:p>
        </p:txBody>
      </p:sp>
      <p:sp>
        <p:nvSpPr>
          <p:cNvPr id="27" name="Text 24"/>
          <p:cNvSpPr txBox="1"/>
          <p:nvPr/>
        </p:nvSpPr>
        <p:spPr>
          <a:xfrm>
            <a:off x="6400800" y="1600200"/>
            <a:ext cx="5212080" cy="365760"/>
          </a:xfrm>
          <a:prstGeom prst="rect">
            <a:avLst/>
          </a:prstGeom>
          <a:noFill/>
          <a:ln/>
        </p:spPr>
        <p:txBody>
          <a:bodyPr wrap="square" lIns="0" tIns="0" rIns="0" bIns="0" rtlCol="0" anchor="ctr"/>
          <a:lstStyle/>
          <a:p>
            <a:pPr algn="r" indent="0" marL="0">
              <a:buNone/>
            </a:pPr>
            <a:r>
              <a:rPr lang="en-US" sz="1400" i="1" dirty="0">
                <a:solidFill>
                  <a:srgbClr val="8FA3B8"/>
                </a:solidFill>
                <a:latin typeface="Calibri" pitchFamily="34" charset="0"/>
                <a:ea typeface="Calibri" pitchFamily="34" charset="-122"/>
                <a:cs typeface="Calibri" pitchFamily="34" charset="-120"/>
              </a:rPr>
              <a:t>more power → more guardrails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13</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3 · EXAMPLE: HERMES 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A harness built around a learning loop</a:t>
            </a:r>
            <a:endParaRPr lang="en-US" sz="3400" dirty="0"/>
          </a:p>
        </p:txBody>
      </p:sp>
      <p:pic>
        <p:nvPicPr>
          <p:cNvPr id="7" name="Image 0" descr="/home/monta/convention-jura/presentations/src/logos/NousResearch.png">    </p:cNvPr>
          <p:cNvPicPr>
            <a:picLocks noChangeAspect="1"/>
          </p:cNvPicPr>
          <p:nvPr/>
        </p:nvPicPr>
        <p:blipFill>
          <a:blip r:embed="rId1"/>
          <a:stretch>
            <a:fillRect/>
          </a:stretch>
        </p:blipFill>
        <p:spPr>
          <a:xfrm>
            <a:off x="548640" y="1645920"/>
            <a:ext cx="1280160" cy="1280160"/>
          </a:xfrm>
          <a:prstGeom prst="rect">
            <a:avLst/>
          </a:prstGeom>
        </p:spPr>
      </p:pic>
      <p:sp>
        <p:nvSpPr>
          <p:cNvPr id="8" name="Text 4"/>
          <p:cNvSpPr txBox="1"/>
          <p:nvPr/>
        </p:nvSpPr>
        <p:spPr>
          <a:xfrm>
            <a:off x="548640" y="3017520"/>
            <a:ext cx="2194560" cy="365760"/>
          </a:xfrm>
          <a:prstGeom prst="rect">
            <a:avLst/>
          </a:prstGeom>
          <a:noFill/>
          <a:ln/>
        </p:spPr>
        <p:txBody>
          <a:bodyPr wrap="square" lIns="0" tIns="0" rIns="0" bIns="0" rtlCol="0" anchor="ctr"/>
          <a:lstStyle/>
          <a:p>
            <a:pPr indent="0" marL="0">
              <a:buNone/>
            </a:pPr>
            <a:r>
              <a:rPr lang="en-US" sz="1300" dirty="0">
                <a:solidFill>
                  <a:srgbClr val="8FA3B8"/>
                </a:solidFill>
                <a:latin typeface="Calibri" pitchFamily="34" charset="0"/>
                <a:ea typeface="Calibri" pitchFamily="34" charset="-122"/>
                <a:cs typeface="Calibri" pitchFamily="34" charset="-120"/>
              </a:rPr>
              <a:t>Nous Research</a:t>
            </a:r>
            <a:endParaRPr lang="en-US" sz="1300" dirty="0"/>
          </a:p>
        </p:txBody>
      </p:sp>
      <p:sp>
        <p:nvSpPr>
          <p:cNvPr id="9" name="Shape 5"/>
          <p:cNvSpPr/>
          <p:nvPr/>
        </p:nvSpPr>
        <p:spPr>
          <a:xfrm>
            <a:off x="3017520" y="1645920"/>
            <a:ext cx="4160520" cy="2011680"/>
          </a:xfrm>
          <a:prstGeom prst="roundRect">
            <a:avLst>
              <a:gd name="adj" fmla="val 5455"/>
            </a:avLst>
          </a:prstGeom>
          <a:solidFill>
            <a:srgbClr val="13263B"/>
          </a:solidFill>
          <a:ln w="12700">
            <a:solidFill>
              <a:srgbClr val="13263B"/>
            </a:solidFill>
            <a:prstDash val="solid"/>
          </a:ln>
        </p:spPr>
      </p:sp>
      <p:sp>
        <p:nvSpPr>
          <p:cNvPr id="10" name="Text 6"/>
          <p:cNvSpPr txBox="1"/>
          <p:nvPr/>
        </p:nvSpPr>
        <p:spPr>
          <a:xfrm>
            <a:off x="3246120" y="1810512"/>
            <a:ext cx="374904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Sessions you can search</a:t>
            </a:r>
            <a:endParaRPr lang="en-US" sz="1700" dirty="0"/>
          </a:p>
        </p:txBody>
      </p:sp>
      <p:sp>
        <p:nvSpPr>
          <p:cNvPr id="11" name="Text 7"/>
          <p:cNvSpPr txBox="1"/>
          <p:nvPr/>
        </p:nvSpPr>
        <p:spPr>
          <a:xfrm>
            <a:off x="3246120" y="233172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every session stored with full-text search: recall returns what was said, not a summary</a:t>
            </a:r>
            <a:endParaRPr lang="en-US" sz="1400" dirty="0"/>
          </a:p>
        </p:txBody>
      </p:sp>
      <p:sp>
        <p:nvSpPr>
          <p:cNvPr id="12" name="Shape 8"/>
          <p:cNvSpPr/>
          <p:nvPr/>
        </p:nvSpPr>
        <p:spPr>
          <a:xfrm>
            <a:off x="7360920" y="1645920"/>
            <a:ext cx="4160520" cy="2011680"/>
          </a:xfrm>
          <a:prstGeom prst="roundRect">
            <a:avLst>
              <a:gd name="adj" fmla="val 5455"/>
            </a:avLst>
          </a:prstGeom>
          <a:solidFill>
            <a:srgbClr val="13263B"/>
          </a:solidFill>
          <a:ln w="12700">
            <a:solidFill>
              <a:srgbClr val="13263B"/>
            </a:solidFill>
            <a:prstDash val="solid"/>
          </a:ln>
        </p:spPr>
      </p:sp>
      <p:sp>
        <p:nvSpPr>
          <p:cNvPr id="13" name="Text 9"/>
          <p:cNvSpPr txBox="1"/>
          <p:nvPr/>
        </p:nvSpPr>
        <p:spPr>
          <a:xfrm>
            <a:off x="7589520" y="1810512"/>
            <a:ext cx="3749040" cy="457200"/>
          </a:xfrm>
          <a:prstGeom prst="rect">
            <a:avLst/>
          </a:prstGeom>
          <a:noFill/>
          <a:ln/>
        </p:spPr>
        <p:txBody>
          <a:bodyPr wrap="square" lIns="0" tIns="0" rIns="0" bIns="0" rtlCol="0" anchor="ctr"/>
          <a:lstStyle/>
          <a:p>
            <a:pPr indent="0" marL="0">
              <a:buNone/>
            </a:pPr>
            <a:r>
              <a:rPr lang="en-US" sz="1700" b="1" dirty="0">
                <a:solidFill>
                  <a:srgbClr val="5FBF7A"/>
                </a:solidFill>
                <a:latin typeface="Calibri" pitchFamily="34" charset="0"/>
                <a:ea typeface="Calibri" pitchFamily="34" charset="-122"/>
                <a:cs typeface="Calibri" pitchFamily="34" charset="-120"/>
              </a:rPr>
              <a:t>Skills it writes itself</a:t>
            </a:r>
            <a:endParaRPr lang="en-US" sz="1700" dirty="0"/>
          </a:p>
        </p:txBody>
      </p:sp>
      <p:sp>
        <p:nvSpPr>
          <p:cNvPr id="14" name="Text 10"/>
          <p:cNvSpPr txBox="1"/>
          <p:nvPr/>
        </p:nvSpPr>
        <p:spPr>
          <a:xfrm>
            <a:off x="7589520" y="233172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repeated workflows become skills; writes can wait for human approval</a:t>
            </a:r>
            <a:endParaRPr lang="en-US" sz="1400" dirty="0"/>
          </a:p>
        </p:txBody>
      </p:sp>
      <p:sp>
        <p:nvSpPr>
          <p:cNvPr id="15" name="Shape 11"/>
          <p:cNvSpPr/>
          <p:nvPr/>
        </p:nvSpPr>
        <p:spPr>
          <a:xfrm>
            <a:off x="3017520" y="3886200"/>
            <a:ext cx="4160520" cy="2011680"/>
          </a:xfrm>
          <a:prstGeom prst="roundRect">
            <a:avLst>
              <a:gd name="adj" fmla="val 5455"/>
            </a:avLst>
          </a:prstGeom>
          <a:solidFill>
            <a:srgbClr val="13263B"/>
          </a:solidFill>
          <a:ln w="12700">
            <a:solidFill>
              <a:srgbClr val="13263B"/>
            </a:solidFill>
            <a:prstDash val="solid"/>
          </a:ln>
        </p:spPr>
      </p:sp>
      <p:sp>
        <p:nvSpPr>
          <p:cNvPr id="16" name="Text 12"/>
          <p:cNvSpPr txBox="1"/>
          <p:nvPr/>
        </p:nvSpPr>
        <p:spPr>
          <a:xfrm>
            <a:off x="3246120" y="4050792"/>
            <a:ext cx="374904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Skills loaded in levels</a:t>
            </a:r>
            <a:endParaRPr lang="en-US" sz="1700" dirty="0"/>
          </a:p>
        </p:txBody>
      </p:sp>
      <p:sp>
        <p:nvSpPr>
          <p:cNvPr id="17" name="Text 13"/>
          <p:cNvSpPr txBox="1"/>
          <p:nvPr/>
        </p:nvSpPr>
        <p:spPr>
          <a:xfrm>
            <a:off x="3246120" y="457200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a name and a line always; the body only when used</a:t>
            </a:r>
            <a:endParaRPr lang="en-US" sz="1400" dirty="0"/>
          </a:p>
        </p:txBody>
      </p:sp>
      <p:sp>
        <p:nvSpPr>
          <p:cNvPr id="18" name="Shape 14"/>
          <p:cNvSpPr/>
          <p:nvPr/>
        </p:nvSpPr>
        <p:spPr>
          <a:xfrm>
            <a:off x="7360920" y="3886200"/>
            <a:ext cx="4160520" cy="2011680"/>
          </a:xfrm>
          <a:prstGeom prst="roundRect">
            <a:avLst>
              <a:gd name="adj" fmla="val 5455"/>
            </a:avLst>
          </a:prstGeom>
          <a:solidFill>
            <a:srgbClr val="13263B"/>
          </a:solidFill>
          <a:ln w="12700">
            <a:solidFill>
              <a:srgbClr val="13263B"/>
            </a:solidFill>
            <a:prstDash val="solid"/>
          </a:ln>
        </p:spPr>
      </p:sp>
      <p:sp>
        <p:nvSpPr>
          <p:cNvPr id="19" name="Text 15"/>
          <p:cNvSpPr txBox="1"/>
          <p:nvPr/>
        </p:nvSpPr>
        <p:spPr>
          <a:xfrm>
            <a:off x="7589520" y="4050792"/>
            <a:ext cx="374904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Trajectories for training</a:t>
            </a:r>
            <a:endParaRPr lang="en-US" sz="1700" dirty="0"/>
          </a:p>
        </p:txBody>
      </p:sp>
      <p:sp>
        <p:nvSpPr>
          <p:cNvPr id="20" name="Text 16"/>
          <p:cNvSpPr txBox="1"/>
          <p:nvPr/>
        </p:nvSpPr>
        <p:spPr>
          <a:xfrm>
            <a:off x="7589520" y="457200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runs exported for reinforcement learning</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14</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3 · EXAMPLE: PRIME 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The check decides when the work is done</a:t>
            </a:r>
            <a:endParaRPr lang="en-US" sz="3400" dirty="0"/>
          </a:p>
        </p:txBody>
      </p:sp>
      <p:pic>
        <p:nvPicPr>
          <p:cNvPr id="7" name="Image 0" descr="/home/monta/convention-jura/presentations/src/logos/PrimeIntellect-ai.png">    </p:cNvPr>
          <p:cNvPicPr>
            <a:picLocks noChangeAspect="1"/>
          </p:cNvPicPr>
          <p:nvPr/>
        </p:nvPicPr>
        <p:blipFill>
          <a:blip r:embed="rId1"/>
          <a:stretch>
            <a:fillRect/>
          </a:stretch>
        </p:blipFill>
        <p:spPr>
          <a:xfrm>
            <a:off x="548640" y="1645920"/>
            <a:ext cx="1280160" cy="1280160"/>
          </a:xfrm>
          <a:prstGeom prst="rect">
            <a:avLst/>
          </a:prstGeom>
        </p:spPr>
      </p:pic>
      <p:sp>
        <p:nvSpPr>
          <p:cNvPr id="8" name="Text 4"/>
          <p:cNvSpPr txBox="1"/>
          <p:nvPr/>
        </p:nvSpPr>
        <p:spPr>
          <a:xfrm>
            <a:off x="548640" y="3017520"/>
            <a:ext cx="2194560" cy="365760"/>
          </a:xfrm>
          <a:prstGeom prst="rect">
            <a:avLst/>
          </a:prstGeom>
          <a:noFill/>
          <a:ln/>
        </p:spPr>
        <p:txBody>
          <a:bodyPr wrap="square" lIns="0" tIns="0" rIns="0" bIns="0" rtlCol="0" anchor="ctr"/>
          <a:lstStyle/>
          <a:p>
            <a:pPr indent="0" marL="0">
              <a:buNone/>
            </a:pPr>
            <a:r>
              <a:rPr lang="en-US" sz="1300" dirty="0">
                <a:solidFill>
                  <a:srgbClr val="8FA3B8"/>
                </a:solidFill>
                <a:latin typeface="Calibri" pitchFamily="34" charset="0"/>
                <a:ea typeface="Calibri" pitchFamily="34" charset="-122"/>
                <a:cs typeface="Calibri" pitchFamily="34" charset="-120"/>
              </a:rPr>
              <a:t>Prime Intellect</a:t>
            </a:r>
            <a:endParaRPr lang="en-US" sz="1300" dirty="0"/>
          </a:p>
        </p:txBody>
      </p:sp>
      <p:sp>
        <p:nvSpPr>
          <p:cNvPr id="9" name="Shape 5"/>
          <p:cNvSpPr/>
          <p:nvPr/>
        </p:nvSpPr>
        <p:spPr>
          <a:xfrm>
            <a:off x="3017520" y="1645920"/>
            <a:ext cx="4160520" cy="2011680"/>
          </a:xfrm>
          <a:prstGeom prst="roundRect">
            <a:avLst>
              <a:gd name="adj" fmla="val 5455"/>
            </a:avLst>
          </a:prstGeom>
          <a:solidFill>
            <a:srgbClr val="13263B"/>
          </a:solidFill>
          <a:ln w="12700">
            <a:solidFill>
              <a:srgbClr val="13263B"/>
            </a:solidFill>
            <a:prstDash val="solid"/>
          </a:ln>
        </p:spPr>
      </p:sp>
      <p:sp>
        <p:nvSpPr>
          <p:cNvPr id="10" name="Text 6"/>
          <p:cNvSpPr txBox="1"/>
          <p:nvPr/>
        </p:nvSpPr>
        <p:spPr>
          <a:xfrm>
            <a:off x="3246120" y="1810512"/>
            <a:ext cx="3749040" cy="457200"/>
          </a:xfrm>
          <a:prstGeom prst="rect">
            <a:avLst/>
          </a:prstGeom>
          <a:noFill/>
          <a:ln/>
        </p:spPr>
        <p:txBody>
          <a:bodyPr wrap="square" lIns="0" tIns="0" rIns="0" bIns="0" rtlCol="0" anchor="ctr"/>
          <a:lstStyle/>
          <a:p>
            <a:pPr indent="0" marL="0">
              <a:buNone/>
            </a:pPr>
            <a:r>
              <a:rPr lang="en-US" sz="1700" b="1" dirty="0">
                <a:solidFill>
                  <a:srgbClr val="E0645A"/>
                </a:solidFill>
                <a:latin typeface="Calibri" pitchFamily="34" charset="0"/>
                <a:ea typeface="Calibri" pitchFamily="34" charset="-122"/>
                <a:cs typeface="Calibri" pitchFamily="34" charset="-120"/>
              </a:rPr>
              <a:t>Autonomous gate</a:t>
            </a:r>
            <a:endParaRPr lang="en-US" sz="1700" dirty="0"/>
          </a:p>
        </p:txBody>
      </p:sp>
      <p:sp>
        <p:nvSpPr>
          <p:cNvPr id="11" name="Text 7"/>
          <p:cNvSpPr txBox="1"/>
          <p:nvPr/>
        </p:nvSpPr>
        <p:spPr>
          <a:xfrm>
            <a:off x="3246120" y="233172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a failed check goes back to the agent for another attempt</a:t>
            </a:r>
            <a:endParaRPr lang="en-US" sz="1400" dirty="0"/>
          </a:p>
        </p:txBody>
      </p:sp>
      <p:sp>
        <p:nvSpPr>
          <p:cNvPr id="12" name="Shape 8"/>
          <p:cNvSpPr/>
          <p:nvPr/>
        </p:nvSpPr>
        <p:spPr>
          <a:xfrm>
            <a:off x="7360920" y="1645920"/>
            <a:ext cx="4160520" cy="2011680"/>
          </a:xfrm>
          <a:prstGeom prst="roundRect">
            <a:avLst>
              <a:gd name="adj" fmla="val 5455"/>
            </a:avLst>
          </a:prstGeom>
          <a:solidFill>
            <a:srgbClr val="13263B"/>
          </a:solidFill>
          <a:ln w="12700">
            <a:solidFill>
              <a:srgbClr val="13263B"/>
            </a:solidFill>
            <a:prstDash val="solid"/>
          </a:ln>
        </p:spPr>
      </p:sp>
      <p:sp>
        <p:nvSpPr>
          <p:cNvPr id="13" name="Text 9"/>
          <p:cNvSpPr txBox="1"/>
          <p:nvPr/>
        </p:nvSpPr>
        <p:spPr>
          <a:xfrm>
            <a:off x="7589520" y="1810512"/>
            <a:ext cx="374904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Branching sessions</a:t>
            </a:r>
            <a:endParaRPr lang="en-US" sz="1700" dirty="0"/>
          </a:p>
        </p:txBody>
      </p:sp>
      <p:sp>
        <p:nvSpPr>
          <p:cNvPr id="14" name="Text 10"/>
          <p:cNvSpPr txBox="1"/>
          <p:nvPr/>
        </p:nvSpPr>
        <p:spPr>
          <a:xfrm>
            <a:off x="7589520" y="233172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fork a run; try two plans from one point</a:t>
            </a:r>
            <a:endParaRPr lang="en-US" sz="1400" dirty="0"/>
          </a:p>
        </p:txBody>
      </p:sp>
      <p:sp>
        <p:nvSpPr>
          <p:cNvPr id="15" name="Shape 11"/>
          <p:cNvSpPr/>
          <p:nvPr/>
        </p:nvSpPr>
        <p:spPr>
          <a:xfrm>
            <a:off x="3017520" y="3886200"/>
            <a:ext cx="4160520" cy="2011680"/>
          </a:xfrm>
          <a:prstGeom prst="roundRect">
            <a:avLst>
              <a:gd name="adj" fmla="val 5455"/>
            </a:avLst>
          </a:prstGeom>
          <a:solidFill>
            <a:srgbClr val="13263B"/>
          </a:solidFill>
          <a:ln w="12700">
            <a:solidFill>
              <a:srgbClr val="13263B"/>
            </a:solidFill>
            <a:prstDash val="solid"/>
          </a:ln>
        </p:spPr>
      </p:sp>
      <p:sp>
        <p:nvSpPr>
          <p:cNvPr id="16" name="Text 12"/>
          <p:cNvSpPr txBox="1"/>
          <p:nvPr/>
        </p:nvSpPr>
        <p:spPr>
          <a:xfrm>
            <a:off x="3246120" y="4050792"/>
            <a:ext cx="374904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Heartbeats</a:t>
            </a:r>
            <a:endParaRPr lang="en-US" sz="1700" dirty="0"/>
          </a:p>
        </p:txBody>
      </p:sp>
      <p:sp>
        <p:nvSpPr>
          <p:cNvPr id="17" name="Text 13"/>
          <p:cNvSpPr txBox="1"/>
          <p:nvPr/>
        </p:nvSpPr>
        <p:spPr>
          <a:xfrm>
            <a:off x="3246120" y="457200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scheduled messages into the session — watch a sub-agent</a:t>
            </a:r>
            <a:endParaRPr lang="en-US" sz="1400" dirty="0"/>
          </a:p>
        </p:txBody>
      </p:sp>
      <p:sp>
        <p:nvSpPr>
          <p:cNvPr id="18" name="Shape 14"/>
          <p:cNvSpPr/>
          <p:nvPr/>
        </p:nvSpPr>
        <p:spPr>
          <a:xfrm>
            <a:off x="7360920" y="3886200"/>
            <a:ext cx="4160520" cy="2011680"/>
          </a:xfrm>
          <a:prstGeom prst="roundRect">
            <a:avLst>
              <a:gd name="adj" fmla="val 5455"/>
            </a:avLst>
          </a:prstGeom>
          <a:solidFill>
            <a:srgbClr val="13263B"/>
          </a:solidFill>
          <a:ln w="12700">
            <a:solidFill>
              <a:srgbClr val="13263B"/>
            </a:solidFill>
            <a:prstDash val="solid"/>
          </a:ln>
        </p:spPr>
      </p:sp>
      <p:sp>
        <p:nvSpPr>
          <p:cNvPr id="19" name="Text 15"/>
          <p:cNvSpPr txBox="1"/>
          <p:nvPr/>
        </p:nvSpPr>
        <p:spPr>
          <a:xfrm>
            <a:off x="7589520" y="4050792"/>
            <a:ext cx="374904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Persistent sub-agents</a:t>
            </a:r>
            <a:endParaRPr lang="en-US" sz="1700" dirty="0"/>
          </a:p>
        </p:txBody>
      </p:sp>
      <p:sp>
        <p:nvSpPr>
          <p:cNvPr id="20" name="Text 16"/>
          <p:cNvSpPr txBox="1"/>
          <p:nvPr/>
        </p:nvSpPr>
        <p:spPr>
          <a:xfrm>
            <a:off x="7589520" y="457200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keep their memory; wake when addressed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15</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4 · AGENT-ONE</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Policies enforced in code, on any model</a:t>
            </a:r>
            <a:endParaRPr lang="en-US" sz="3400" dirty="0"/>
          </a:p>
        </p:txBody>
      </p:sp>
      <p:pic>
        <p:nvPicPr>
          <p:cNvPr id="7" name="Image 0" descr="/home/monta/convention-jura/presentations/src/screens/agent-one-welcome.png">    </p:cNvPr>
          <p:cNvPicPr>
            <a:picLocks noChangeAspect="1"/>
          </p:cNvPicPr>
          <p:nvPr/>
        </p:nvPicPr>
        <p:blipFill>
          <a:blip r:embed="rId1"/>
          <a:stretch>
            <a:fillRect/>
          </a:stretch>
        </p:blipFill>
        <p:spPr>
          <a:xfrm>
            <a:off x="1395399" y="1554480"/>
            <a:ext cx="4890161" cy="2926080"/>
          </a:xfrm>
          <a:prstGeom prst="rect">
            <a:avLst/>
          </a:prstGeom>
        </p:spPr>
      </p:pic>
      <p:sp>
        <p:nvSpPr>
          <p:cNvPr id="8" name="Shape 4"/>
          <p:cNvSpPr/>
          <p:nvPr/>
        </p:nvSpPr>
        <p:spPr>
          <a:xfrm>
            <a:off x="7498080" y="1554480"/>
            <a:ext cx="4114800" cy="1325880"/>
          </a:xfrm>
          <a:prstGeom prst="roundRect">
            <a:avLst>
              <a:gd name="adj" fmla="val 8276"/>
            </a:avLst>
          </a:prstGeom>
          <a:solidFill>
            <a:srgbClr val="13263B"/>
          </a:solidFill>
          <a:ln w="12700">
            <a:solidFill>
              <a:srgbClr val="13263B"/>
            </a:solidFill>
            <a:prstDash val="solid"/>
          </a:ln>
        </p:spPr>
      </p:sp>
      <p:sp>
        <p:nvSpPr>
          <p:cNvPr id="9" name="Text 5"/>
          <p:cNvSpPr txBox="1"/>
          <p:nvPr/>
        </p:nvSpPr>
        <p:spPr>
          <a:xfrm>
            <a:off x="7726680" y="1719072"/>
            <a:ext cx="370332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One Go binary</a:t>
            </a:r>
            <a:endParaRPr lang="en-US" sz="1700" dirty="0"/>
          </a:p>
        </p:txBody>
      </p:sp>
      <p:sp>
        <p:nvSpPr>
          <p:cNvPr id="10" name="Text 6"/>
          <p:cNvSpPr txBox="1"/>
          <p:nvPr/>
        </p:nvSpPr>
        <p:spPr>
          <a:xfrm>
            <a:off x="7726680" y="2240280"/>
            <a:ext cx="3657600" cy="5029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no runtime; Linux and macOS</a:t>
            </a:r>
            <a:endParaRPr lang="en-US" sz="1300" dirty="0"/>
          </a:p>
        </p:txBody>
      </p:sp>
      <p:sp>
        <p:nvSpPr>
          <p:cNvPr id="11" name="Shape 7"/>
          <p:cNvSpPr/>
          <p:nvPr/>
        </p:nvSpPr>
        <p:spPr>
          <a:xfrm>
            <a:off x="7498080" y="3035808"/>
            <a:ext cx="4114800" cy="1325880"/>
          </a:xfrm>
          <a:prstGeom prst="roundRect">
            <a:avLst>
              <a:gd name="adj" fmla="val 8276"/>
            </a:avLst>
          </a:prstGeom>
          <a:solidFill>
            <a:srgbClr val="13263B"/>
          </a:solidFill>
          <a:ln w="12700">
            <a:solidFill>
              <a:srgbClr val="13263B"/>
            </a:solidFill>
            <a:prstDash val="solid"/>
          </a:ln>
        </p:spPr>
      </p:sp>
      <p:sp>
        <p:nvSpPr>
          <p:cNvPr id="12" name="Text 8"/>
          <p:cNvSpPr txBox="1"/>
          <p:nvPr/>
        </p:nvSpPr>
        <p:spPr>
          <a:xfrm>
            <a:off x="7726680" y="3200400"/>
            <a:ext cx="370332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Roles and sub-agents</a:t>
            </a:r>
            <a:endParaRPr lang="en-US" sz="1700" dirty="0"/>
          </a:p>
        </p:txBody>
      </p:sp>
      <p:sp>
        <p:nvSpPr>
          <p:cNvPr id="13" name="Text 9"/>
          <p:cNvSpPr txBox="1"/>
          <p:nvPr/>
        </p:nvSpPr>
        <p:spPr>
          <a:xfrm>
            <a:off x="7726680" y="3721608"/>
            <a:ext cx="3657600" cy="5029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analyst reads · judge reviews · drafter writes</a:t>
            </a:r>
            <a:endParaRPr lang="en-US" sz="1300" dirty="0"/>
          </a:p>
        </p:txBody>
      </p:sp>
      <p:sp>
        <p:nvSpPr>
          <p:cNvPr id="14" name="Shape 10"/>
          <p:cNvSpPr/>
          <p:nvPr/>
        </p:nvSpPr>
        <p:spPr>
          <a:xfrm>
            <a:off x="7498080" y="4517136"/>
            <a:ext cx="4114800" cy="1325880"/>
          </a:xfrm>
          <a:prstGeom prst="roundRect">
            <a:avLst>
              <a:gd name="adj" fmla="val 8276"/>
            </a:avLst>
          </a:prstGeom>
          <a:solidFill>
            <a:srgbClr val="13263B"/>
          </a:solidFill>
          <a:ln w="12700">
            <a:solidFill>
              <a:srgbClr val="13263B"/>
            </a:solidFill>
            <a:prstDash val="solid"/>
          </a:ln>
        </p:spPr>
      </p:sp>
      <p:sp>
        <p:nvSpPr>
          <p:cNvPr id="15" name="Text 11"/>
          <p:cNvSpPr txBox="1"/>
          <p:nvPr/>
        </p:nvSpPr>
        <p:spPr>
          <a:xfrm>
            <a:off x="7726680" y="4681728"/>
            <a:ext cx="3703320" cy="457200"/>
          </a:xfrm>
          <a:prstGeom prst="rect">
            <a:avLst/>
          </a:prstGeom>
          <a:noFill/>
          <a:ln/>
        </p:spPr>
        <p:txBody>
          <a:bodyPr wrap="square" lIns="0" tIns="0" rIns="0" bIns="0" rtlCol="0" anchor="ctr"/>
          <a:lstStyle/>
          <a:p>
            <a:pPr indent="0" marL="0">
              <a:buNone/>
            </a:pPr>
            <a:r>
              <a:rPr lang="en-US" sz="1700" b="1" dirty="0">
                <a:solidFill>
                  <a:srgbClr val="5FBF7A"/>
                </a:solidFill>
                <a:latin typeface="Calibri" pitchFamily="34" charset="0"/>
                <a:ea typeface="Calibri" pitchFamily="34" charset="-122"/>
                <a:cs typeface="Calibri" pitchFamily="34" charset="-120"/>
              </a:rPr>
              <a:t>Any OpenAI-compatible model</a:t>
            </a:r>
            <a:endParaRPr lang="en-US" sz="1700" dirty="0"/>
          </a:p>
        </p:txBody>
      </p:sp>
      <p:sp>
        <p:nvSpPr>
          <p:cNvPr id="16" name="Text 12"/>
          <p:cNvSpPr txBox="1"/>
          <p:nvPr/>
        </p:nvSpPr>
        <p:spPr>
          <a:xfrm>
            <a:off x="7726680" y="5202936"/>
            <a:ext cx="3657600" cy="5029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our vLLM models behind the gateway</a:t>
            </a:r>
            <a:endParaRPr lang="en-US" sz="1300" dirty="0"/>
          </a:p>
        </p:txBody>
      </p:sp>
      <p:sp>
        <p:nvSpPr>
          <p:cNvPr id="17" name="Text 13"/>
          <p:cNvSpPr txBox="1"/>
          <p:nvPr/>
        </p:nvSpPr>
        <p:spPr>
          <a:xfrm>
            <a:off x="548640" y="4754880"/>
            <a:ext cx="6766560" cy="12801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8FA3B8"/>
                </a:solidFill>
                <a:latin typeface="Calibri" pitchFamily="34" charset="0"/>
                <a:ea typeface="Calibri" pitchFamily="34" charset="-122"/>
                <a:cs typeface="Calibri" pitchFamily="34" charset="-120"/>
              </a:rPr>
              <a:t>Everything on by default; turning something off is always shown</a:t>
            </a:r>
            <a:endParaRPr lang="en-US" sz="1400" dirty="0"/>
          </a:p>
          <a:p>
            <a:pPr marL="203200" indent="-203200">
              <a:spcAft>
                <a:spcPts val="800"/>
              </a:spcAft>
              <a:buSzPct val="100000"/>
              <a:buChar char="•"/>
            </a:pPr>
            <a:r>
              <a:rPr lang="en-US" sz="1400" dirty="0">
                <a:solidFill>
                  <a:srgbClr val="8FA3B8"/>
                </a:solidFill>
                <a:latin typeface="Calibri" pitchFamily="34" charset="0"/>
                <a:ea typeface="Calibri" pitchFamily="34" charset="-122"/>
                <a:cs typeface="Calibri" pitchFamily="34" charset="-120"/>
              </a:rPr>
              <a:t>Claude Code and OpenCode skills, commands, agents and MCP servers are picked up</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16</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4 · AGENT-ONE</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Every layer, with Agent-One's answer</a:t>
            </a:r>
            <a:endParaRPr lang="en-US" sz="3400" dirty="0"/>
          </a:p>
        </p:txBody>
      </p:sp>
      <p:sp>
        <p:nvSpPr>
          <p:cNvPr id="7" name="Shape 4"/>
          <p:cNvSpPr/>
          <p:nvPr/>
        </p:nvSpPr>
        <p:spPr>
          <a:xfrm>
            <a:off x="548640" y="1508760"/>
            <a:ext cx="11064240" cy="576072"/>
          </a:xfrm>
          <a:prstGeom prst="roundRect">
            <a:avLst>
              <a:gd name="adj" fmla="val 15873"/>
            </a:avLst>
          </a:prstGeom>
          <a:solidFill>
            <a:srgbClr val="13263B"/>
          </a:solidFill>
          <a:ln w="19050">
            <a:solidFill>
              <a:srgbClr val="2BA3C7"/>
            </a:solidFill>
            <a:prstDash val="solid"/>
          </a:ln>
        </p:spPr>
      </p:sp>
      <p:sp>
        <p:nvSpPr>
          <p:cNvPr id="8" name="Text 5"/>
          <p:cNvSpPr txBox="1"/>
          <p:nvPr/>
        </p:nvSpPr>
        <p:spPr>
          <a:xfrm>
            <a:off x="731520" y="1508760"/>
            <a:ext cx="2560320" cy="576072"/>
          </a:xfrm>
          <a:prstGeom prst="rect">
            <a:avLst/>
          </a:prstGeom>
          <a:noFill/>
          <a:ln/>
        </p:spPr>
        <p:txBody>
          <a:bodyPr wrap="square" lIns="0" tIns="0" rIns="0" bIns="0" rtlCol="0" anchor="ctr"/>
          <a:lstStyle/>
          <a:p>
            <a:pPr indent="0" marL="0">
              <a:buNone/>
            </a:pPr>
            <a:r>
              <a:rPr lang="en-US" sz="1500" b="1" dirty="0">
                <a:solidFill>
                  <a:srgbClr val="2BA3C7"/>
                </a:solidFill>
                <a:latin typeface="Calibri" pitchFamily="34" charset="0"/>
                <a:ea typeface="Calibri" pitchFamily="34" charset="-122"/>
                <a:cs typeface="Calibri" pitchFamily="34" charset="-120"/>
              </a:rPr>
              <a:t>Interfaces</a:t>
            </a:r>
            <a:endParaRPr lang="en-US" sz="1500" dirty="0"/>
          </a:p>
        </p:txBody>
      </p:sp>
      <p:sp>
        <p:nvSpPr>
          <p:cNvPr id="9" name="Text 6"/>
          <p:cNvSpPr txBox="1"/>
          <p:nvPr/>
        </p:nvSpPr>
        <p:spPr>
          <a:xfrm>
            <a:off x="3383280" y="1508760"/>
            <a:ext cx="8138160" cy="576072"/>
          </a:xfrm>
          <a:prstGeom prst="rect">
            <a:avLst/>
          </a:prstGeom>
          <a:noFill/>
          <a:ln/>
        </p:spPr>
        <p:txBody>
          <a:bodyPr wrap="square" lIns="0" tIns="0" rIns="0" bIns="0" rtlCol="0" anchor="ctr"/>
          <a:lstStyle/>
          <a:p>
            <a:pPr indent="0" marL="0">
              <a:buNone/>
            </a:pPr>
            <a:r>
              <a:rPr lang="en-US" sz="1400" dirty="0">
                <a:solidFill>
                  <a:srgbClr val="EEF3F9"/>
                </a:solidFill>
                <a:latin typeface="Calibri" pitchFamily="34" charset="0"/>
                <a:ea typeface="Calibri" pitchFamily="34" charset="-122"/>
                <a:cs typeface="Calibri" pitchFamily="34" charset="-120"/>
              </a:rPr>
              <a:t>terminal UI · dashboard · board over SSH · run --json for CI</a:t>
            </a:r>
            <a:endParaRPr lang="en-US" sz="1400" dirty="0"/>
          </a:p>
        </p:txBody>
      </p:sp>
      <p:sp>
        <p:nvSpPr>
          <p:cNvPr id="10" name="Shape 7"/>
          <p:cNvSpPr/>
          <p:nvPr/>
        </p:nvSpPr>
        <p:spPr>
          <a:xfrm>
            <a:off x="548640" y="2176272"/>
            <a:ext cx="11064240" cy="576072"/>
          </a:xfrm>
          <a:prstGeom prst="roundRect">
            <a:avLst>
              <a:gd name="adj" fmla="val 15873"/>
            </a:avLst>
          </a:prstGeom>
          <a:solidFill>
            <a:srgbClr val="13263B"/>
          </a:solidFill>
          <a:ln w="19050">
            <a:solidFill>
              <a:srgbClr val="8FA3B8"/>
            </a:solidFill>
            <a:prstDash val="solid"/>
          </a:ln>
        </p:spPr>
      </p:sp>
      <p:sp>
        <p:nvSpPr>
          <p:cNvPr id="11" name="Text 8"/>
          <p:cNvSpPr txBox="1"/>
          <p:nvPr/>
        </p:nvSpPr>
        <p:spPr>
          <a:xfrm>
            <a:off x="731520" y="2176272"/>
            <a:ext cx="2560320" cy="576072"/>
          </a:xfrm>
          <a:prstGeom prst="rect">
            <a:avLst/>
          </a:prstGeom>
          <a:noFill/>
          <a:ln/>
        </p:spPr>
        <p:txBody>
          <a:bodyPr wrap="square" lIns="0" tIns="0" rIns="0" bIns="0" rtlCol="0" anchor="ctr"/>
          <a:lstStyle/>
          <a:p>
            <a:pPr indent="0" marL="0">
              <a:buNone/>
            </a:pPr>
            <a:r>
              <a:rPr lang="en-US" sz="1500" b="1" dirty="0">
                <a:solidFill>
                  <a:srgbClr val="8FA3B8"/>
                </a:solidFill>
                <a:latin typeface="Calibri" pitchFamily="34" charset="0"/>
                <a:ea typeface="Calibri" pitchFamily="34" charset="-122"/>
                <a:cs typeface="Calibri" pitchFamily="34" charset="-120"/>
              </a:rPr>
              <a:t>Observability</a:t>
            </a:r>
            <a:endParaRPr lang="en-US" sz="1500" dirty="0"/>
          </a:p>
        </p:txBody>
      </p:sp>
      <p:sp>
        <p:nvSpPr>
          <p:cNvPr id="12" name="Text 9"/>
          <p:cNvSpPr txBox="1"/>
          <p:nvPr/>
        </p:nvSpPr>
        <p:spPr>
          <a:xfrm>
            <a:off x="3383280" y="2176272"/>
            <a:ext cx="8138160" cy="576072"/>
          </a:xfrm>
          <a:prstGeom prst="rect">
            <a:avLst/>
          </a:prstGeom>
          <a:noFill/>
          <a:ln/>
        </p:spPr>
        <p:txBody>
          <a:bodyPr wrap="square" lIns="0" tIns="0" rIns="0" bIns="0" rtlCol="0" anchor="ctr"/>
          <a:lstStyle/>
          <a:p>
            <a:pPr indent="0" marL="0">
              <a:buNone/>
            </a:pPr>
            <a:r>
              <a:rPr lang="en-US" sz="1400" dirty="0">
                <a:solidFill>
                  <a:srgbClr val="EEF3F9"/>
                </a:solidFill>
                <a:latin typeface="Calibri" pitchFamily="34" charset="0"/>
                <a:ea typeface="Calibri" pitchFamily="34" charset="-122"/>
                <a:cs typeface="Calibri" pitchFamily="34" charset="-120"/>
              </a:rPr>
              <a:t>every step journaled · usage and cost by role and model · status, explain</a:t>
            </a:r>
            <a:endParaRPr lang="en-US" sz="1400" dirty="0"/>
          </a:p>
        </p:txBody>
      </p:sp>
      <p:sp>
        <p:nvSpPr>
          <p:cNvPr id="13" name="Shape 10"/>
          <p:cNvSpPr/>
          <p:nvPr/>
        </p:nvSpPr>
        <p:spPr>
          <a:xfrm>
            <a:off x="548640" y="2843784"/>
            <a:ext cx="11064240" cy="576072"/>
          </a:xfrm>
          <a:prstGeom prst="roundRect">
            <a:avLst>
              <a:gd name="adj" fmla="val 15873"/>
            </a:avLst>
          </a:prstGeom>
          <a:solidFill>
            <a:srgbClr val="13263B"/>
          </a:solidFill>
          <a:ln w="19050">
            <a:solidFill>
              <a:srgbClr val="E0645A"/>
            </a:solidFill>
            <a:prstDash val="solid"/>
          </a:ln>
        </p:spPr>
      </p:sp>
      <p:sp>
        <p:nvSpPr>
          <p:cNvPr id="14" name="Text 11"/>
          <p:cNvSpPr txBox="1"/>
          <p:nvPr/>
        </p:nvSpPr>
        <p:spPr>
          <a:xfrm>
            <a:off x="731520" y="2843784"/>
            <a:ext cx="2560320" cy="576072"/>
          </a:xfrm>
          <a:prstGeom prst="rect">
            <a:avLst/>
          </a:prstGeom>
          <a:noFill/>
          <a:ln/>
        </p:spPr>
        <p:txBody>
          <a:bodyPr wrap="square" lIns="0" tIns="0" rIns="0" bIns="0" rtlCol="0" anchor="ctr"/>
          <a:lstStyle/>
          <a:p>
            <a:pPr indent="0" marL="0">
              <a:buNone/>
            </a:pPr>
            <a:r>
              <a:rPr lang="en-US" sz="1500" b="1" dirty="0">
                <a:solidFill>
                  <a:srgbClr val="E0645A"/>
                </a:solidFill>
                <a:latin typeface="Calibri" pitchFamily="34" charset="0"/>
                <a:ea typeface="Calibri" pitchFamily="34" charset="-122"/>
                <a:cs typeface="Calibri" pitchFamily="34" charset="-120"/>
              </a:rPr>
              <a:t>Safety</a:t>
            </a:r>
            <a:endParaRPr lang="en-US" sz="1500" dirty="0"/>
          </a:p>
        </p:txBody>
      </p:sp>
      <p:sp>
        <p:nvSpPr>
          <p:cNvPr id="15" name="Text 12"/>
          <p:cNvSpPr txBox="1"/>
          <p:nvPr/>
        </p:nvSpPr>
        <p:spPr>
          <a:xfrm>
            <a:off x="3383280" y="2843784"/>
            <a:ext cx="8138160" cy="576072"/>
          </a:xfrm>
          <a:prstGeom prst="rect">
            <a:avLst/>
          </a:prstGeom>
          <a:noFill/>
          <a:ln/>
        </p:spPr>
        <p:txBody>
          <a:bodyPr wrap="square" lIns="0" tIns="0" rIns="0" bIns="0" rtlCol="0" anchor="ctr"/>
          <a:lstStyle/>
          <a:p>
            <a:pPr indent="0" marL="0">
              <a:buNone/>
            </a:pPr>
            <a:r>
              <a:rPr lang="en-US" sz="1400" dirty="0">
                <a:solidFill>
                  <a:srgbClr val="EEF3F9"/>
                </a:solidFill>
                <a:latin typeface="Calibri" pitchFamily="34" charset="0"/>
                <a:ea typeface="Calibri" pitchFamily="34" charset="-122"/>
                <a:cs typeface="Calibri" pitchFamily="34" charset="-120"/>
              </a:rPr>
              <a:t>guard · human approval · review gate · sandbox or container</a:t>
            </a:r>
            <a:endParaRPr lang="en-US" sz="1400" dirty="0"/>
          </a:p>
        </p:txBody>
      </p:sp>
      <p:sp>
        <p:nvSpPr>
          <p:cNvPr id="16" name="Shape 13"/>
          <p:cNvSpPr/>
          <p:nvPr/>
        </p:nvSpPr>
        <p:spPr>
          <a:xfrm>
            <a:off x="548640" y="3511296"/>
            <a:ext cx="11064240" cy="576072"/>
          </a:xfrm>
          <a:prstGeom prst="roundRect">
            <a:avLst>
              <a:gd name="adj" fmla="val 15873"/>
            </a:avLst>
          </a:prstGeom>
          <a:solidFill>
            <a:srgbClr val="13263B"/>
          </a:solidFill>
          <a:ln w="19050">
            <a:solidFill>
              <a:srgbClr val="D4AF37"/>
            </a:solidFill>
            <a:prstDash val="solid"/>
          </a:ln>
        </p:spPr>
      </p:sp>
      <p:sp>
        <p:nvSpPr>
          <p:cNvPr id="17" name="Text 14"/>
          <p:cNvSpPr txBox="1"/>
          <p:nvPr/>
        </p:nvSpPr>
        <p:spPr>
          <a:xfrm>
            <a:off x="731520" y="3511296"/>
            <a:ext cx="2560320" cy="576072"/>
          </a:xfrm>
          <a:prstGeom prst="rect">
            <a:avLst/>
          </a:prstGeom>
          <a:noFill/>
          <a:ln/>
        </p:spPr>
        <p:txBody>
          <a:bodyPr wrap="square" lIns="0" tIns="0" rIns="0" bIns="0" rtlCol="0" anchor="ctr"/>
          <a:lstStyle/>
          <a:p>
            <a:pPr indent="0" marL="0">
              <a:buNone/>
            </a:pPr>
            <a:r>
              <a:rPr lang="en-US" sz="1500" b="1" dirty="0">
                <a:solidFill>
                  <a:srgbClr val="D4AF37"/>
                </a:solidFill>
                <a:latin typeface="Calibri" pitchFamily="34" charset="0"/>
                <a:ea typeface="Calibri" pitchFamily="34" charset="-122"/>
                <a:cs typeface="Calibri" pitchFamily="34" charset="-120"/>
              </a:rPr>
              <a:t>Context &amp; memory</a:t>
            </a:r>
            <a:endParaRPr lang="en-US" sz="1500" dirty="0"/>
          </a:p>
        </p:txBody>
      </p:sp>
      <p:sp>
        <p:nvSpPr>
          <p:cNvPr id="18" name="Text 15"/>
          <p:cNvSpPr txBox="1"/>
          <p:nvPr/>
        </p:nvSpPr>
        <p:spPr>
          <a:xfrm>
            <a:off x="3383280" y="3511296"/>
            <a:ext cx="8138160" cy="576072"/>
          </a:xfrm>
          <a:prstGeom prst="rect">
            <a:avLst/>
          </a:prstGeom>
          <a:noFill/>
          <a:ln/>
        </p:spPr>
        <p:txBody>
          <a:bodyPr wrap="square" lIns="0" tIns="0" rIns="0" bIns="0" rtlCol="0" anchor="ctr"/>
          <a:lstStyle/>
          <a:p>
            <a:pPr indent="0" marL="0">
              <a:buNone/>
            </a:pPr>
            <a:r>
              <a:rPr lang="en-US" sz="1400" dirty="0">
                <a:solidFill>
                  <a:srgbClr val="EEF3F9"/>
                </a:solidFill>
                <a:latin typeface="Calibri" pitchFamily="34" charset="0"/>
                <a:ea typeface="Calibri" pitchFamily="34" charset="-122"/>
                <a:cs typeface="Calibri" pitchFamily="34" charset="-120"/>
              </a:rPr>
              <a:t>notes, index, recall · context drained by reference · handoff</a:t>
            </a:r>
            <a:endParaRPr lang="en-US" sz="1400" dirty="0"/>
          </a:p>
        </p:txBody>
      </p:sp>
      <p:sp>
        <p:nvSpPr>
          <p:cNvPr id="19" name="Shape 16"/>
          <p:cNvSpPr/>
          <p:nvPr/>
        </p:nvSpPr>
        <p:spPr>
          <a:xfrm>
            <a:off x="548640" y="4178808"/>
            <a:ext cx="11064240" cy="576072"/>
          </a:xfrm>
          <a:prstGeom prst="roundRect">
            <a:avLst>
              <a:gd name="adj" fmla="val 15873"/>
            </a:avLst>
          </a:prstGeom>
          <a:solidFill>
            <a:srgbClr val="13263B"/>
          </a:solidFill>
          <a:ln w="19050">
            <a:solidFill>
              <a:srgbClr val="5FBF7A"/>
            </a:solidFill>
            <a:prstDash val="solid"/>
          </a:ln>
        </p:spPr>
      </p:sp>
      <p:sp>
        <p:nvSpPr>
          <p:cNvPr id="20" name="Text 17"/>
          <p:cNvSpPr txBox="1"/>
          <p:nvPr/>
        </p:nvSpPr>
        <p:spPr>
          <a:xfrm>
            <a:off x="731520" y="4178808"/>
            <a:ext cx="2560320" cy="576072"/>
          </a:xfrm>
          <a:prstGeom prst="rect">
            <a:avLst/>
          </a:prstGeom>
          <a:noFill/>
          <a:ln/>
        </p:spPr>
        <p:txBody>
          <a:bodyPr wrap="square" lIns="0" tIns="0" rIns="0" bIns="0" rtlCol="0" anchor="ctr"/>
          <a:lstStyle/>
          <a:p>
            <a:pPr indent="0" marL="0">
              <a:buNone/>
            </a:pPr>
            <a:r>
              <a:rPr lang="en-US" sz="1500" b="1" dirty="0">
                <a:solidFill>
                  <a:srgbClr val="5FBF7A"/>
                </a:solidFill>
                <a:latin typeface="Calibri" pitchFamily="34" charset="0"/>
                <a:ea typeface="Calibri" pitchFamily="34" charset="-122"/>
                <a:cs typeface="Calibri" pitchFamily="34" charset="-120"/>
              </a:rPr>
              <a:t>Tools &amp; MCP</a:t>
            </a:r>
            <a:endParaRPr lang="en-US" sz="1500" dirty="0"/>
          </a:p>
        </p:txBody>
      </p:sp>
      <p:sp>
        <p:nvSpPr>
          <p:cNvPr id="21" name="Text 18"/>
          <p:cNvSpPr txBox="1"/>
          <p:nvPr/>
        </p:nvSpPr>
        <p:spPr>
          <a:xfrm>
            <a:off x="3383280" y="4178808"/>
            <a:ext cx="8138160" cy="576072"/>
          </a:xfrm>
          <a:prstGeom prst="rect">
            <a:avLst/>
          </a:prstGeom>
          <a:noFill/>
          <a:ln/>
        </p:spPr>
        <p:txBody>
          <a:bodyPr wrap="square" lIns="0" tIns="0" rIns="0" bIns="0" rtlCol="0" anchor="ctr"/>
          <a:lstStyle/>
          <a:p>
            <a:pPr indent="0" marL="0">
              <a:buNone/>
            </a:pPr>
            <a:r>
              <a:rPr lang="en-US" sz="1400" dirty="0">
                <a:solidFill>
                  <a:srgbClr val="EEF3F9"/>
                </a:solidFill>
                <a:latin typeface="Calibri" pitchFamily="34" charset="0"/>
                <a:ea typeface="Calibri" pitchFamily="34" charset="-122"/>
                <a:cs typeface="Calibri" pitchFamily="34" charset="-120"/>
              </a:rPr>
              <a:t>built-ins · MCP · custom tools · a searchable tool registry</a:t>
            </a:r>
            <a:endParaRPr lang="en-US" sz="1400" dirty="0"/>
          </a:p>
        </p:txBody>
      </p:sp>
      <p:sp>
        <p:nvSpPr>
          <p:cNvPr id="22" name="Shape 19"/>
          <p:cNvSpPr/>
          <p:nvPr/>
        </p:nvSpPr>
        <p:spPr>
          <a:xfrm>
            <a:off x="548640" y="4846320"/>
            <a:ext cx="11064240" cy="576072"/>
          </a:xfrm>
          <a:prstGeom prst="roundRect">
            <a:avLst>
              <a:gd name="adj" fmla="val 15873"/>
            </a:avLst>
          </a:prstGeom>
          <a:solidFill>
            <a:srgbClr val="13263B"/>
          </a:solidFill>
          <a:ln w="19050">
            <a:solidFill>
              <a:srgbClr val="8E72E6"/>
            </a:solidFill>
            <a:prstDash val="solid"/>
          </a:ln>
        </p:spPr>
      </p:sp>
      <p:sp>
        <p:nvSpPr>
          <p:cNvPr id="23" name="Text 20"/>
          <p:cNvSpPr txBox="1"/>
          <p:nvPr/>
        </p:nvSpPr>
        <p:spPr>
          <a:xfrm>
            <a:off x="731520" y="4846320"/>
            <a:ext cx="2560320" cy="576072"/>
          </a:xfrm>
          <a:prstGeom prst="rect">
            <a:avLst/>
          </a:prstGeom>
          <a:noFill/>
          <a:ln/>
        </p:spPr>
        <p:txBody>
          <a:bodyPr wrap="square" lIns="0" tIns="0" rIns="0" bIns="0" rtlCol="0" anchor="ctr"/>
          <a:lstStyle/>
          <a:p>
            <a:pPr indent="0" marL="0">
              <a:buNone/>
            </a:pPr>
            <a:r>
              <a:rPr lang="en-US" sz="1500" b="1" dirty="0">
                <a:solidFill>
                  <a:srgbClr val="8E72E6"/>
                </a:solidFill>
                <a:latin typeface="Calibri" pitchFamily="34" charset="0"/>
                <a:ea typeface="Calibri" pitchFamily="34" charset="-122"/>
                <a:cs typeface="Calibri" pitchFamily="34" charset="-120"/>
              </a:rPr>
              <a:t>Agent loop</a:t>
            </a:r>
            <a:endParaRPr lang="en-US" sz="1500" dirty="0"/>
          </a:p>
        </p:txBody>
      </p:sp>
      <p:sp>
        <p:nvSpPr>
          <p:cNvPr id="24" name="Text 21"/>
          <p:cNvSpPr txBox="1"/>
          <p:nvPr/>
        </p:nvSpPr>
        <p:spPr>
          <a:xfrm>
            <a:off x="3383280" y="4846320"/>
            <a:ext cx="8138160" cy="576072"/>
          </a:xfrm>
          <a:prstGeom prst="rect">
            <a:avLst/>
          </a:prstGeom>
          <a:noFill/>
          <a:ln/>
        </p:spPr>
        <p:txBody>
          <a:bodyPr wrap="square" lIns="0" tIns="0" rIns="0" bIns="0" rtlCol="0" anchor="ctr"/>
          <a:lstStyle/>
          <a:p>
            <a:pPr indent="0" marL="0">
              <a:buNone/>
            </a:pPr>
            <a:r>
              <a:rPr lang="en-US" sz="1400" dirty="0">
                <a:solidFill>
                  <a:srgbClr val="EEF3F9"/>
                </a:solidFill>
                <a:latin typeface="Calibri" pitchFamily="34" charset="0"/>
                <a:ea typeface="Calibri" pitchFamily="34" charset="-122"/>
                <a:cs typeface="Calibri" pitchFamily="34" charset="-120"/>
              </a:rPr>
              <a:t>perceive → recall → plan → act → verify → record · sub-agents</a:t>
            </a:r>
            <a:endParaRPr lang="en-US" sz="1400" dirty="0"/>
          </a:p>
        </p:txBody>
      </p:sp>
      <p:sp>
        <p:nvSpPr>
          <p:cNvPr id="25" name="Shape 22"/>
          <p:cNvSpPr/>
          <p:nvPr/>
        </p:nvSpPr>
        <p:spPr>
          <a:xfrm>
            <a:off x="548640" y="5513832"/>
            <a:ext cx="11064240" cy="576072"/>
          </a:xfrm>
          <a:prstGeom prst="roundRect">
            <a:avLst>
              <a:gd name="adj" fmla="val 15873"/>
            </a:avLst>
          </a:prstGeom>
          <a:solidFill>
            <a:srgbClr val="13263B"/>
          </a:solidFill>
          <a:ln w="19050">
            <a:solidFill>
              <a:srgbClr val="2BA3C7"/>
            </a:solidFill>
            <a:prstDash val="solid"/>
          </a:ln>
        </p:spPr>
      </p:sp>
      <p:sp>
        <p:nvSpPr>
          <p:cNvPr id="26" name="Text 23"/>
          <p:cNvSpPr txBox="1"/>
          <p:nvPr/>
        </p:nvSpPr>
        <p:spPr>
          <a:xfrm>
            <a:off x="731520" y="5513832"/>
            <a:ext cx="2560320" cy="576072"/>
          </a:xfrm>
          <a:prstGeom prst="rect">
            <a:avLst/>
          </a:prstGeom>
          <a:noFill/>
          <a:ln/>
        </p:spPr>
        <p:txBody>
          <a:bodyPr wrap="square" lIns="0" tIns="0" rIns="0" bIns="0" rtlCol="0" anchor="ctr"/>
          <a:lstStyle/>
          <a:p>
            <a:pPr indent="0" marL="0">
              <a:buNone/>
            </a:pPr>
            <a:r>
              <a:rPr lang="en-US" sz="1500" b="1" dirty="0">
                <a:solidFill>
                  <a:srgbClr val="2BA3C7"/>
                </a:solidFill>
                <a:latin typeface="Calibri" pitchFamily="34" charset="0"/>
                <a:ea typeface="Calibri" pitchFamily="34" charset="-122"/>
                <a:cs typeface="Calibri" pitchFamily="34" charset="-120"/>
              </a:rPr>
              <a:t>Models</a:t>
            </a:r>
            <a:endParaRPr lang="en-US" sz="1500" dirty="0"/>
          </a:p>
        </p:txBody>
      </p:sp>
      <p:sp>
        <p:nvSpPr>
          <p:cNvPr id="27" name="Text 24"/>
          <p:cNvSpPr txBox="1"/>
          <p:nvPr/>
        </p:nvSpPr>
        <p:spPr>
          <a:xfrm>
            <a:off x="3383280" y="5513832"/>
            <a:ext cx="8138160" cy="576072"/>
          </a:xfrm>
          <a:prstGeom prst="rect">
            <a:avLst/>
          </a:prstGeom>
          <a:noFill/>
          <a:ln/>
        </p:spPr>
        <p:txBody>
          <a:bodyPr wrap="square" lIns="0" tIns="0" rIns="0" bIns="0" rtlCol="0" anchor="ctr"/>
          <a:lstStyle/>
          <a:p>
            <a:pPr indent="0" marL="0">
              <a:buNone/>
            </a:pPr>
            <a:r>
              <a:rPr lang="en-US" sz="1400" dirty="0">
                <a:solidFill>
                  <a:srgbClr val="EEF3F9"/>
                </a:solidFill>
                <a:latin typeface="Calibri" pitchFamily="34" charset="0"/>
                <a:ea typeface="Calibri" pitchFamily="34" charset="-122"/>
                <a:cs typeface="Calibri" pitchFamily="34" charset="-120"/>
              </a:rPr>
              <a:t>the gateway · registry.yaml · roles with fallbacks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17</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4 · GUARDRAILS</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Four layers, all in code</a:t>
            </a:r>
            <a:endParaRPr lang="en-US" sz="3400" dirty="0"/>
          </a:p>
        </p:txBody>
      </p:sp>
      <p:sp>
        <p:nvSpPr>
          <p:cNvPr id="7" name="Shape 4"/>
          <p:cNvSpPr/>
          <p:nvPr/>
        </p:nvSpPr>
        <p:spPr>
          <a:xfrm>
            <a:off x="548640" y="1554480"/>
            <a:ext cx="5120640" cy="960120"/>
          </a:xfrm>
          <a:prstGeom prst="roundRect">
            <a:avLst>
              <a:gd name="adj" fmla="val 11429"/>
            </a:avLst>
          </a:prstGeom>
          <a:solidFill>
            <a:srgbClr val="13263B"/>
          </a:solidFill>
          <a:ln w="12700">
            <a:solidFill>
              <a:srgbClr val="13263B"/>
            </a:solidFill>
            <a:prstDash val="solid"/>
          </a:ln>
        </p:spPr>
      </p:sp>
      <p:sp>
        <p:nvSpPr>
          <p:cNvPr id="8" name="Shape 5"/>
          <p:cNvSpPr/>
          <p:nvPr/>
        </p:nvSpPr>
        <p:spPr>
          <a:xfrm>
            <a:off x="731520" y="1737360"/>
            <a:ext cx="411480" cy="411480"/>
          </a:xfrm>
          <a:prstGeom prst="ellipse">
            <a:avLst/>
          </a:prstGeom>
          <a:solidFill>
            <a:srgbClr val="E0645A"/>
          </a:solidFill>
          <a:ln w="12700">
            <a:solidFill>
              <a:srgbClr val="E0645A"/>
            </a:solidFill>
            <a:prstDash val="solid"/>
          </a:ln>
        </p:spPr>
      </p:sp>
      <p:sp>
        <p:nvSpPr>
          <p:cNvPr id="9" name="Text 6"/>
          <p:cNvSpPr txBox="1"/>
          <p:nvPr/>
        </p:nvSpPr>
        <p:spPr>
          <a:xfrm>
            <a:off x="731520" y="173736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1</a:t>
            </a:r>
            <a:endParaRPr lang="en-US" sz="1500" dirty="0"/>
          </a:p>
        </p:txBody>
      </p:sp>
      <p:sp>
        <p:nvSpPr>
          <p:cNvPr id="10" name="Text 7"/>
          <p:cNvSpPr txBox="1"/>
          <p:nvPr/>
        </p:nvSpPr>
        <p:spPr>
          <a:xfrm>
            <a:off x="1280160" y="1719072"/>
            <a:ext cx="4206240" cy="457200"/>
          </a:xfrm>
          <a:prstGeom prst="rect">
            <a:avLst/>
          </a:prstGeom>
          <a:noFill/>
          <a:ln/>
        </p:spPr>
        <p:txBody>
          <a:bodyPr wrap="square" lIns="0" tIns="0" rIns="0" bIns="0" rtlCol="0" anchor="ctr"/>
          <a:lstStyle/>
          <a:p>
            <a:pPr indent="0" marL="0">
              <a:buNone/>
            </a:pPr>
            <a:r>
              <a:rPr lang="en-US" sz="1600" b="1" dirty="0">
                <a:solidFill>
                  <a:srgbClr val="E0645A"/>
                </a:solidFill>
                <a:latin typeface="Calibri" pitchFamily="34" charset="0"/>
                <a:ea typeface="Calibri" pitchFamily="34" charset="-122"/>
                <a:cs typeface="Calibri" pitchFamily="34" charset="-120"/>
              </a:rPr>
              <a:t>Guard</a:t>
            </a:r>
            <a:endParaRPr lang="en-US" sz="1600" dirty="0"/>
          </a:p>
        </p:txBody>
      </p:sp>
      <p:sp>
        <p:nvSpPr>
          <p:cNvPr id="11" name="Text 8"/>
          <p:cNvSpPr txBox="1"/>
          <p:nvPr/>
        </p:nvSpPr>
        <p:spPr>
          <a:xfrm>
            <a:off x="777240" y="2240280"/>
            <a:ext cx="4663440" cy="13716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the catastrophic, refused before any approval</a:t>
            </a:r>
            <a:endParaRPr lang="en-US" sz="1300" dirty="0"/>
          </a:p>
        </p:txBody>
      </p:sp>
      <p:sp>
        <p:nvSpPr>
          <p:cNvPr id="12" name="Shape 9"/>
          <p:cNvSpPr/>
          <p:nvPr/>
        </p:nvSpPr>
        <p:spPr>
          <a:xfrm>
            <a:off x="548640" y="2633472"/>
            <a:ext cx="5120640" cy="960120"/>
          </a:xfrm>
          <a:prstGeom prst="roundRect">
            <a:avLst>
              <a:gd name="adj" fmla="val 11429"/>
            </a:avLst>
          </a:prstGeom>
          <a:solidFill>
            <a:srgbClr val="13263B"/>
          </a:solidFill>
          <a:ln w="12700">
            <a:solidFill>
              <a:srgbClr val="13263B"/>
            </a:solidFill>
            <a:prstDash val="solid"/>
          </a:ln>
        </p:spPr>
      </p:sp>
      <p:sp>
        <p:nvSpPr>
          <p:cNvPr id="13" name="Shape 10"/>
          <p:cNvSpPr/>
          <p:nvPr/>
        </p:nvSpPr>
        <p:spPr>
          <a:xfrm>
            <a:off x="731520" y="2816352"/>
            <a:ext cx="411480" cy="411480"/>
          </a:xfrm>
          <a:prstGeom prst="ellipse">
            <a:avLst/>
          </a:prstGeom>
          <a:solidFill>
            <a:srgbClr val="D4AF37"/>
          </a:solidFill>
          <a:ln w="12700">
            <a:solidFill>
              <a:srgbClr val="D4AF37"/>
            </a:solidFill>
            <a:prstDash val="solid"/>
          </a:ln>
        </p:spPr>
      </p:sp>
      <p:sp>
        <p:nvSpPr>
          <p:cNvPr id="14" name="Text 11"/>
          <p:cNvSpPr txBox="1"/>
          <p:nvPr/>
        </p:nvSpPr>
        <p:spPr>
          <a:xfrm>
            <a:off x="731520" y="2816352"/>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2</a:t>
            </a:r>
            <a:endParaRPr lang="en-US" sz="1500" dirty="0"/>
          </a:p>
        </p:txBody>
      </p:sp>
      <p:sp>
        <p:nvSpPr>
          <p:cNvPr id="15" name="Text 12"/>
          <p:cNvSpPr txBox="1"/>
          <p:nvPr/>
        </p:nvSpPr>
        <p:spPr>
          <a:xfrm>
            <a:off x="1280160" y="2798064"/>
            <a:ext cx="4206240" cy="457200"/>
          </a:xfrm>
          <a:prstGeom prst="rect">
            <a:avLst/>
          </a:prstGeom>
          <a:noFill/>
          <a:ln/>
        </p:spPr>
        <p:txBody>
          <a:bodyPr wrap="square" lIns="0" tIns="0" rIns="0" bIns="0" rtlCol="0" anchor="ctr"/>
          <a:lstStyle/>
          <a:p>
            <a:pPr indent="0" marL="0">
              <a:buNone/>
            </a:pPr>
            <a:r>
              <a:rPr lang="en-US" sz="1600" b="1" dirty="0">
                <a:solidFill>
                  <a:srgbClr val="D4AF37"/>
                </a:solidFill>
                <a:latin typeface="Calibri" pitchFamily="34" charset="0"/>
                <a:ea typeface="Calibri" pitchFamily="34" charset="-122"/>
                <a:cs typeface="Calibri" pitchFamily="34" charset="-120"/>
              </a:rPr>
              <a:t>Human approval</a:t>
            </a:r>
            <a:endParaRPr lang="en-US" sz="1600" dirty="0"/>
          </a:p>
        </p:txBody>
      </p:sp>
      <p:sp>
        <p:nvSpPr>
          <p:cNvPr id="16" name="Text 13"/>
          <p:cNvSpPr txBox="1"/>
          <p:nvPr/>
        </p:nvSpPr>
        <p:spPr>
          <a:xfrm>
            <a:off x="777240" y="3319272"/>
            <a:ext cx="4663440" cy="13716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read · write · outward · destructive</a:t>
            </a:r>
            <a:endParaRPr lang="en-US" sz="1300" dirty="0"/>
          </a:p>
        </p:txBody>
      </p:sp>
      <p:sp>
        <p:nvSpPr>
          <p:cNvPr id="17" name="Shape 14"/>
          <p:cNvSpPr/>
          <p:nvPr/>
        </p:nvSpPr>
        <p:spPr>
          <a:xfrm>
            <a:off x="548640" y="3712464"/>
            <a:ext cx="5120640" cy="960120"/>
          </a:xfrm>
          <a:prstGeom prst="roundRect">
            <a:avLst>
              <a:gd name="adj" fmla="val 11429"/>
            </a:avLst>
          </a:prstGeom>
          <a:solidFill>
            <a:srgbClr val="13263B"/>
          </a:solidFill>
          <a:ln w="12700">
            <a:solidFill>
              <a:srgbClr val="13263B"/>
            </a:solidFill>
            <a:prstDash val="solid"/>
          </a:ln>
        </p:spPr>
      </p:sp>
      <p:sp>
        <p:nvSpPr>
          <p:cNvPr id="18" name="Shape 15"/>
          <p:cNvSpPr/>
          <p:nvPr/>
        </p:nvSpPr>
        <p:spPr>
          <a:xfrm>
            <a:off x="731520" y="3895344"/>
            <a:ext cx="411480" cy="411480"/>
          </a:xfrm>
          <a:prstGeom prst="ellipse">
            <a:avLst/>
          </a:prstGeom>
          <a:solidFill>
            <a:srgbClr val="8E72E6"/>
          </a:solidFill>
          <a:ln w="12700">
            <a:solidFill>
              <a:srgbClr val="8E72E6"/>
            </a:solidFill>
            <a:prstDash val="solid"/>
          </a:ln>
        </p:spPr>
      </p:sp>
      <p:sp>
        <p:nvSpPr>
          <p:cNvPr id="19" name="Text 16"/>
          <p:cNvSpPr txBox="1"/>
          <p:nvPr/>
        </p:nvSpPr>
        <p:spPr>
          <a:xfrm>
            <a:off x="731520" y="3895344"/>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3</a:t>
            </a:r>
            <a:endParaRPr lang="en-US" sz="1500" dirty="0"/>
          </a:p>
        </p:txBody>
      </p:sp>
      <p:sp>
        <p:nvSpPr>
          <p:cNvPr id="20" name="Text 17"/>
          <p:cNvSpPr txBox="1"/>
          <p:nvPr/>
        </p:nvSpPr>
        <p:spPr>
          <a:xfrm>
            <a:off x="1280160" y="3877056"/>
            <a:ext cx="4206240" cy="457200"/>
          </a:xfrm>
          <a:prstGeom prst="rect">
            <a:avLst/>
          </a:prstGeom>
          <a:noFill/>
          <a:ln/>
        </p:spPr>
        <p:txBody>
          <a:bodyPr wrap="square" lIns="0" tIns="0" rIns="0" bIns="0" rtlCol="0" anchor="ctr"/>
          <a:lstStyle/>
          <a:p>
            <a:pPr indent="0" marL="0">
              <a:buNone/>
            </a:pPr>
            <a:r>
              <a:rPr lang="en-US" sz="1600" b="1" dirty="0">
                <a:solidFill>
                  <a:srgbClr val="8E72E6"/>
                </a:solidFill>
                <a:latin typeface="Calibri" pitchFamily="34" charset="0"/>
                <a:ea typeface="Calibri" pitchFamily="34" charset="-122"/>
                <a:cs typeface="Calibri" pitchFamily="34" charset="-120"/>
              </a:rPr>
              <a:t>Review gate</a:t>
            </a:r>
            <a:endParaRPr lang="en-US" sz="1600" dirty="0"/>
          </a:p>
        </p:txBody>
      </p:sp>
      <p:sp>
        <p:nvSpPr>
          <p:cNvPr id="21" name="Text 18"/>
          <p:cNvSpPr txBox="1"/>
          <p:nvPr/>
        </p:nvSpPr>
        <p:spPr>
          <a:xfrm>
            <a:off x="777240" y="4398264"/>
            <a:ext cx="4663440" cy="13716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owner, checks, tests intact, docs — retried once</a:t>
            </a:r>
            <a:endParaRPr lang="en-US" sz="1300" dirty="0"/>
          </a:p>
        </p:txBody>
      </p:sp>
      <p:sp>
        <p:nvSpPr>
          <p:cNvPr id="22" name="Shape 19"/>
          <p:cNvSpPr/>
          <p:nvPr/>
        </p:nvSpPr>
        <p:spPr>
          <a:xfrm>
            <a:off x="548640" y="4791456"/>
            <a:ext cx="5120640" cy="960120"/>
          </a:xfrm>
          <a:prstGeom prst="roundRect">
            <a:avLst>
              <a:gd name="adj" fmla="val 11429"/>
            </a:avLst>
          </a:prstGeom>
          <a:solidFill>
            <a:srgbClr val="13263B"/>
          </a:solidFill>
          <a:ln w="12700">
            <a:solidFill>
              <a:srgbClr val="13263B"/>
            </a:solidFill>
            <a:prstDash val="solid"/>
          </a:ln>
        </p:spPr>
      </p:sp>
      <p:sp>
        <p:nvSpPr>
          <p:cNvPr id="23" name="Shape 20"/>
          <p:cNvSpPr/>
          <p:nvPr/>
        </p:nvSpPr>
        <p:spPr>
          <a:xfrm>
            <a:off x="731520" y="4974336"/>
            <a:ext cx="411480" cy="411480"/>
          </a:xfrm>
          <a:prstGeom prst="ellipse">
            <a:avLst/>
          </a:prstGeom>
          <a:solidFill>
            <a:srgbClr val="2BA3C7"/>
          </a:solidFill>
          <a:ln w="12700">
            <a:solidFill>
              <a:srgbClr val="2BA3C7"/>
            </a:solidFill>
            <a:prstDash val="solid"/>
          </a:ln>
        </p:spPr>
      </p:sp>
      <p:sp>
        <p:nvSpPr>
          <p:cNvPr id="24" name="Text 21"/>
          <p:cNvSpPr txBox="1"/>
          <p:nvPr/>
        </p:nvSpPr>
        <p:spPr>
          <a:xfrm>
            <a:off x="731520" y="4974336"/>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4</a:t>
            </a:r>
            <a:endParaRPr lang="en-US" sz="1500" dirty="0"/>
          </a:p>
        </p:txBody>
      </p:sp>
      <p:sp>
        <p:nvSpPr>
          <p:cNvPr id="25" name="Text 22"/>
          <p:cNvSpPr txBox="1"/>
          <p:nvPr/>
        </p:nvSpPr>
        <p:spPr>
          <a:xfrm>
            <a:off x="1280160" y="4956048"/>
            <a:ext cx="4206240" cy="457200"/>
          </a:xfrm>
          <a:prstGeom prst="rect">
            <a:avLst/>
          </a:prstGeom>
          <a:noFill/>
          <a:ln/>
        </p:spPr>
        <p:txBody>
          <a:bodyPr wrap="square" lIns="0" tIns="0" rIns="0" bIns="0" rtlCol="0" anchor="ctr"/>
          <a:lstStyle/>
          <a:p>
            <a:pPr indent="0" marL="0">
              <a:buNone/>
            </a:pPr>
            <a:r>
              <a:rPr lang="en-US" sz="1600" b="1" dirty="0">
                <a:solidFill>
                  <a:srgbClr val="2BA3C7"/>
                </a:solidFill>
                <a:latin typeface="Calibri" pitchFamily="34" charset="0"/>
                <a:ea typeface="Calibri" pitchFamily="34" charset="-122"/>
                <a:cs typeface="Calibri" pitchFamily="34" charset="-120"/>
              </a:rPr>
              <a:t>Sandbox / container</a:t>
            </a:r>
            <a:endParaRPr lang="en-US" sz="1600" dirty="0"/>
          </a:p>
        </p:txBody>
      </p:sp>
      <p:sp>
        <p:nvSpPr>
          <p:cNvPr id="26" name="Text 23"/>
          <p:cNvSpPr txBox="1"/>
          <p:nvPr/>
        </p:nvSpPr>
        <p:spPr>
          <a:xfrm>
            <a:off x="777240" y="5477256"/>
            <a:ext cx="4663440" cy="13716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host processes and credentials hidden · Seatbelt on macOS · --docker-agent</a:t>
            </a:r>
            <a:endParaRPr lang="en-US" sz="1300" dirty="0"/>
          </a:p>
        </p:txBody>
      </p:sp>
      <p:pic>
        <p:nvPicPr>
          <p:cNvPr id="27" name="Image 0" descr="/home/monta/convention-jura/presentations/src/screens/agent-one-gating.png">    </p:cNvPr>
          <p:cNvPicPr>
            <a:picLocks noChangeAspect="1"/>
          </p:cNvPicPr>
          <p:nvPr/>
        </p:nvPicPr>
        <p:blipFill>
          <a:blip r:embed="rId1"/>
          <a:stretch>
            <a:fillRect/>
          </a:stretch>
        </p:blipFill>
        <p:spPr>
          <a:xfrm>
            <a:off x="7250065" y="1554480"/>
            <a:ext cx="3056351" cy="1828800"/>
          </a:xfrm>
          <a:prstGeom prst="rect">
            <a:avLst/>
          </a:prstGeom>
        </p:spPr>
      </p:pic>
      <p:sp>
        <p:nvSpPr>
          <p:cNvPr id="28" name="Text 24"/>
          <p:cNvSpPr txBox="1"/>
          <p:nvPr/>
        </p:nvSpPr>
        <p:spPr>
          <a:xfrm>
            <a:off x="6035040" y="3749040"/>
            <a:ext cx="2743200" cy="822960"/>
          </a:xfrm>
          <a:prstGeom prst="rect">
            <a:avLst/>
          </a:prstGeom>
          <a:noFill/>
          <a:ln/>
        </p:spPr>
        <p:txBody>
          <a:bodyPr wrap="square" lIns="0" tIns="0" rIns="0" bIns="0" rtlCol="0" anchor="ctr"/>
          <a:lstStyle/>
          <a:p>
            <a:pPr indent="0" marL="0">
              <a:buNone/>
            </a:pPr>
            <a:r>
              <a:rPr lang="en-US" sz="4400" b="1" dirty="0">
                <a:solidFill>
                  <a:srgbClr val="E0645A"/>
                </a:solidFill>
                <a:latin typeface="Cambria" pitchFamily="34" charset="0"/>
                <a:ea typeface="Cambria" pitchFamily="34" charset="-122"/>
                <a:cs typeface="Cambria" pitchFamily="34" charset="-120"/>
              </a:rPr>
              <a:t>37 / 90</a:t>
            </a:r>
            <a:endParaRPr lang="en-US" sz="4400" dirty="0"/>
          </a:p>
        </p:txBody>
      </p:sp>
      <p:sp>
        <p:nvSpPr>
          <p:cNvPr id="29" name="Text 25"/>
          <p:cNvSpPr txBox="1"/>
          <p:nvPr/>
        </p:nvSpPr>
        <p:spPr>
          <a:xfrm>
            <a:off x="8686800" y="3749040"/>
            <a:ext cx="2926080" cy="1371600"/>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dangerous commands our first classifier let through — found by a 151-case test corpus, now closed and tested for good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18</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4 · PREVIEWS</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See what it will do — and what it is doing</a:t>
            </a:r>
            <a:endParaRPr lang="en-US" sz="3400" dirty="0"/>
          </a:p>
        </p:txBody>
      </p:sp>
      <p:pic>
        <p:nvPicPr>
          <p:cNvPr id="7" name="Image 0" descr="/home/monta/convention-jura/presentations/src/screens/agent-one-tools.png">    </p:cNvPr>
          <p:cNvPicPr>
            <a:picLocks noChangeAspect="1"/>
          </p:cNvPicPr>
          <p:nvPr/>
        </p:nvPicPr>
        <p:blipFill>
          <a:blip r:embed="rId1"/>
          <a:stretch>
            <a:fillRect/>
          </a:stretch>
        </p:blipFill>
        <p:spPr>
          <a:xfrm>
            <a:off x="801039" y="1508760"/>
            <a:ext cx="4890161" cy="2926080"/>
          </a:xfrm>
          <a:prstGeom prst="rect">
            <a:avLst/>
          </a:prstGeom>
        </p:spPr>
      </p:pic>
      <p:pic>
        <p:nvPicPr>
          <p:cNvPr id="8" name="Image 1" descr="/home/monta/convention-jura/presentations/src/screens/agent-one-agents.png">    </p:cNvPr>
          <p:cNvPicPr>
            <a:picLocks noChangeAspect="1"/>
          </p:cNvPicPr>
          <p:nvPr/>
        </p:nvPicPr>
        <p:blipFill>
          <a:blip r:embed="rId2"/>
          <a:stretch>
            <a:fillRect/>
          </a:stretch>
        </p:blipFill>
        <p:spPr>
          <a:xfrm>
            <a:off x="6516039" y="1508760"/>
            <a:ext cx="4890161" cy="2926080"/>
          </a:xfrm>
          <a:prstGeom prst="rect">
            <a:avLst/>
          </a:prstGeom>
        </p:spPr>
      </p:pic>
      <p:sp>
        <p:nvSpPr>
          <p:cNvPr id="9" name="Shape 4"/>
          <p:cNvSpPr/>
          <p:nvPr/>
        </p:nvSpPr>
        <p:spPr>
          <a:xfrm>
            <a:off x="548640" y="4617720"/>
            <a:ext cx="2651760" cy="1371600"/>
          </a:xfrm>
          <a:prstGeom prst="roundRect">
            <a:avLst>
              <a:gd name="adj" fmla="val 8000"/>
            </a:avLst>
          </a:prstGeom>
          <a:solidFill>
            <a:srgbClr val="13263B"/>
          </a:solidFill>
          <a:ln w="12700">
            <a:solidFill>
              <a:srgbClr val="13263B"/>
            </a:solidFill>
            <a:prstDash val="solid"/>
          </a:ln>
        </p:spPr>
      </p:sp>
      <p:sp>
        <p:nvSpPr>
          <p:cNvPr id="10" name="Text 5"/>
          <p:cNvSpPr txBox="1"/>
          <p:nvPr/>
        </p:nvSpPr>
        <p:spPr>
          <a:xfrm>
            <a:off x="777240" y="4782312"/>
            <a:ext cx="2240280" cy="457200"/>
          </a:xfrm>
          <a:prstGeom prst="rect">
            <a:avLst/>
          </a:prstGeom>
          <a:noFill/>
          <a:ln/>
        </p:spPr>
        <p:txBody>
          <a:bodyPr wrap="square" lIns="0" tIns="0" rIns="0" bIns="0" rtlCol="0" anchor="ctr"/>
          <a:lstStyle/>
          <a:p>
            <a:pPr indent="0" marL="0">
              <a:buNone/>
            </a:pPr>
            <a:r>
              <a:rPr lang="en-US" sz="1600" b="1" dirty="0">
                <a:solidFill>
                  <a:srgbClr val="D4AF37"/>
                </a:solidFill>
                <a:latin typeface="Calibri" pitchFamily="34" charset="0"/>
                <a:ea typeface="Calibri" pitchFamily="34" charset="-122"/>
                <a:cs typeface="Calibri" pitchFamily="34" charset="-120"/>
              </a:rPr>
              <a:t>Dry-run</a:t>
            </a:r>
            <a:endParaRPr lang="en-US" sz="1600" dirty="0"/>
          </a:p>
        </p:txBody>
      </p:sp>
      <p:sp>
        <p:nvSpPr>
          <p:cNvPr id="11" name="Text 6"/>
          <p:cNvSpPr txBox="1"/>
          <p:nvPr/>
        </p:nvSpPr>
        <p:spPr>
          <a:xfrm>
            <a:off x="777240" y="5303520"/>
            <a:ext cx="2194560" cy="54864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plans and shows, runs nothing</a:t>
            </a:r>
            <a:endParaRPr lang="en-US" sz="1300" dirty="0"/>
          </a:p>
        </p:txBody>
      </p:sp>
      <p:sp>
        <p:nvSpPr>
          <p:cNvPr id="12" name="Shape 7"/>
          <p:cNvSpPr/>
          <p:nvPr/>
        </p:nvSpPr>
        <p:spPr>
          <a:xfrm>
            <a:off x="3364992" y="4617720"/>
            <a:ext cx="2651760" cy="1371600"/>
          </a:xfrm>
          <a:prstGeom prst="roundRect">
            <a:avLst>
              <a:gd name="adj" fmla="val 8000"/>
            </a:avLst>
          </a:prstGeom>
          <a:solidFill>
            <a:srgbClr val="13263B"/>
          </a:solidFill>
          <a:ln w="12700">
            <a:solidFill>
              <a:srgbClr val="13263B"/>
            </a:solidFill>
            <a:prstDash val="solid"/>
          </a:ln>
        </p:spPr>
      </p:sp>
      <p:sp>
        <p:nvSpPr>
          <p:cNvPr id="13" name="Text 8"/>
          <p:cNvSpPr txBox="1"/>
          <p:nvPr/>
        </p:nvSpPr>
        <p:spPr>
          <a:xfrm>
            <a:off x="3593592" y="4782312"/>
            <a:ext cx="2240280" cy="457200"/>
          </a:xfrm>
          <a:prstGeom prst="rect">
            <a:avLst/>
          </a:prstGeom>
          <a:noFill/>
          <a:ln/>
        </p:spPr>
        <p:txBody>
          <a:bodyPr wrap="square" lIns="0" tIns="0" rIns="0" bIns="0" rtlCol="0" anchor="ctr"/>
          <a:lstStyle/>
          <a:p>
            <a:pPr indent="0" marL="0">
              <a:buNone/>
            </a:pPr>
            <a:r>
              <a:rPr lang="en-US" sz="1600" b="1" dirty="0">
                <a:solidFill>
                  <a:srgbClr val="5FBF7A"/>
                </a:solidFill>
                <a:latin typeface="Calibri" pitchFamily="34" charset="0"/>
                <a:ea typeface="Calibri" pitchFamily="34" charset="-122"/>
                <a:cs typeface="Calibri" pitchFamily="34" charset="-120"/>
              </a:rPr>
              <a:t>Diffs</a:t>
            </a:r>
            <a:endParaRPr lang="en-US" sz="1600" dirty="0"/>
          </a:p>
        </p:txBody>
      </p:sp>
      <p:sp>
        <p:nvSpPr>
          <p:cNvPr id="14" name="Text 9"/>
          <p:cNvSpPr txBox="1"/>
          <p:nvPr/>
        </p:nvSpPr>
        <p:spPr>
          <a:xfrm>
            <a:off x="3593592" y="5303520"/>
            <a:ext cx="2194560" cy="54864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every edit, before it lands</a:t>
            </a:r>
            <a:endParaRPr lang="en-US" sz="1300" dirty="0"/>
          </a:p>
        </p:txBody>
      </p:sp>
      <p:sp>
        <p:nvSpPr>
          <p:cNvPr id="15" name="Shape 10"/>
          <p:cNvSpPr/>
          <p:nvPr/>
        </p:nvSpPr>
        <p:spPr>
          <a:xfrm>
            <a:off x="6181344" y="4617720"/>
            <a:ext cx="2651760" cy="1371600"/>
          </a:xfrm>
          <a:prstGeom prst="roundRect">
            <a:avLst>
              <a:gd name="adj" fmla="val 8000"/>
            </a:avLst>
          </a:prstGeom>
          <a:solidFill>
            <a:srgbClr val="13263B"/>
          </a:solidFill>
          <a:ln w="12700">
            <a:solidFill>
              <a:srgbClr val="13263B"/>
            </a:solidFill>
            <a:prstDash val="solid"/>
          </a:ln>
        </p:spPr>
      </p:sp>
      <p:sp>
        <p:nvSpPr>
          <p:cNvPr id="16" name="Text 11"/>
          <p:cNvSpPr txBox="1"/>
          <p:nvPr/>
        </p:nvSpPr>
        <p:spPr>
          <a:xfrm>
            <a:off x="6409944" y="4782312"/>
            <a:ext cx="2240280" cy="457200"/>
          </a:xfrm>
          <a:prstGeom prst="rect">
            <a:avLst/>
          </a:prstGeom>
          <a:noFill/>
          <a:ln/>
        </p:spPr>
        <p:txBody>
          <a:bodyPr wrap="square" lIns="0" tIns="0" rIns="0" bIns="0" rtlCol="0" anchor="ctr"/>
          <a:lstStyle/>
          <a:p>
            <a:pPr indent="0" marL="0">
              <a:buNone/>
            </a:pPr>
            <a:r>
              <a:rPr lang="en-US" sz="1600" b="1" dirty="0">
                <a:solidFill>
                  <a:srgbClr val="8E72E6"/>
                </a:solidFill>
                <a:latin typeface="Calibri" pitchFamily="34" charset="0"/>
                <a:ea typeface="Calibri" pitchFamily="34" charset="-122"/>
                <a:cs typeface="Calibri" pitchFamily="34" charset="-120"/>
              </a:rPr>
              <a:t>Every agent, live</a:t>
            </a:r>
            <a:endParaRPr lang="en-US" sz="1600" dirty="0"/>
          </a:p>
        </p:txBody>
      </p:sp>
      <p:sp>
        <p:nvSpPr>
          <p:cNvPr id="17" name="Text 12"/>
          <p:cNvSpPr txBox="1"/>
          <p:nvPr/>
        </p:nvSpPr>
        <p:spPr>
          <a:xfrm>
            <a:off x="6409944" y="5303520"/>
            <a:ext cx="2194560" cy="54864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thinking and steps, one key</a:t>
            </a:r>
            <a:endParaRPr lang="en-US" sz="1300" dirty="0"/>
          </a:p>
        </p:txBody>
      </p:sp>
      <p:sp>
        <p:nvSpPr>
          <p:cNvPr id="18" name="Shape 13"/>
          <p:cNvSpPr/>
          <p:nvPr/>
        </p:nvSpPr>
        <p:spPr>
          <a:xfrm>
            <a:off x="8997696" y="4617720"/>
            <a:ext cx="2651760" cy="1371600"/>
          </a:xfrm>
          <a:prstGeom prst="roundRect">
            <a:avLst>
              <a:gd name="adj" fmla="val 8000"/>
            </a:avLst>
          </a:prstGeom>
          <a:solidFill>
            <a:srgbClr val="13263B"/>
          </a:solidFill>
          <a:ln w="12700">
            <a:solidFill>
              <a:srgbClr val="13263B"/>
            </a:solidFill>
            <a:prstDash val="solid"/>
          </a:ln>
        </p:spPr>
      </p:sp>
      <p:sp>
        <p:nvSpPr>
          <p:cNvPr id="19" name="Text 14"/>
          <p:cNvSpPr txBox="1"/>
          <p:nvPr/>
        </p:nvSpPr>
        <p:spPr>
          <a:xfrm>
            <a:off x="9226296" y="4782312"/>
            <a:ext cx="2240280" cy="457200"/>
          </a:xfrm>
          <a:prstGeom prst="rect">
            <a:avLst/>
          </a:prstGeom>
          <a:noFill/>
          <a:ln/>
        </p:spPr>
        <p:txBody>
          <a:bodyPr wrap="square" lIns="0" tIns="0" rIns="0" bIns="0" rtlCol="0" anchor="ctr"/>
          <a:lstStyle/>
          <a:p>
            <a:pPr indent="0" marL="0">
              <a:buNone/>
            </a:pPr>
            <a:r>
              <a:rPr lang="en-US" sz="1600" b="1" dirty="0">
                <a:solidFill>
                  <a:srgbClr val="2BA3C7"/>
                </a:solidFill>
                <a:latin typeface="Calibri" pitchFamily="34" charset="0"/>
                <a:ea typeface="Calibri" pitchFamily="34" charset="-122"/>
                <a:cs typeface="Calibri" pitchFamily="34" charset="-120"/>
              </a:rPr>
              <a:t>The dashboard</a:t>
            </a:r>
            <a:endParaRPr lang="en-US" sz="1600" dirty="0"/>
          </a:p>
        </p:txBody>
      </p:sp>
      <p:sp>
        <p:nvSpPr>
          <p:cNvPr id="20" name="Text 15"/>
          <p:cNvSpPr txBox="1"/>
          <p:nvPr/>
        </p:nvSpPr>
        <p:spPr>
          <a:xfrm>
            <a:off x="9226296" y="5303520"/>
            <a:ext cx="2194560" cy="54864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the neural net in 2D and 3D, value, every config key explained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19</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4 · LEARNING, WITH GUARDRAILS</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What we took — and how it can't cheat</a:t>
            </a:r>
            <a:endParaRPr lang="en-US" sz="3400" dirty="0"/>
          </a:p>
        </p:txBody>
      </p:sp>
      <p:sp>
        <p:nvSpPr>
          <p:cNvPr id="7" name="Shape 4"/>
          <p:cNvSpPr/>
          <p:nvPr/>
        </p:nvSpPr>
        <p:spPr>
          <a:xfrm>
            <a:off x="548640" y="1600200"/>
            <a:ext cx="3566160" cy="2011680"/>
          </a:xfrm>
          <a:prstGeom prst="roundRect">
            <a:avLst>
              <a:gd name="adj" fmla="val 5455"/>
            </a:avLst>
          </a:prstGeom>
          <a:solidFill>
            <a:srgbClr val="13263B"/>
          </a:solidFill>
          <a:ln w="12700">
            <a:solidFill>
              <a:srgbClr val="13263B"/>
            </a:solidFill>
            <a:prstDash val="solid"/>
          </a:ln>
        </p:spPr>
      </p:sp>
      <p:sp>
        <p:nvSpPr>
          <p:cNvPr id="8" name="Text 5"/>
          <p:cNvSpPr txBox="1"/>
          <p:nvPr/>
        </p:nvSpPr>
        <p:spPr>
          <a:xfrm>
            <a:off x="777240" y="1764792"/>
            <a:ext cx="315468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goal</a:t>
            </a:r>
            <a:endParaRPr lang="en-US" sz="1700" dirty="0"/>
          </a:p>
        </p:txBody>
      </p:sp>
      <p:sp>
        <p:nvSpPr>
          <p:cNvPr id="9" name="Text 6"/>
          <p:cNvSpPr txBox="1"/>
          <p:nvPr/>
        </p:nvSpPr>
        <p:spPr>
          <a:xfrm>
            <a:off x="777240"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works until your command passes; the harness runs it</a:t>
            </a:r>
            <a:endParaRPr lang="en-US" sz="1400" dirty="0"/>
          </a:p>
        </p:txBody>
      </p:sp>
      <p:sp>
        <p:nvSpPr>
          <p:cNvPr id="10" name="Text 7"/>
          <p:cNvSpPr txBox="1"/>
          <p:nvPr/>
        </p:nvSpPr>
        <p:spPr>
          <a:xfrm>
            <a:off x="2651760" y="1783080"/>
            <a:ext cx="1280160" cy="320040"/>
          </a:xfrm>
          <a:prstGeom prst="rect">
            <a:avLst/>
          </a:prstGeom>
          <a:noFill/>
          <a:ln/>
        </p:spPr>
        <p:txBody>
          <a:bodyPr wrap="square" lIns="0" tIns="0" rIns="0" bIns="0" rtlCol="0" anchor="ctr"/>
          <a:lstStyle/>
          <a:p>
            <a:pPr algn="r" indent="0" marL="0">
              <a:buNone/>
            </a:pPr>
            <a:r>
              <a:rPr lang="en-US" sz="1100" i="1" dirty="0">
                <a:solidFill>
                  <a:srgbClr val="8FA3B8"/>
                </a:solidFill>
                <a:latin typeface="Calibri" pitchFamily="34" charset="0"/>
                <a:ea typeface="Calibri" pitchFamily="34" charset="-122"/>
                <a:cs typeface="Calibri" pitchFamily="34" charset="-120"/>
              </a:rPr>
              <a:t>Prime</a:t>
            </a:r>
            <a:endParaRPr lang="en-US" sz="1100" dirty="0"/>
          </a:p>
        </p:txBody>
      </p:sp>
      <p:sp>
        <p:nvSpPr>
          <p:cNvPr id="11" name="Shape 8"/>
          <p:cNvSpPr/>
          <p:nvPr/>
        </p:nvSpPr>
        <p:spPr>
          <a:xfrm>
            <a:off x="4297680" y="1600200"/>
            <a:ext cx="3566160" cy="2011680"/>
          </a:xfrm>
          <a:prstGeom prst="roundRect">
            <a:avLst>
              <a:gd name="adj" fmla="val 5455"/>
            </a:avLst>
          </a:prstGeom>
          <a:solidFill>
            <a:srgbClr val="13263B"/>
          </a:solidFill>
          <a:ln w="12700">
            <a:solidFill>
              <a:srgbClr val="13263B"/>
            </a:solidFill>
            <a:prstDash val="solid"/>
          </a:ln>
        </p:spPr>
      </p:sp>
      <p:sp>
        <p:nvSpPr>
          <p:cNvPr id="12" name="Text 9"/>
          <p:cNvSpPr txBox="1"/>
          <p:nvPr/>
        </p:nvSpPr>
        <p:spPr>
          <a:xfrm>
            <a:off x="4526280" y="1764792"/>
            <a:ext cx="3154680" cy="457200"/>
          </a:xfrm>
          <a:prstGeom prst="rect">
            <a:avLst/>
          </a:prstGeom>
          <a:noFill/>
          <a:ln/>
        </p:spPr>
        <p:txBody>
          <a:bodyPr wrap="square" lIns="0" tIns="0" rIns="0" bIns="0" rtlCol="0" anchor="ctr"/>
          <a:lstStyle/>
          <a:p>
            <a:pPr indent="0" marL="0">
              <a:buNone/>
            </a:pPr>
            <a:r>
              <a:rPr lang="en-US" sz="1700" b="1" dirty="0">
                <a:solidFill>
                  <a:srgbClr val="E0645A"/>
                </a:solidFill>
                <a:latin typeface="Calibri" pitchFamily="34" charset="0"/>
                <a:ea typeface="Calibri" pitchFamily="34" charset="-122"/>
                <a:cs typeface="Calibri" pitchFamily="34" charset="-120"/>
              </a:rPr>
              <a:t>Gate retry</a:t>
            </a:r>
            <a:endParaRPr lang="en-US" sz="1700" dirty="0"/>
          </a:p>
        </p:txBody>
      </p:sp>
      <p:sp>
        <p:nvSpPr>
          <p:cNvPr id="13" name="Text 10"/>
          <p:cNvSpPr txBox="1"/>
          <p:nvPr/>
        </p:nvSpPr>
        <p:spPr>
          <a:xfrm>
            <a:off x="4526280"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a failed review goes back to the agent once</a:t>
            </a:r>
            <a:endParaRPr lang="en-US" sz="1400" dirty="0"/>
          </a:p>
        </p:txBody>
      </p:sp>
      <p:sp>
        <p:nvSpPr>
          <p:cNvPr id="14" name="Text 11"/>
          <p:cNvSpPr txBox="1"/>
          <p:nvPr/>
        </p:nvSpPr>
        <p:spPr>
          <a:xfrm>
            <a:off x="6400800" y="1783080"/>
            <a:ext cx="1280160" cy="320040"/>
          </a:xfrm>
          <a:prstGeom prst="rect">
            <a:avLst/>
          </a:prstGeom>
          <a:noFill/>
          <a:ln/>
        </p:spPr>
        <p:txBody>
          <a:bodyPr wrap="square" lIns="0" tIns="0" rIns="0" bIns="0" rtlCol="0" anchor="ctr"/>
          <a:lstStyle/>
          <a:p>
            <a:pPr algn="r" indent="0" marL="0">
              <a:buNone/>
            </a:pPr>
            <a:r>
              <a:rPr lang="en-US" sz="1100" i="1" dirty="0">
                <a:solidFill>
                  <a:srgbClr val="8FA3B8"/>
                </a:solidFill>
                <a:latin typeface="Calibri" pitchFamily="34" charset="0"/>
                <a:ea typeface="Calibri" pitchFamily="34" charset="-122"/>
                <a:cs typeface="Calibri" pitchFamily="34" charset="-120"/>
              </a:rPr>
              <a:t>Prime</a:t>
            </a:r>
            <a:endParaRPr lang="en-US" sz="1100" dirty="0"/>
          </a:p>
        </p:txBody>
      </p:sp>
      <p:sp>
        <p:nvSpPr>
          <p:cNvPr id="15" name="Shape 12"/>
          <p:cNvSpPr/>
          <p:nvPr/>
        </p:nvSpPr>
        <p:spPr>
          <a:xfrm>
            <a:off x="8046720" y="1600200"/>
            <a:ext cx="3566160" cy="2011680"/>
          </a:xfrm>
          <a:prstGeom prst="roundRect">
            <a:avLst>
              <a:gd name="adj" fmla="val 5455"/>
            </a:avLst>
          </a:prstGeom>
          <a:solidFill>
            <a:srgbClr val="13263B"/>
          </a:solidFill>
          <a:ln w="12700">
            <a:solidFill>
              <a:srgbClr val="13263B"/>
            </a:solidFill>
            <a:prstDash val="solid"/>
          </a:ln>
        </p:spPr>
      </p:sp>
      <p:sp>
        <p:nvSpPr>
          <p:cNvPr id="16" name="Text 13"/>
          <p:cNvSpPr txBox="1"/>
          <p:nvPr/>
        </p:nvSpPr>
        <p:spPr>
          <a:xfrm>
            <a:off x="8275320" y="1764792"/>
            <a:ext cx="315468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Tests intact</a:t>
            </a:r>
            <a:endParaRPr lang="en-US" sz="1700" dirty="0"/>
          </a:p>
        </p:txBody>
      </p:sp>
      <p:sp>
        <p:nvSpPr>
          <p:cNvPr id="17" name="Text 14"/>
          <p:cNvSpPr txBox="1"/>
          <p:nvPr/>
        </p:nvSpPr>
        <p:spPr>
          <a:xfrm>
            <a:off x="8275320"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pre-turn checks; no deleting or skipping tests</a:t>
            </a:r>
            <a:endParaRPr lang="en-US" sz="1400" dirty="0"/>
          </a:p>
        </p:txBody>
      </p:sp>
      <p:sp>
        <p:nvSpPr>
          <p:cNvPr id="18" name="Text 15"/>
          <p:cNvSpPr txBox="1"/>
          <p:nvPr/>
        </p:nvSpPr>
        <p:spPr>
          <a:xfrm>
            <a:off x="10149840" y="1783080"/>
            <a:ext cx="1280160" cy="320040"/>
          </a:xfrm>
          <a:prstGeom prst="rect">
            <a:avLst/>
          </a:prstGeom>
          <a:noFill/>
          <a:ln/>
        </p:spPr>
        <p:txBody>
          <a:bodyPr wrap="square" lIns="0" tIns="0" rIns="0" bIns="0" rtlCol="0" anchor="ctr"/>
          <a:lstStyle/>
          <a:p>
            <a:pPr algn="r" indent="0" marL="0">
              <a:buNone/>
            </a:pPr>
            <a:r>
              <a:rPr lang="en-US" sz="1100" i="1" dirty="0">
                <a:solidFill>
                  <a:srgbClr val="8FA3B8"/>
                </a:solidFill>
                <a:latin typeface="Calibri" pitchFamily="34" charset="0"/>
                <a:ea typeface="Calibri" pitchFamily="34" charset="-122"/>
                <a:cs typeface="Calibri" pitchFamily="34" charset="-120"/>
              </a:rPr>
              <a:t>ours</a:t>
            </a:r>
            <a:endParaRPr lang="en-US" sz="1100" dirty="0"/>
          </a:p>
        </p:txBody>
      </p:sp>
      <p:sp>
        <p:nvSpPr>
          <p:cNvPr id="19" name="Shape 16"/>
          <p:cNvSpPr/>
          <p:nvPr/>
        </p:nvSpPr>
        <p:spPr>
          <a:xfrm>
            <a:off x="548640" y="3840480"/>
            <a:ext cx="3566160" cy="2011680"/>
          </a:xfrm>
          <a:prstGeom prst="roundRect">
            <a:avLst>
              <a:gd name="adj" fmla="val 5455"/>
            </a:avLst>
          </a:prstGeom>
          <a:solidFill>
            <a:srgbClr val="13263B"/>
          </a:solidFill>
          <a:ln w="12700">
            <a:solidFill>
              <a:srgbClr val="13263B"/>
            </a:solidFill>
            <a:prstDash val="solid"/>
          </a:ln>
        </p:spPr>
      </p:sp>
      <p:sp>
        <p:nvSpPr>
          <p:cNvPr id="20" name="Text 17"/>
          <p:cNvSpPr txBox="1"/>
          <p:nvPr/>
        </p:nvSpPr>
        <p:spPr>
          <a:xfrm>
            <a:off x="777240" y="4005072"/>
            <a:ext cx="315468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Memory, recalled</a:t>
            </a:r>
            <a:endParaRPr lang="en-US" sz="1700" dirty="0"/>
          </a:p>
        </p:txBody>
      </p:sp>
      <p:sp>
        <p:nvSpPr>
          <p:cNvPr id="21" name="Text 18"/>
          <p:cNvSpPr txBox="1"/>
          <p:nvPr/>
        </p:nvSpPr>
        <p:spPr>
          <a:xfrm>
            <a:off x="777240" y="452628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drained by reference; the unsaid is filed</a:t>
            </a:r>
            <a:endParaRPr lang="en-US" sz="1400" dirty="0"/>
          </a:p>
        </p:txBody>
      </p:sp>
      <p:sp>
        <p:nvSpPr>
          <p:cNvPr id="22" name="Text 19"/>
          <p:cNvSpPr txBox="1"/>
          <p:nvPr/>
        </p:nvSpPr>
        <p:spPr>
          <a:xfrm>
            <a:off x="2651760" y="4023360"/>
            <a:ext cx="1280160" cy="320040"/>
          </a:xfrm>
          <a:prstGeom prst="rect">
            <a:avLst/>
          </a:prstGeom>
          <a:noFill/>
          <a:ln/>
        </p:spPr>
        <p:txBody>
          <a:bodyPr wrap="square" lIns="0" tIns="0" rIns="0" bIns="0" rtlCol="0" anchor="ctr"/>
          <a:lstStyle/>
          <a:p>
            <a:pPr algn="r" indent="0" marL="0">
              <a:buNone/>
            </a:pPr>
            <a:r>
              <a:rPr lang="en-US" sz="1100" i="1" dirty="0">
                <a:solidFill>
                  <a:srgbClr val="8FA3B8"/>
                </a:solidFill>
                <a:latin typeface="Calibri" pitchFamily="34" charset="0"/>
                <a:ea typeface="Calibri" pitchFamily="34" charset="-122"/>
                <a:cs typeface="Calibri" pitchFamily="34" charset="-120"/>
              </a:rPr>
              <a:t>Hermes</a:t>
            </a:r>
            <a:endParaRPr lang="en-US" sz="1100" dirty="0"/>
          </a:p>
        </p:txBody>
      </p:sp>
      <p:sp>
        <p:nvSpPr>
          <p:cNvPr id="23" name="Shape 20"/>
          <p:cNvSpPr/>
          <p:nvPr/>
        </p:nvSpPr>
        <p:spPr>
          <a:xfrm>
            <a:off x="4297680" y="3840480"/>
            <a:ext cx="3566160" cy="2011680"/>
          </a:xfrm>
          <a:prstGeom prst="roundRect">
            <a:avLst>
              <a:gd name="adj" fmla="val 5455"/>
            </a:avLst>
          </a:prstGeom>
          <a:solidFill>
            <a:srgbClr val="13263B"/>
          </a:solidFill>
          <a:ln w="12700">
            <a:solidFill>
              <a:srgbClr val="13263B"/>
            </a:solidFill>
            <a:prstDash val="solid"/>
          </a:ln>
        </p:spPr>
      </p:sp>
      <p:sp>
        <p:nvSpPr>
          <p:cNvPr id="24" name="Text 21"/>
          <p:cNvSpPr txBox="1"/>
          <p:nvPr/>
        </p:nvSpPr>
        <p:spPr>
          <a:xfrm>
            <a:off x="4526280" y="4005072"/>
            <a:ext cx="3154680" cy="457200"/>
          </a:xfrm>
          <a:prstGeom prst="rect">
            <a:avLst/>
          </a:prstGeom>
          <a:noFill/>
          <a:ln/>
        </p:spPr>
        <p:txBody>
          <a:bodyPr wrap="square" lIns="0" tIns="0" rIns="0" bIns="0" rtlCol="0" anchor="ctr"/>
          <a:lstStyle/>
          <a:p>
            <a:pPr indent="0" marL="0">
              <a:buNone/>
            </a:pPr>
            <a:r>
              <a:rPr lang="en-US" sz="1700" b="1" dirty="0">
                <a:solidFill>
                  <a:srgbClr val="5FBF7A"/>
                </a:solidFill>
                <a:latin typeface="Calibri" pitchFamily="34" charset="0"/>
                <a:ea typeface="Calibri" pitchFamily="34" charset="-122"/>
                <a:cs typeface="Calibri" pitchFamily="34" charset="-120"/>
              </a:rPr>
              <a:t>Handoff</a:t>
            </a:r>
            <a:endParaRPr lang="en-US" sz="1700" dirty="0"/>
          </a:p>
        </p:txBody>
      </p:sp>
      <p:sp>
        <p:nvSpPr>
          <p:cNvPr id="25" name="Text 22"/>
          <p:cNvSpPr txBox="1"/>
          <p:nvPr/>
        </p:nvSpPr>
        <p:spPr>
          <a:xfrm>
            <a:off x="4526280" y="452628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state, decisions, traps — for the next session</a:t>
            </a:r>
            <a:endParaRPr lang="en-US" sz="1400" dirty="0"/>
          </a:p>
        </p:txBody>
      </p:sp>
      <p:sp>
        <p:nvSpPr>
          <p:cNvPr id="26" name="Text 23"/>
          <p:cNvSpPr txBox="1"/>
          <p:nvPr/>
        </p:nvSpPr>
        <p:spPr>
          <a:xfrm>
            <a:off x="6400800" y="4023360"/>
            <a:ext cx="1280160" cy="320040"/>
          </a:xfrm>
          <a:prstGeom prst="rect">
            <a:avLst/>
          </a:prstGeom>
          <a:noFill/>
          <a:ln/>
        </p:spPr>
        <p:txBody>
          <a:bodyPr wrap="square" lIns="0" tIns="0" rIns="0" bIns="0" rtlCol="0" anchor="ctr"/>
          <a:lstStyle/>
          <a:p>
            <a:pPr algn="r" indent="0" marL="0">
              <a:buNone/>
            </a:pPr>
            <a:r>
              <a:rPr lang="en-US" sz="1100" i="1" dirty="0">
                <a:solidFill>
                  <a:srgbClr val="8FA3B8"/>
                </a:solidFill>
                <a:latin typeface="Calibri" pitchFamily="34" charset="0"/>
                <a:ea typeface="Calibri" pitchFamily="34" charset="-122"/>
                <a:cs typeface="Calibri" pitchFamily="34" charset="-120"/>
              </a:rPr>
              <a:t>ours</a:t>
            </a:r>
            <a:endParaRPr lang="en-US" sz="1100" dirty="0"/>
          </a:p>
        </p:txBody>
      </p:sp>
      <p:sp>
        <p:nvSpPr>
          <p:cNvPr id="27" name="Shape 24"/>
          <p:cNvSpPr/>
          <p:nvPr/>
        </p:nvSpPr>
        <p:spPr>
          <a:xfrm>
            <a:off x="8046720" y="3840480"/>
            <a:ext cx="3566160" cy="2011680"/>
          </a:xfrm>
          <a:prstGeom prst="roundRect">
            <a:avLst>
              <a:gd name="adj" fmla="val 5455"/>
            </a:avLst>
          </a:prstGeom>
          <a:solidFill>
            <a:srgbClr val="13263B"/>
          </a:solidFill>
          <a:ln w="12700">
            <a:solidFill>
              <a:srgbClr val="13263B"/>
            </a:solidFill>
            <a:prstDash val="solid"/>
          </a:ln>
        </p:spPr>
      </p:sp>
      <p:sp>
        <p:nvSpPr>
          <p:cNvPr id="28" name="Text 25"/>
          <p:cNvSpPr txBox="1"/>
          <p:nvPr/>
        </p:nvSpPr>
        <p:spPr>
          <a:xfrm>
            <a:off x="8275320" y="4005072"/>
            <a:ext cx="315468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review</a:t>
            </a:r>
            <a:endParaRPr lang="en-US" sz="1700" dirty="0"/>
          </a:p>
        </p:txBody>
      </p:sp>
      <p:sp>
        <p:nvSpPr>
          <p:cNvPr id="29" name="Text 26"/>
          <p:cNvSpPr txBox="1"/>
          <p:nvPr/>
        </p:nvSpPr>
        <p:spPr>
          <a:xfrm>
            <a:off x="8275320" y="452628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two models review; you approve the shortlist</a:t>
            </a:r>
            <a:endParaRPr lang="en-US" sz="1400" dirty="0"/>
          </a:p>
        </p:txBody>
      </p:sp>
      <p:sp>
        <p:nvSpPr>
          <p:cNvPr id="30" name="Text 27"/>
          <p:cNvSpPr txBox="1"/>
          <p:nvPr/>
        </p:nvSpPr>
        <p:spPr>
          <a:xfrm>
            <a:off x="10149840" y="4023360"/>
            <a:ext cx="1280160" cy="320040"/>
          </a:xfrm>
          <a:prstGeom prst="rect">
            <a:avLst/>
          </a:prstGeom>
          <a:noFill/>
          <a:ln/>
        </p:spPr>
        <p:txBody>
          <a:bodyPr wrap="square" lIns="0" tIns="0" rIns="0" bIns="0" rtlCol="0" anchor="ctr"/>
          <a:lstStyle/>
          <a:p>
            <a:pPr algn="r" indent="0" marL="0">
              <a:buNone/>
            </a:pPr>
            <a:r>
              <a:rPr lang="en-US" sz="1100" i="1" dirty="0">
                <a:solidFill>
                  <a:srgbClr val="8FA3B8"/>
                </a:solidFill>
                <a:latin typeface="Calibri" pitchFamily="34" charset="0"/>
                <a:ea typeface="Calibri" pitchFamily="34" charset="-122"/>
                <a:cs typeface="Calibri" pitchFamily="34" charset="-120"/>
              </a:rPr>
              <a:t>ours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20</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4 · MEASURED AND HEALED</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Value, strain and evolution, all in code</a:t>
            </a:r>
            <a:endParaRPr lang="en-US" sz="3400" dirty="0"/>
          </a:p>
        </p:txBody>
      </p:sp>
      <p:sp>
        <p:nvSpPr>
          <p:cNvPr id="7" name="Shape 4"/>
          <p:cNvSpPr/>
          <p:nvPr/>
        </p:nvSpPr>
        <p:spPr>
          <a:xfrm>
            <a:off x="548640" y="1600200"/>
            <a:ext cx="3566160" cy="2011680"/>
          </a:xfrm>
          <a:prstGeom prst="roundRect">
            <a:avLst>
              <a:gd name="adj" fmla="val 5455"/>
            </a:avLst>
          </a:prstGeom>
          <a:solidFill>
            <a:srgbClr val="13263B"/>
          </a:solidFill>
          <a:ln w="12700">
            <a:solidFill>
              <a:srgbClr val="13263B"/>
            </a:solidFill>
            <a:prstDash val="solid"/>
          </a:ln>
        </p:spPr>
      </p:sp>
      <p:sp>
        <p:nvSpPr>
          <p:cNvPr id="8" name="Text 5"/>
          <p:cNvSpPr txBox="1"/>
          <p:nvPr/>
        </p:nvSpPr>
        <p:spPr>
          <a:xfrm>
            <a:off x="777240" y="1764792"/>
            <a:ext cx="3154680" cy="457200"/>
          </a:xfrm>
          <a:prstGeom prst="rect">
            <a:avLst/>
          </a:prstGeom>
          <a:noFill/>
          <a:ln/>
        </p:spPr>
        <p:txBody>
          <a:bodyPr wrap="square" lIns="0" tIns="0" rIns="0" bIns="0" rtlCol="0" anchor="ctr"/>
          <a:lstStyle/>
          <a:p>
            <a:pPr indent="0" marL="0">
              <a:buNone/>
            </a:pPr>
            <a:r>
              <a:rPr lang="en-US" sz="1700" b="1" dirty="0">
                <a:solidFill>
                  <a:srgbClr val="5FBF7A"/>
                </a:solidFill>
                <a:latin typeface="Calibri" pitchFamily="34" charset="0"/>
                <a:ea typeface="Calibri" pitchFamily="34" charset="-122"/>
                <a:cs typeface="Calibri" pitchFamily="34" charset="-120"/>
              </a:rPr>
              <a:t>Value</a:t>
            </a:r>
            <a:endParaRPr lang="en-US" sz="1700" dirty="0"/>
          </a:p>
        </p:txBody>
      </p:sp>
      <p:sp>
        <p:nvSpPr>
          <p:cNvPr id="9" name="Text 6"/>
          <p:cNvSpPr txBox="1"/>
          <p:nvPr/>
        </p:nvSpPr>
        <p:spPr>
          <a:xfrm>
            <a:off x="777240"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each rank scored by its own job; meters on both faces</a:t>
            </a:r>
            <a:endParaRPr lang="en-US" sz="1400" dirty="0"/>
          </a:p>
        </p:txBody>
      </p:sp>
      <p:sp>
        <p:nvSpPr>
          <p:cNvPr id="10" name="Shape 7"/>
          <p:cNvSpPr/>
          <p:nvPr/>
        </p:nvSpPr>
        <p:spPr>
          <a:xfrm>
            <a:off x="4297680" y="1600200"/>
            <a:ext cx="3566160" cy="2011680"/>
          </a:xfrm>
          <a:prstGeom prst="roundRect">
            <a:avLst>
              <a:gd name="adj" fmla="val 5455"/>
            </a:avLst>
          </a:prstGeom>
          <a:solidFill>
            <a:srgbClr val="13263B"/>
          </a:solidFill>
          <a:ln w="12700">
            <a:solidFill>
              <a:srgbClr val="13263B"/>
            </a:solidFill>
            <a:prstDash val="solid"/>
          </a:ln>
        </p:spPr>
      </p:sp>
      <p:sp>
        <p:nvSpPr>
          <p:cNvPr id="11" name="Text 8"/>
          <p:cNvSpPr txBox="1"/>
          <p:nvPr/>
        </p:nvSpPr>
        <p:spPr>
          <a:xfrm>
            <a:off x="4526280" y="1764792"/>
            <a:ext cx="315468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The council</a:t>
            </a:r>
            <a:endParaRPr lang="en-US" sz="1700" dirty="0"/>
          </a:p>
        </p:txBody>
      </p:sp>
      <p:sp>
        <p:nvSpPr>
          <p:cNvPr id="12" name="Text 9"/>
          <p:cNvSpPr txBox="1"/>
          <p:nvPr/>
        </p:nvSpPr>
        <p:spPr>
          <a:xfrm>
            <a:off x="4526280"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strain 5: the manager must answer · 3 answers: to you</a:t>
            </a:r>
            <a:endParaRPr lang="en-US" sz="1400" dirty="0"/>
          </a:p>
        </p:txBody>
      </p:sp>
      <p:sp>
        <p:nvSpPr>
          <p:cNvPr id="13" name="Shape 10"/>
          <p:cNvSpPr/>
          <p:nvPr/>
        </p:nvSpPr>
        <p:spPr>
          <a:xfrm>
            <a:off x="8046720" y="1600200"/>
            <a:ext cx="3566160" cy="2011680"/>
          </a:xfrm>
          <a:prstGeom prst="roundRect">
            <a:avLst>
              <a:gd name="adj" fmla="val 5455"/>
            </a:avLst>
          </a:prstGeom>
          <a:solidFill>
            <a:srgbClr val="13263B"/>
          </a:solidFill>
          <a:ln w="12700">
            <a:solidFill>
              <a:srgbClr val="13263B"/>
            </a:solidFill>
            <a:prstDash val="solid"/>
          </a:ln>
        </p:spPr>
      </p:sp>
      <p:sp>
        <p:nvSpPr>
          <p:cNvPr id="14" name="Text 11"/>
          <p:cNvSpPr txBox="1"/>
          <p:nvPr/>
        </p:nvSpPr>
        <p:spPr>
          <a:xfrm>
            <a:off x="8275320" y="1764792"/>
            <a:ext cx="3154680" cy="457200"/>
          </a:xfrm>
          <a:prstGeom prst="rect">
            <a:avLst/>
          </a:prstGeom>
          <a:noFill/>
          <a:ln/>
        </p:spPr>
        <p:txBody>
          <a:bodyPr wrap="square" lIns="0" tIns="0" rIns="0" bIns="0" rtlCol="0" anchor="ctr"/>
          <a:lstStyle/>
          <a:p>
            <a:pPr indent="0" marL="0">
              <a:buNone/>
            </a:pPr>
            <a:r>
              <a:rPr lang="en-US" sz="1700" b="1" dirty="0">
                <a:solidFill>
                  <a:srgbClr val="E0645A"/>
                </a:solidFill>
                <a:latin typeface="Calibri" pitchFamily="34" charset="0"/>
                <a:ea typeface="Calibri" pitchFamily="34" charset="-122"/>
                <a:cs typeface="Calibri" pitchFamily="34" charset="-120"/>
              </a:rPr>
              <a:t>Relief</a:t>
            </a:r>
            <a:endParaRPr lang="en-US" sz="1700" dirty="0"/>
          </a:p>
        </p:txBody>
      </p:sp>
      <p:sp>
        <p:nvSpPr>
          <p:cNvPr id="15" name="Text 12"/>
          <p:cNvSpPr txBox="1"/>
          <p:nvPr/>
        </p:nvSpPr>
        <p:spPr>
          <a:xfrm>
            <a:off x="8275320"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strain 7: the zone is split or retired</a:t>
            </a:r>
            <a:endParaRPr lang="en-US" sz="1400" dirty="0"/>
          </a:p>
        </p:txBody>
      </p:sp>
      <p:sp>
        <p:nvSpPr>
          <p:cNvPr id="16" name="Shape 13"/>
          <p:cNvSpPr/>
          <p:nvPr/>
        </p:nvSpPr>
        <p:spPr>
          <a:xfrm>
            <a:off x="548640" y="3840480"/>
            <a:ext cx="3566160" cy="2011680"/>
          </a:xfrm>
          <a:prstGeom prst="roundRect">
            <a:avLst>
              <a:gd name="adj" fmla="val 5455"/>
            </a:avLst>
          </a:prstGeom>
          <a:solidFill>
            <a:srgbClr val="13263B"/>
          </a:solidFill>
          <a:ln w="12700">
            <a:solidFill>
              <a:srgbClr val="13263B"/>
            </a:solidFill>
            <a:prstDash val="solid"/>
          </a:ln>
        </p:spPr>
      </p:sp>
      <p:sp>
        <p:nvSpPr>
          <p:cNvPr id="17" name="Text 14"/>
          <p:cNvSpPr txBox="1"/>
          <p:nvPr/>
        </p:nvSpPr>
        <p:spPr>
          <a:xfrm>
            <a:off x="777240" y="4005072"/>
            <a:ext cx="315468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Evolution</a:t>
            </a:r>
            <a:endParaRPr lang="en-US" sz="1700" dirty="0"/>
          </a:p>
        </p:txBody>
      </p:sp>
      <p:sp>
        <p:nvSpPr>
          <p:cNvPr id="18" name="Text 15"/>
          <p:cNvSpPr txBox="1"/>
          <p:nvPr/>
        </p:nvSpPr>
        <p:spPr>
          <a:xfrm>
            <a:off x="777240" y="452628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split · mutate · rebirth — proven before it lands</a:t>
            </a:r>
            <a:endParaRPr lang="en-US" sz="1400" dirty="0"/>
          </a:p>
        </p:txBody>
      </p:sp>
      <p:sp>
        <p:nvSpPr>
          <p:cNvPr id="19" name="Shape 16"/>
          <p:cNvSpPr/>
          <p:nvPr/>
        </p:nvSpPr>
        <p:spPr>
          <a:xfrm>
            <a:off x="4297680" y="3840480"/>
            <a:ext cx="3566160" cy="2011680"/>
          </a:xfrm>
          <a:prstGeom prst="roundRect">
            <a:avLst>
              <a:gd name="adj" fmla="val 5455"/>
            </a:avLst>
          </a:prstGeom>
          <a:solidFill>
            <a:srgbClr val="13263B"/>
          </a:solidFill>
          <a:ln w="12700">
            <a:solidFill>
              <a:srgbClr val="13263B"/>
            </a:solidFill>
            <a:prstDash val="solid"/>
          </a:ln>
        </p:spPr>
      </p:sp>
      <p:sp>
        <p:nvSpPr>
          <p:cNvPr id="20" name="Text 17"/>
          <p:cNvSpPr txBox="1"/>
          <p:nvPr/>
        </p:nvSpPr>
        <p:spPr>
          <a:xfrm>
            <a:off x="4526280" y="4005072"/>
            <a:ext cx="315468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The forge</a:t>
            </a:r>
            <a:endParaRPr lang="en-US" sz="1700" dirty="0"/>
          </a:p>
        </p:txBody>
      </p:sp>
      <p:sp>
        <p:nvSpPr>
          <p:cNvPr id="21" name="Text 18"/>
          <p:cNvSpPr txBox="1"/>
          <p:nvPr/>
        </p:nvSpPr>
        <p:spPr>
          <a:xfrm>
            <a:off x="4526280" y="452628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what a run proved becomes a skill you approve</a:t>
            </a:r>
            <a:endParaRPr lang="en-US" sz="1400" dirty="0"/>
          </a:p>
        </p:txBody>
      </p:sp>
      <p:sp>
        <p:nvSpPr>
          <p:cNvPr id="22" name="Shape 19"/>
          <p:cNvSpPr/>
          <p:nvPr/>
        </p:nvSpPr>
        <p:spPr>
          <a:xfrm>
            <a:off x="8046720" y="3840480"/>
            <a:ext cx="3566160" cy="2011680"/>
          </a:xfrm>
          <a:prstGeom prst="roundRect">
            <a:avLst>
              <a:gd name="adj" fmla="val 5455"/>
            </a:avLst>
          </a:prstGeom>
          <a:solidFill>
            <a:srgbClr val="13263B"/>
          </a:solidFill>
          <a:ln w="12700">
            <a:solidFill>
              <a:srgbClr val="13263B"/>
            </a:solidFill>
            <a:prstDash val="solid"/>
          </a:ln>
        </p:spPr>
      </p:sp>
      <p:sp>
        <p:nvSpPr>
          <p:cNvPr id="23" name="Text 20"/>
          <p:cNvSpPr txBox="1"/>
          <p:nvPr/>
        </p:nvSpPr>
        <p:spPr>
          <a:xfrm>
            <a:off x="8275320" y="4005072"/>
            <a:ext cx="3154680" cy="457200"/>
          </a:xfrm>
          <a:prstGeom prst="rect">
            <a:avLst/>
          </a:prstGeom>
          <a:noFill/>
          <a:ln/>
        </p:spPr>
        <p:txBody>
          <a:bodyPr wrap="square" lIns="0" tIns="0" rIns="0" bIns="0" rtlCol="0" anchor="ctr"/>
          <a:lstStyle/>
          <a:p>
            <a:pPr indent="0" marL="0">
              <a:buNone/>
            </a:pPr>
            <a:r>
              <a:rPr lang="en-US" sz="1700" b="1" dirty="0">
                <a:solidFill>
                  <a:srgbClr val="8FA3B8"/>
                </a:solidFill>
                <a:latin typeface="Calibri" pitchFamily="34" charset="0"/>
                <a:ea typeface="Calibri" pitchFamily="34" charset="-122"/>
                <a:cs typeface="Calibri" pitchFamily="34" charset="-120"/>
              </a:rPr>
              <a:t>policy.value · .stress · .evolution</a:t>
            </a:r>
            <a:endParaRPr lang="en-US" sz="1700" dirty="0"/>
          </a:p>
        </p:txBody>
      </p:sp>
      <p:sp>
        <p:nvSpPr>
          <p:cNvPr id="24" name="Text 21"/>
          <p:cNvSpPr txBox="1"/>
          <p:nvPr/>
        </p:nvSpPr>
        <p:spPr>
          <a:xfrm>
            <a:off x="8275320" y="452628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every threshold in config; off is always shown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21</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4 · CONFIGURATION</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One file per part; secrets named, never written</a:t>
            </a:r>
            <a:endParaRPr lang="en-US" sz="3400" dirty="0"/>
          </a:p>
        </p:txBody>
      </p:sp>
      <p:sp>
        <p:nvSpPr>
          <p:cNvPr id="7" name="Shape 4"/>
          <p:cNvSpPr/>
          <p:nvPr/>
        </p:nvSpPr>
        <p:spPr>
          <a:xfrm>
            <a:off x="548640" y="1554480"/>
            <a:ext cx="4754880" cy="4480560"/>
          </a:xfrm>
          <a:prstGeom prst="roundRect">
            <a:avLst>
              <a:gd name="adj" fmla="val 2449"/>
            </a:avLst>
          </a:prstGeom>
          <a:solidFill>
            <a:srgbClr val="13263B"/>
          </a:solidFill>
          <a:ln w="12700">
            <a:solidFill>
              <a:srgbClr val="13263B"/>
            </a:solidFill>
            <a:prstDash val="solid"/>
          </a:ln>
        </p:spPr>
      </p:sp>
      <p:sp>
        <p:nvSpPr>
          <p:cNvPr id="8" name="Text 5"/>
          <p:cNvSpPr txBox="1"/>
          <p:nvPr/>
        </p:nvSpPr>
        <p:spPr>
          <a:xfrm>
            <a:off x="777240" y="1737360"/>
            <a:ext cx="4480560" cy="4114800"/>
          </a:xfrm>
          <a:prstGeom prst="rect">
            <a:avLst/>
          </a:prstGeom>
          <a:noFill/>
          <a:ln/>
        </p:spPr>
        <p:txBody>
          <a:bodyPr wrap="square" lIns="0" tIns="0" rIns="0" bIns="0" rtlCol="0" anchor="t"/>
          <a:lstStyle/>
          <a:p>
            <a:pPr indent="0" marL="0">
              <a:buNone/>
            </a:pPr>
            <a:r>
              <a:rPr lang="en-US" sz="1300" dirty="0">
                <a:solidFill>
                  <a:srgbClr val="EEF3F9"/>
                </a:solidFill>
                <a:latin typeface="Courier New" pitchFamily="34" charset="0"/>
                <a:ea typeface="Courier New" pitchFamily="34" charset="-122"/>
                <a:cs typeface="Courier New" pitchFamily="34" charset="-120"/>
              </a:rPr>
              <a:t>.agent-one/</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config.yaml</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providers.yaml    the gateway</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registry.yaml     models · tools ·</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Artifactory · images</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models.yaml       who runs on what</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guards.yaml       refused, always</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rules.yaml</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permissions.yaml</a:t>
            </a:r>
            <a:endParaRPr lang="en-US" sz="1300" dirty="0"/>
          </a:p>
        </p:txBody>
      </p:sp>
      <p:sp>
        <p:nvSpPr>
          <p:cNvPr id="9" name="Shape 6"/>
          <p:cNvSpPr/>
          <p:nvPr/>
        </p:nvSpPr>
        <p:spPr>
          <a:xfrm>
            <a:off x="5577840" y="1554480"/>
            <a:ext cx="6035040" cy="3383280"/>
          </a:xfrm>
          <a:prstGeom prst="roundRect">
            <a:avLst>
              <a:gd name="adj" fmla="val 3243"/>
            </a:avLst>
          </a:prstGeom>
          <a:solidFill>
            <a:srgbClr val="18304A"/>
          </a:solidFill>
          <a:ln w="12700">
            <a:solidFill>
              <a:srgbClr val="18304A"/>
            </a:solidFill>
            <a:prstDash val="solid"/>
          </a:ln>
        </p:spPr>
      </p:sp>
      <p:sp>
        <p:nvSpPr>
          <p:cNvPr id="10" name="Text 7"/>
          <p:cNvSpPr txBox="1"/>
          <p:nvPr/>
        </p:nvSpPr>
        <p:spPr>
          <a:xfrm>
            <a:off x="5806440" y="1737360"/>
            <a:ext cx="5669280" cy="3108960"/>
          </a:xfrm>
          <a:prstGeom prst="rect">
            <a:avLst/>
          </a:prstGeom>
          <a:noFill/>
          <a:ln/>
        </p:spPr>
        <p:txBody>
          <a:bodyPr wrap="square" lIns="0" tIns="0" rIns="0" bIns="0" rtlCol="0" anchor="t"/>
          <a:lstStyle/>
          <a:p>
            <a:pPr indent="0" marL="0">
              <a:buNone/>
            </a:pPr>
            <a:r>
              <a:rPr lang="en-US" sz="1200" dirty="0">
                <a:solidFill>
                  <a:srgbClr val="5FBF7A"/>
                </a:solidFill>
                <a:latin typeface="Courier New" pitchFamily="34" charset="0"/>
                <a:ea typeface="Courier New" pitchFamily="34" charset="-122"/>
                <a:cs typeface="Courier New" pitchFamily="34" charset="-120"/>
              </a:rPr>
              <a:t># registry.yaml</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models:</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gateway/muse-glimmer: { tier: 1 }</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gateway/glm-5-3:      { tier: 2 }</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gateway/kimi-k3:      { tier: 3 }</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packages:</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npm: https://artifactory…/npm-remote/</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pip: https://artifactory…/pypi-remote/simple</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auth: { tokenEnv: ARTIFACTORY_TOKEN }   # the name only</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policy: private-only   # nothing from elsewhere</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containers:</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image: montabouagina/kaginari:v0.3.0</a:t>
            </a:r>
            <a:endParaRPr lang="en-US" sz="1200" dirty="0"/>
          </a:p>
        </p:txBody>
      </p:sp>
      <p:sp>
        <p:nvSpPr>
          <p:cNvPr id="11" name="Shape 8"/>
          <p:cNvSpPr/>
          <p:nvPr/>
        </p:nvSpPr>
        <p:spPr>
          <a:xfrm>
            <a:off x="5577840" y="5166360"/>
            <a:ext cx="6035040" cy="384048"/>
          </a:xfrm>
          <a:prstGeom prst="roundRect">
            <a:avLst>
              <a:gd name="adj" fmla="val 50000"/>
            </a:avLst>
          </a:prstGeom>
          <a:solidFill>
            <a:srgbClr val="D4AF37"/>
          </a:solidFill>
          <a:ln w="12700">
            <a:solidFill>
              <a:srgbClr val="D4AF37"/>
            </a:solidFill>
            <a:prstDash val="solid"/>
          </a:ln>
        </p:spPr>
      </p:sp>
      <p:sp>
        <p:nvSpPr>
          <p:cNvPr id="12" name="Text 9"/>
          <p:cNvSpPr txBox="1"/>
          <p:nvPr/>
        </p:nvSpPr>
        <p:spPr>
          <a:xfrm>
            <a:off x="5577840" y="5166360"/>
            <a:ext cx="6035040" cy="384048"/>
          </a:xfrm>
          <a:prstGeom prst="rect">
            <a:avLst/>
          </a:prstGeom>
          <a:noFill/>
          <a:ln/>
        </p:spPr>
        <p:txBody>
          <a:bodyPr wrap="square" lIns="0" tIns="0" rIns="0" bIns="0" rtlCol="0" anchor="ctr"/>
          <a:lstStyle/>
          <a:p>
            <a:pPr algn="ctr" indent="0" marL="0">
              <a:buNone/>
            </a:pPr>
            <a:r>
              <a:rPr lang="en-US" sz="1300" b="1" dirty="0">
                <a:solidFill>
                  <a:srgbClr val="0B1A2B"/>
                </a:solidFill>
                <a:latin typeface="Calibri" pitchFamily="34" charset="0"/>
                <a:ea typeface="Calibri" pitchFamily="34" charset="-122"/>
                <a:cs typeface="Calibri" pitchFamily="34" charset="-120"/>
              </a:rPr>
              <a:t>agent-one config explain → every value, its file and line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22</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DEMO</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Live, on our vLLM models</a:t>
            </a:r>
            <a:endParaRPr lang="en-US" sz="3400" dirty="0"/>
          </a:p>
        </p:txBody>
      </p:sp>
      <p:sp>
        <p:nvSpPr>
          <p:cNvPr id="7" name="Shape 4"/>
          <p:cNvSpPr/>
          <p:nvPr/>
        </p:nvSpPr>
        <p:spPr>
          <a:xfrm>
            <a:off x="548640" y="1645920"/>
            <a:ext cx="2103120" cy="1188720"/>
          </a:xfrm>
          <a:prstGeom prst="roundRect">
            <a:avLst>
              <a:gd name="adj" fmla="val 9231"/>
            </a:avLst>
          </a:prstGeom>
          <a:solidFill>
            <a:srgbClr val="13263B"/>
          </a:solidFill>
          <a:ln w="12700">
            <a:solidFill>
              <a:srgbClr val="13263B"/>
            </a:solidFill>
            <a:prstDash val="solid"/>
          </a:ln>
        </p:spPr>
      </p:sp>
      <p:sp>
        <p:nvSpPr>
          <p:cNvPr id="8" name="Text 5"/>
          <p:cNvSpPr txBox="1"/>
          <p:nvPr/>
        </p:nvSpPr>
        <p:spPr>
          <a:xfrm>
            <a:off x="777240" y="1810512"/>
            <a:ext cx="169164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Agent-One</a:t>
            </a:r>
            <a:endParaRPr lang="en-US" sz="1700" dirty="0"/>
          </a:p>
        </p:txBody>
      </p:sp>
      <p:sp>
        <p:nvSpPr>
          <p:cNvPr id="9" name="Shape 6"/>
          <p:cNvSpPr/>
          <p:nvPr/>
        </p:nvSpPr>
        <p:spPr>
          <a:xfrm>
            <a:off x="2743200" y="2240280"/>
            <a:ext cx="548640" cy="0"/>
          </a:xfrm>
          <a:prstGeom prst="line">
            <a:avLst/>
          </a:prstGeom>
          <a:noFill/>
          <a:ln w="25400">
            <a:solidFill>
              <a:srgbClr val="8FA3B8"/>
            </a:solidFill>
            <a:prstDash val="solid"/>
            <a:tailEnd type="triangle"/>
          </a:ln>
        </p:spPr>
      </p:sp>
      <p:sp>
        <p:nvSpPr>
          <p:cNvPr id="10" name="Shape 7"/>
          <p:cNvSpPr/>
          <p:nvPr/>
        </p:nvSpPr>
        <p:spPr>
          <a:xfrm>
            <a:off x="3383280" y="1645920"/>
            <a:ext cx="2103120" cy="1188720"/>
          </a:xfrm>
          <a:prstGeom prst="roundRect">
            <a:avLst>
              <a:gd name="adj" fmla="val 9231"/>
            </a:avLst>
          </a:prstGeom>
          <a:solidFill>
            <a:srgbClr val="13263B"/>
          </a:solidFill>
          <a:ln w="12700">
            <a:solidFill>
              <a:srgbClr val="13263B"/>
            </a:solidFill>
            <a:prstDash val="solid"/>
          </a:ln>
        </p:spPr>
      </p:sp>
      <p:sp>
        <p:nvSpPr>
          <p:cNvPr id="11" name="Text 8"/>
          <p:cNvSpPr txBox="1"/>
          <p:nvPr/>
        </p:nvSpPr>
        <p:spPr>
          <a:xfrm>
            <a:off x="3611880" y="1810512"/>
            <a:ext cx="169164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Gateway</a:t>
            </a:r>
            <a:endParaRPr lang="en-US" sz="1700" dirty="0"/>
          </a:p>
        </p:txBody>
      </p:sp>
      <p:sp>
        <p:nvSpPr>
          <p:cNvPr id="12" name="Shape 9"/>
          <p:cNvSpPr/>
          <p:nvPr/>
        </p:nvSpPr>
        <p:spPr>
          <a:xfrm>
            <a:off x="5577840" y="2240280"/>
            <a:ext cx="548640" cy="0"/>
          </a:xfrm>
          <a:prstGeom prst="line">
            <a:avLst/>
          </a:prstGeom>
          <a:noFill/>
          <a:ln w="25400">
            <a:solidFill>
              <a:srgbClr val="8FA3B8"/>
            </a:solidFill>
            <a:prstDash val="solid"/>
            <a:tailEnd type="triangle"/>
          </a:ln>
        </p:spPr>
      </p:sp>
      <p:sp>
        <p:nvSpPr>
          <p:cNvPr id="13" name="Text 10"/>
          <p:cNvSpPr txBox="1"/>
          <p:nvPr/>
        </p:nvSpPr>
        <p:spPr>
          <a:xfrm>
            <a:off x="6217920" y="1417320"/>
            <a:ext cx="1828800" cy="274320"/>
          </a:xfrm>
          <a:prstGeom prst="rect">
            <a:avLst/>
          </a:prstGeom>
          <a:noFill/>
          <a:ln/>
        </p:spPr>
        <p:txBody>
          <a:bodyPr wrap="square" lIns="0" tIns="0" rIns="0" bIns="0" rtlCol="0" anchor="ctr"/>
          <a:lstStyle/>
          <a:p>
            <a:pPr indent="0" marL="0">
              <a:buNone/>
            </a:pPr>
            <a:r>
              <a:rPr lang="en-US" sz="1200" b="1" dirty="0">
                <a:solidFill>
                  <a:srgbClr val="8FA3B8"/>
                </a:solidFill>
                <a:latin typeface="Calibri" pitchFamily="34" charset="0"/>
                <a:ea typeface="Calibri" pitchFamily="34" charset="-122"/>
                <a:cs typeface="Calibri" pitchFamily="34" charset="-120"/>
              </a:rPr>
              <a:t>vLLM</a:t>
            </a:r>
            <a:endParaRPr lang="en-US" sz="1200" dirty="0"/>
          </a:p>
        </p:txBody>
      </p:sp>
      <p:sp>
        <p:nvSpPr>
          <p:cNvPr id="14" name="Shape 11"/>
          <p:cNvSpPr/>
          <p:nvPr/>
        </p:nvSpPr>
        <p:spPr>
          <a:xfrm>
            <a:off x="6217920" y="1737360"/>
            <a:ext cx="1737360" cy="1051560"/>
          </a:xfrm>
          <a:prstGeom prst="roundRect">
            <a:avLst>
              <a:gd name="adj" fmla="val 8696"/>
            </a:avLst>
          </a:prstGeom>
          <a:solidFill>
            <a:srgbClr val="13263B"/>
          </a:solidFill>
          <a:ln w="19050">
            <a:solidFill>
              <a:srgbClr val="8E72E6"/>
            </a:solidFill>
            <a:prstDash val="solid"/>
          </a:ln>
        </p:spPr>
      </p:sp>
      <p:sp>
        <p:nvSpPr>
          <p:cNvPr id="15" name="Text 12"/>
          <p:cNvSpPr txBox="1"/>
          <p:nvPr/>
        </p:nvSpPr>
        <p:spPr>
          <a:xfrm>
            <a:off x="6217920" y="1783080"/>
            <a:ext cx="1737360" cy="457200"/>
          </a:xfrm>
          <a:prstGeom prst="rect">
            <a:avLst/>
          </a:prstGeom>
          <a:noFill/>
          <a:ln/>
        </p:spPr>
        <p:txBody>
          <a:bodyPr wrap="square" lIns="0" tIns="0" rIns="0" bIns="0" rtlCol="0" anchor="ctr"/>
          <a:lstStyle/>
          <a:p>
            <a:pPr algn="ctr" indent="0" marL="0">
              <a:buNone/>
            </a:pPr>
            <a:r>
              <a:rPr lang="en-US" sz="1200" b="1" dirty="0">
                <a:solidFill>
                  <a:srgbClr val="EEF3F9"/>
                </a:solidFill>
                <a:latin typeface="Courier New" pitchFamily="34" charset="0"/>
                <a:ea typeface="Courier New" pitchFamily="34" charset="-122"/>
                <a:cs typeface="Courier New" pitchFamily="34" charset="-120"/>
              </a:rPr>
              <a:t>muse-glimmer</a:t>
            </a:r>
            <a:endParaRPr lang="en-US" sz="1200" dirty="0"/>
          </a:p>
        </p:txBody>
      </p:sp>
      <p:sp>
        <p:nvSpPr>
          <p:cNvPr id="16" name="Text 13"/>
          <p:cNvSpPr txBox="1"/>
          <p:nvPr/>
        </p:nvSpPr>
        <p:spPr>
          <a:xfrm>
            <a:off x="6217920" y="2240280"/>
            <a:ext cx="1737360" cy="457200"/>
          </a:xfrm>
          <a:prstGeom prst="rect">
            <a:avLst/>
          </a:prstGeom>
          <a:noFill/>
          <a:ln/>
        </p:spPr>
        <p:txBody>
          <a:bodyPr wrap="square" lIns="0" tIns="0" rIns="0" bIns="0" rtlCol="0" anchor="ctr"/>
          <a:lstStyle/>
          <a:p>
            <a:pPr algn="ctr" indent="0" marL="0">
              <a:buNone/>
            </a:pPr>
            <a:r>
              <a:rPr lang="en-US" sz="1100" dirty="0">
                <a:solidFill>
                  <a:srgbClr val="8FA3B8"/>
                </a:solidFill>
                <a:latin typeface="Calibri" pitchFamily="34" charset="0"/>
                <a:ea typeface="Calibri" pitchFamily="34" charset="-122"/>
                <a:cs typeface="Calibri" pitchFamily="34" charset="-120"/>
              </a:rPr>
              <a:t>analyst · reads</a:t>
            </a:r>
            <a:endParaRPr lang="en-US" sz="1100" dirty="0"/>
          </a:p>
        </p:txBody>
      </p:sp>
      <p:sp>
        <p:nvSpPr>
          <p:cNvPr id="17" name="Shape 14"/>
          <p:cNvSpPr/>
          <p:nvPr/>
        </p:nvSpPr>
        <p:spPr>
          <a:xfrm>
            <a:off x="8046720" y="1737360"/>
            <a:ext cx="1737360" cy="1051560"/>
          </a:xfrm>
          <a:prstGeom prst="roundRect">
            <a:avLst>
              <a:gd name="adj" fmla="val 8696"/>
            </a:avLst>
          </a:prstGeom>
          <a:solidFill>
            <a:srgbClr val="13263B"/>
          </a:solidFill>
          <a:ln w="19050">
            <a:solidFill>
              <a:srgbClr val="8E72E6"/>
            </a:solidFill>
            <a:prstDash val="solid"/>
          </a:ln>
        </p:spPr>
      </p:sp>
      <p:sp>
        <p:nvSpPr>
          <p:cNvPr id="18" name="Text 15"/>
          <p:cNvSpPr txBox="1"/>
          <p:nvPr/>
        </p:nvSpPr>
        <p:spPr>
          <a:xfrm>
            <a:off x="8046720" y="1783080"/>
            <a:ext cx="1737360" cy="457200"/>
          </a:xfrm>
          <a:prstGeom prst="rect">
            <a:avLst/>
          </a:prstGeom>
          <a:noFill/>
          <a:ln/>
        </p:spPr>
        <p:txBody>
          <a:bodyPr wrap="square" lIns="0" tIns="0" rIns="0" bIns="0" rtlCol="0" anchor="ctr"/>
          <a:lstStyle/>
          <a:p>
            <a:pPr algn="ctr" indent="0" marL="0">
              <a:buNone/>
            </a:pPr>
            <a:r>
              <a:rPr lang="en-US" sz="1200" b="1" dirty="0">
                <a:solidFill>
                  <a:srgbClr val="EEF3F9"/>
                </a:solidFill>
                <a:latin typeface="Courier New" pitchFamily="34" charset="0"/>
                <a:ea typeface="Courier New" pitchFamily="34" charset="-122"/>
                <a:cs typeface="Courier New" pitchFamily="34" charset="-120"/>
              </a:rPr>
              <a:t>glm-5-3</a:t>
            </a:r>
            <a:endParaRPr lang="en-US" sz="1200" dirty="0"/>
          </a:p>
        </p:txBody>
      </p:sp>
      <p:sp>
        <p:nvSpPr>
          <p:cNvPr id="19" name="Text 16"/>
          <p:cNvSpPr txBox="1"/>
          <p:nvPr/>
        </p:nvSpPr>
        <p:spPr>
          <a:xfrm>
            <a:off x="8046720" y="2240280"/>
            <a:ext cx="1737360" cy="457200"/>
          </a:xfrm>
          <a:prstGeom prst="rect">
            <a:avLst/>
          </a:prstGeom>
          <a:noFill/>
          <a:ln/>
        </p:spPr>
        <p:txBody>
          <a:bodyPr wrap="square" lIns="0" tIns="0" rIns="0" bIns="0" rtlCol="0" anchor="ctr"/>
          <a:lstStyle/>
          <a:p>
            <a:pPr algn="ctr" indent="0" marL="0">
              <a:buNone/>
            </a:pPr>
            <a:r>
              <a:rPr lang="en-US" sz="1100" dirty="0">
                <a:solidFill>
                  <a:srgbClr val="8FA3B8"/>
                </a:solidFill>
                <a:latin typeface="Calibri" pitchFamily="34" charset="0"/>
                <a:ea typeface="Calibri" pitchFamily="34" charset="-122"/>
                <a:cs typeface="Calibri" pitchFamily="34" charset="-120"/>
              </a:rPr>
              <a:t>judge · reviews</a:t>
            </a:r>
            <a:endParaRPr lang="en-US" sz="1100" dirty="0"/>
          </a:p>
        </p:txBody>
      </p:sp>
      <p:sp>
        <p:nvSpPr>
          <p:cNvPr id="20" name="Shape 17"/>
          <p:cNvSpPr/>
          <p:nvPr/>
        </p:nvSpPr>
        <p:spPr>
          <a:xfrm>
            <a:off x="9875520" y="1737360"/>
            <a:ext cx="1737360" cy="1051560"/>
          </a:xfrm>
          <a:prstGeom prst="roundRect">
            <a:avLst>
              <a:gd name="adj" fmla="val 8696"/>
            </a:avLst>
          </a:prstGeom>
          <a:solidFill>
            <a:srgbClr val="13263B"/>
          </a:solidFill>
          <a:ln w="19050">
            <a:solidFill>
              <a:srgbClr val="8E72E6"/>
            </a:solidFill>
            <a:prstDash val="solid"/>
          </a:ln>
        </p:spPr>
      </p:sp>
      <p:sp>
        <p:nvSpPr>
          <p:cNvPr id="21" name="Text 18"/>
          <p:cNvSpPr txBox="1"/>
          <p:nvPr/>
        </p:nvSpPr>
        <p:spPr>
          <a:xfrm>
            <a:off x="9875520" y="1783080"/>
            <a:ext cx="1737360" cy="457200"/>
          </a:xfrm>
          <a:prstGeom prst="rect">
            <a:avLst/>
          </a:prstGeom>
          <a:noFill/>
          <a:ln/>
        </p:spPr>
        <p:txBody>
          <a:bodyPr wrap="square" lIns="0" tIns="0" rIns="0" bIns="0" rtlCol="0" anchor="ctr"/>
          <a:lstStyle/>
          <a:p>
            <a:pPr algn="ctr" indent="0" marL="0">
              <a:buNone/>
            </a:pPr>
            <a:r>
              <a:rPr lang="en-US" sz="1200" b="1" dirty="0">
                <a:solidFill>
                  <a:srgbClr val="EEF3F9"/>
                </a:solidFill>
                <a:latin typeface="Courier New" pitchFamily="34" charset="0"/>
                <a:ea typeface="Courier New" pitchFamily="34" charset="-122"/>
                <a:cs typeface="Courier New" pitchFamily="34" charset="-120"/>
              </a:rPr>
              <a:t>kimi-k3</a:t>
            </a:r>
            <a:endParaRPr lang="en-US" sz="1200" dirty="0"/>
          </a:p>
        </p:txBody>
      </p:sp>
      <p:sp>
        <p:nvSpPr>
          <p:cNvPr id="22" name="Text 19"/>
          <p:cNvSpPr txBox="1"/>
          <p:nvPr/>
        </p:nvSpPr>
        <p:spPr>
          <a:xfrm>
            <a:off x="9875520" y="2240280"/>
            <a:ext cx="1737360" cy="457200"/>
          </a:xfrm>
          <a:prstGeom prst="rect">
            <a:avLst/>
          </a:prstGeom>
          <a:noFill/>
          <a:ln/>
        </p:spPr>
        <p:txBody>
          <a:bodyPr wrap="square" lIns="0" tIns="0" rIns="0" bIns="0" rtlCol="0" anchor="ctr"/>
          <a:lstStyle/>
          <a:p>
            <a:pPr algn="ctr" indent="0" marL="0">
              <a:buNone/>
            </a:pPr>
            <a:r>
              <a:rPr lang="en-US" sz="1100" dirty="0">
                <a:solidFill>
                  <a:srgbClr val="8FA3B8"/>
                </a:solidFill>
                <a:latin typeface="Calibri" pitchFamily="34" charset="0"/>
                <a:ea typeface="Calibri" pitchFamily="34" charset="-122"/>
                <a:cs typeface="Calibri" pitchFamily="34" charset="-120"/>
              </a:rPr>
              <a:t>drafter · session</a:t>
            </a:r>
            <a:endParaRPr lang="en-US" sz="1100" dirty="0"/>
          </a:p>
        </p:txBody>
      </p:sp>
      <p:sp>
        <p:nvSpPr>
          <p:cNvPr id="23" name="Shape 20"/>
          <p:cNvSpPr/>
          <p:nvPr/>
        </p:nvSpPr>
        <p:spPr>
          <a:xfrm>
            <a:off x="548640" y="3246120"/>
            <a:ext cx="2121408" cy="2697480"/>
          </a:xfrm>
          <a:prstGeom prst="roundRect">
            <a:avLst>
              <a:gd name="adj" fmla="val 5172"/>
            </a:avLst>
          </a:prstGeom>
          <a:solidFill>
            <a:srgbClr val="13263B"/>
          </a:solidFill>
          <a:ln w="12700">
            <a:solidFill>
              <a:srgbClr val="13263B"/>
            </a:solidFill>
            <a:prstDash val="solid"/>
          </a:ln>
        </p:spPr>
      </p:sp>
      <p:sp>
        <p:nvSpPr>
          <p:cNvPr id="24" name="Shape 21"/>
          <p:cNvSpPr/>
          <p:nvPr/>
        </p:nvSpPr>
        <p:spPr>
          <a:xfrm>
            <a:off x="731520" y="3429000"/>
            <a:ext cx="411480" cy="411480"/>
          </a:xfrm>
          <a:prstGeom prst="ellipse">
            <a:avLst/>
          </a:prstGeom>
          <a:solidFill>
            <a:srgbClr val="2BA3C7"/>
          </a:solidFill>
          <a:ln w="12700">
            <a:solidFill>
              <a:srgbClr val="2BA3C7"/>
            </a:solidFill>
            <a:prstDash val="solid"/>
          </a:ln>
        </p:spPr>
      </p:sp>
      <p:sp>
        <p:nvSpPr>
          <p:cNvPr id="25" name="Text 22"/>
          <p:cNvSpPr txBox="1"/>
          <p:nvPr/>
        </p:nvSpPr>
        <p:spPr>
          <a:xfrm>
            <a:off x="731520" y="34290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1</a:t>
            </a:r>
            <a:endParaRPr lang="en-US" sz="1500" dirty="0"/>
          </a:p>
        </p:txBody>
      </p:sp>
      <p:sp>
        <p:nvSpPr>
          <p:cNvPr id="26" name="Text 23"/>
          <p:cNvSpPr txBox="1"/>
          <p:nvPr/>
        </p:nvSpPr>
        <p:spPr>
          <a:xfrm>
            <a:off x="1280160" y="3410712"/>
            <a:ext cx="1207008" cy="457200"/>
          </a:xfrm>
          <a:prstGeom prst="rect">
            <a:avLst/>
          </a:prstGeom>
          <a:noFill/>
          <a:ln/>
        </p:spPr>
        <p:txBody>
          <a:bodyPr wrap="square" lIns="0" tIns="0" rIns="0" bIns="0" rtlCol="0" anchor="ctr"/>
          <a:lstStyle/>
          <a:p>
            <a:pPr indent="0" marL="0">
              <a:buNone/>
            </a:pPr>
            <a:r>
              <a:rPr lang="en-US" sz="1500" b="1" dirty="0">
                <a:solidFill>
                  <a:srgbClr val="2BA3C7"/>
                </a:solidFill>
                <a:latin typeface="Calibri" pitchFamily="34" charset="0"/>
                <a:ea typeface="Calibri" pitchFamily="34" charset="-122"/>
                <a:cs typeface="Calibri" pitchFamily="34" charset="-120"/>
              </a:rPr>
              <a:t>status</a:t>
            </a:r>
            <a:endParaRPr lang="en-US" sz="1500" dirty="0"/>
          </a:p>
        </p:txBody>
      </p:sp>
      <p:sp>
        <p:nvSpPr>
          <p:cNvPr id="27" name="Text 24"/>
          <p:cNvSpPr txBox="1"/>
          <p:nvPr/>
        </p:nvSpPr>
        <p:spPr>
          <a:xfrm>
            <a:off x="777240" y="3931920"/>
            <a:ext cx="1664208" cy="18745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every model resolved, with its file</a:t>
            </a:r>
            <a:endParaRPr lang="en-US" sz="1300" dirty="0"/>
          </a:p>
        </p:txBody>
      </p:sp>
      <p:sp>
        <p:nvSpPr>
          <p:cNvPr id="28" name="Shape 25"/>
          <p:cNvSpPr/>
          <p:nvPr/>
        </p:nvSpPr>
        <p:spPr>
          <a:xfrm>
            <a:off x="2807208" y="3246120"/>
            <a:ext cx="2121408" cy="2697480"/>
          </a:xfrm>
          <a:prstGeom prst="roundRect">
            <a:avLst>
              <a:gd name="adj" fmla="val 5172"/>
            </a:avLst>
          </a:prstGeom>
          <a:solidFill>
            <a:srgbClr val="13263B"/>
          </a:solidFill>
          <a:ln w="12700">
            <a:solidFill>
              <a:srgbClr val="13263B"/>
            </a:solidFill>
            <a:prstDash val="solid"/>
          </a:ln>
        </p:spPr>
      </p:sp>
      <p:sp>
        <p:nvSpPr>
          <p:cNvPr id="29" name="Shape 26"/>
          <p:cNvSpPr/>
          <p:nvPr/>
        </p:nvSpPr>
        <p:spPr>
          <a:xfrm>
            <a:off x="2990088" y="3429000"/>
            <a:ext cx="411480" cy="411480"/>
          </a:xfrm>
          <a:prstGeom prst="ellipse">
            <a:avLst/>
          </a:prstGeom>
          <a:solidFill>
            <a:srgbClr val="5FBF7A"/>
          </a:solidFill>
          <a:ln w="12700">
            <a:solidFill>
              <a:srgbClr val="5FBF7A"/>
            </a:solidFill>
            <a:prstDash val="solid"/>
          </a:ln>
        </p:spPr>
      </p:sp>
      <p:sp>
        <p:nvSpPr>
          <p:cNvPr id="30" name="Text 27"/>
          <p:cNvSpPr txBox="1"/>
          <p:nvPr/>
        </p:nvSpPr>
        <p:spPr>
          <a:xfrm>
            <a:off x="2990088" y="34290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2</a:t>
            </a:r>
            <a:endParaRPr lang="en-US" sz="1500" dirty="0"/>
          </a:p>
        </p:txBody>
      </p:sp>
      <p:sp>
        <p:nvSpPr>
          <p:cNvPr id="31" name="Text 28"/>
          <p:cNvSpPr txBox="1"/>
          <p:nvPr/>
        </p:nvSpPr>
        <p:spPr>
          <a:xfrm>
            <a:off x="3538728" y="3410712"/>
            <a:ext cx="1207008" cy="457200"/>
          </a:xfrm>
          <a:prstGeom prst="rect">
            <a:avLst/>
          </a:prstGeom>
          <a:noFill/>
          <a:ln/>
        </p:spPr>
        <p:txBody>
          <a:bodyPr wrap="square" lIns="0" tIns="0" rIns="0" bIns="0" rtlCol="0" anchor="ctr"/>
          <a:lstStyle/>
          <a:p>
            <a:pPr indent="0" marL="0">
              <a:buNone/>
            </a:pPr>
            <a:r>
              <a:rPr lang="en-US" sz="1500" b="1" dirty="0">
                <a:solidFill>
                  <a:srgbClr val="5FBF7A"/>
                </a:solidFill>
                <a:latin typeface="Calibri" pitchFamily="34" charset="0"/>
                <a:ea typeface="Calibri" pitchFamily="34" charset="-122"/>
                <a:cs typeface="Calibri" pitchFamily="34" charset="-120"/>
              </a:rPr>
              <a:t>A real task</a:t>
            </a:r>
            <a:endParaRPr lang="en-US" sz="1500" dirty="0"/>
          </a:p>
        </p:txBody>
      </p:sp>
      <p:sp>
        <p:nvSpPr>
          <p:cNvPr id="32" name="Text 29"/>
          <p:cNvSpPr txBox="1"/>
          <p:nvPr/>
        </p:nvSpPr>
        <p:spPr>
          <a:xfrm>
            <a:off x="3035808" y="3931920"/>
            <a:ext cx="1664208" cy="18745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thinking streams; tools as cards; diffs</a:t>
            </a:r>
            <a:endParaRPr lang="en-US" sz="1300" dirty="0"/>
          </a:p>
        </p:txBody>
      </p:sp>
      <p:sp>
        <p:nvSpPr>
          <p:cNvPr id="33" name="Shape 30"/>
          <p:cNvSpPr/>
          <p:nvPr/>
        </p:nvSpPr>
        <p:spPr>
          <a:xfrm>
            <a:off x="5065776" y="3246120"/>
            <a:ext cx="2121408" cy="2697480"/>
          </a:xfrm>
          <a:prstGeom prst="roundRect">
            <a:avLst>
              <a:gd name="adj" fmla="val 5172"/>
            </a:avLst>
          </a:prstGeom>
          <a:solidFill>
            <a:srgbClr val="13263B"/>
          </a:solidFill>
          <a:ln w="12700">
            <a:solidFill>
              <a:srgbClr val="13263B"/>
            </a:solidFill>
            <a:prstDash val="solid"/>
          </a:ln>
        </p:spPr>
      </p:sp>
      <p:sp>
        <p:nvSpPr>
          <p:cNvPr id="34" name="Shape 31"/>
          <p:cNvSpPr/>
          <p:nvPr/>
        </p:nvSpPr>
        <p:spPr>
          <a:xfrm>
            <a:off x="5248656" y="3429000"/>
            <a:ext cx="411480" cy="411480"/>
          </a:xfrm>
          <a:prstGeom prst="ellipse">
            <a:avLst/>
          </a:prstGeom>
          <a:solidFill>
            <a:srgbClr val="8E72E6"/>
          </a:solidFill>
          <a:ln w="12700">
            <a:solidFill>
              <a:srgbClr val="8E72E6"/>
            </a:solidFill>
            <a:prstDash val="solid"/>
          </a:ln>
        </p:spPr>
      </p:sp>
      <p:sp>
        <p:nvSpPr>
          <p:cNvPr id="35" name="Text 32"/>
          <p:cNvSpPr txBox="1"/>
          <p:nvPr/>
        </p:nvSpPr>
        <p:spPr>
          <a:xfrm>
            <a:off x="5248656" y="34290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3</a:t>
            </a:r>
            <a:endParaRPr lang="en-US" sz="1500" dirty="0"/>
          </a:p>
        </p:txBody>
      </p:sp>
      <p:sp>
        <p:nvSpPr>
          <p:cNvPr id="36" name="Text 33"/>
          <p:cNvSpPr txBox="1"/>
          <p:nvPr/>
        </p:nvSpPr>
        <p:spPr>
          <a:xfrm>
            <a:off x="5797296" y="3410712"/>
            <a:ext cx="1207008" cy="457200"/>
          </a:xfrm>
          <a:prstGeom prst="rect">
            <a:avLst/>
          </a:prstGeom>
          <a:noFill/>
          <a:ln/>
        </p:spPr>
        <p:txBody>
          <a:bodyPr wrap="square" lIns="0" tIns="0" rIns="0" bIns="0" rtlCol="0" anchor="ctr"/>
          <a:lstStyle/>
          <a:p>
            <a:pPr indent="0" marL="0">
              <a:buNone/>
            </a:pPr>
            <a:r>
              <a:rPr lang="en-US" sz="1500" b="1" dirty="0">
                <a:solidFill>
                  <a:srgbClr val="8E72E6"/>
                </a:solidFill>
                <a:latin typeface="Calibri" pitchFamily="34" charset="0"/>
                <a:ea typeface="Calibri" pitchFamily="34" charset="-122"/>
                <a:cs typeface="Calibri" pitchFamily="34" charset="-120"/>
              </a:rPr>
              <a:t>A sub-agent</a:t>
            </a:r>
            <a:endParaRPr lang="en-US" sz="1500" dirty="0"/>
          </a:p>
        </p:txBody>
      </p:sp>
      <p:sp>
        <p:nvSpPr>
          <p:cNvPr id="37" name="Text 34"/>
          <p:cNvSpPr txBox="1"/>
          <p:nvPr/>
        </p:nvSpPr>
        <p:spPr>
          <a:xfrm>
            <a:off x="5294376" y="3931920"/>
            <a:ext cx="1664208" cy="18745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ctrl+t — watch it work</a:t>
            </a:r>
            <a:endParaRPr lang="en-US" sz="1300" dirty="0"/>
          </a:p>
        </p:txBody>
      </p:sp>
      <p:sp>
        <p:nvSpPr>
          <p:cNvPr id="38" name="Shape 35"/>
          <p:cNvSpPr/>
          <p:nvPr/>
        </p:nvSpPr>
        <p:spPr>
          <a:xfrm>
            <a:off x="7324344" y="3246120"/>
            <a:ext cx="2121408" cy="2697480"/>
          </a:xfrm>
          <a:prstGeom prst="roundRect">
            <a:avLst>
              <a:gd name="adj" fmla="val 5172"/>
            </a:avLst>
          </a:prstGeom>
          <a:solidFill>
            <a:srgbClr val="13263B"/>
          </a:solidFill>
          <a:ln w="12700">
            <a:solidFill>
              <a:srgbClr val="13263B"/>
            </a:solidFill>
            <a:prstDash val="solid"/>
          </a:ln>
        </p:spPr>
      </p:sp>
      <p:sp>
        <p:nvSpPr>
          <p:cNvPr id="39" name="Shape 36"/>
          <p:cNvSpPr/>
          <p:nvPr/>
        </p:nvSpPr>
        <p:spPr>
          <a:xfrm>
            <a:off x="7507224" y="3429000"/>
            <a:ext cx="411480" cy="411480"/>
          </a:xfrm>
          <a:prstGeom prst="ellipse">
            <a:avLst/>
          </a:prstGeom>
          <a:solidFill>
            <a:srgbClr val="D4AF37"/>
          </a:solidFill>
          <a:ln w="12700">
            <a:solidFill>
              <a:srgbClr val="D4AF37"/>
            </a:solidFill>
            <a:prstDash val="solid"/>
          </a:ln>
        </p:spPr>
      </p:sp>
      <p:sp>
        <p:nvSpPr>
          <p:cNvPr id="40" name="Text 37"/>
          <p:cNvSpPr txBox="1"/>
          <p:nvPr/>
        </p:nvSpPr>
        <p:spPr>
          <a:xfrm>
            <a:off x="7507224" y="34290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4</a:t>
            </a:r>
            <a:endParaRPr lang="en-US" sz="1500" dirty="0"/>
          </a:p>
        </p:txBody>
      </p:sp>
      <p:sp>
        <p:nvSpPr>
          <p:cNvPr id="41" name="Text 38"/>
          <p:cNvSpPr txBox="1"/>
          <p:nvPr/>
        </p:nvSpPr>
        <p:spPr>
          <a:xfrm>
            <a:off x="8055864" y="3410712"/>
            <a:ext cx="1207008" cy="457200"/>
          </a:xfrm>
          <a:prstGeom prst="rect">
            <a:avLst/>
          </a:prstGeom>
          <a:noFill/>
          <a:ln/>
        </p:spPr>
        <p:txBody>
          <a:bodyPr wrap="square" lIns="0" tIns="0" rIns="0" bIns="0" rtlCol="0" anchor="ctr"/>
          <a:lstStyle/>
          <a:p>
            <a:pPr indent="0" marL="0">
              <a:buNone/>
            </a:pPr>
            <a:r>
              <a:rPr lang="en-US" sz="1500" b="1" dirty="0">
                <a:solidFill>
                  <a:srgbClr val="D4AF37"/>
                </a:solidFill>
                <a:latin typeface="Calibri" pitchFamily="34" charset="0"/>
                <a:ea typeface="Calibri" pitchFamily="34" charset="-122"/>
                <a:cs typeface="Calibri" pitchFamily="34" charset="-120"/>
              </a:rPr>
              <a:t>The review gate</a:t>
            </a:r>
            <a:endParaRPr lang="en-US" sz="1500" dirty="0"/>
          </a:p>
        </p:txBody>
      </p:sp>
      <p:sp>
        <p:nvSpPr>
          <p:cNvPr id="42" name="Text 39"/>
          <p:cNvSpPr txBox="1"/>
          <p:nvPr/>
        </p:nvSpPr>
        <p:spPr>
          <a:xfrm>
            <a:off x="7552944" y="3931920"/>
            <a:ext cx="1664208" cy="18745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the domain owner's verdict, in the log</a:t>
            </a:r>
            <a:endParaRPr lang="en-US" sz="1300" dirty="0"/>
          </a:p>
        </p:txBody>
      </p:sp>
      <p:sp>
        <p:nvSpPr>
          <p:cNvPr id="43" name="Shape 40"/>
          <p:cNvSpPr/>
          <p:nvPr/>
        </p:nvSpPr>
        <p:spPr>
          <a:xfrm>
            <a:off x="9582912" y="3246120"/>
            <a:ext cx="2121408" cy="2697480"/>
          </a:xfrm>
          <a:prstGeom prst="roundRect">
            <a:avLst>
              <a:gd name="adj" fmla="val 5172"/>
            </a:avLst>
          </a:prstGeom>
          <a:solidFill>
            <a:srgbClr val="13263B"/>
          </a:solidFill>
          <a:ln w="12700">
            <a:solidFill>
              <a:srgbClr val="13263B"/>
            </a:solidFill>
            <a:prstDash val="solid"/>
          </a:ln>
        </p:spPr>
      </p:sp>
      <p:sp>
        <p:nvSpPr>
          <p:cNvPr id="44" name="Shape 41"/>
          <p:cNvSpPr/>
          <p:nvPr/>
        </p:nvSpPr>
        <p:spPr>
          <a:xfrm>
            <a:off x="9765792" y="3429000"/>
            <a:ext cx="411480" cy="411480"/>
          </a:xfrm>
          <a:prstGeom prst="ellipse">
            <a:avLst/>
          </a:prstGeom>
          <a:solidFill>
            <a:srgbClr val="E0645A"/>
          </a:solidFill>
          <a:ln w="12700">
            <a:solidFill>
              <a:srgbClr val="E0645A"/>
            </a:solidFill>
            <a:prstDash val="solid"/>
          </a:ln>
        </p:spPr>
      </p:sp>
      <p:sp>
        <p:nvSpPr>
          <p:cNvPr id="45" name="Text 42"/>
          <p:cNvSpPr txBox="1"/>
          <p:nvPr/>
        </p:nvSpPr>
        <p:spPr>
          <a:xfrm>
            <a:off x="9765792" y="34290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5</a:t>
            </a:r>
            <a:endParaRPr lang="en-US" sz="1500" dirty="0"/>
          </a:p>
        </p:txBody>
      </p:sp>
      <p:sp>
        <p:nvSpPr>
          <p:cNvPr id="46" name="Text 43"/>
          <p:cNvSpPr txBox="1"/>
          <p:nvPr/>
        </p:nvSpPr>
        <p:spPr>
          <a:xfrm>
            <a:off x="10314432" y="3410712"/>
            <a:ext cx="1207008" cy="457200"/>
          </a:xfrm>
          <a:prstGeom prst="rect">
            <a:avLst/>
          </a:prstGeom>
          <a:noFill/>
          <a:ln/>
        </p:spPr>
        <p:txBody>
          <a:bodyPr wrap="square" lIns="0" tIns="0" rIns="0" bIns="0" rtlCol="0" anchor="ctr"/>
          <a:lstStyle/>
          <a:p>
            <a:pPr indent="0" marL="0">
              <a:buNone/>
            </a:pPr>
            <a:r>
              <a:rPr lang="en-US" sz="1500" b="1" dirty="0">
                <a:solidFill>
                  <a:srgbClr val="E0645A"/>
                </a:solidFill>
                <a:latin typeface="Calibri" pitchFamily="34" charset="0"/>
                <a:ea typeface="Calibri" pitchFamily="34" charset="-122"/>
                <a:cs typeface="Calibri" pitchFamily="34" charset="-120"/>
              </a:rPr>
              <a:t>The guard</a:t>
            </a:r>
            <a:endParaRPr lang="en-US" sz="1500" dirty="0"/>
          </a:p>
        </p:txBody>
      </p:sp>
      <p:sp>
        <p:nvSpPr>
          <p:cNvPr id="47" name="Text 44"/>
          <p:cNvSpPr txBox="1"/>
          <p:nvPr/>
        </p:nvSpPr>
        <p:spPr>
          <a:xfrm>
            <a:off x="9811512" y="3931920"/>
            <a:ext cx="1664208" cy="18745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"delete ~" — refused before any question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FROM THE LLM TO THE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23</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TAKEAWAYS</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Three things to remember</a:t>
            </a:r>
            <a:endParaRPr lang="en-US" sz="3400" dirty="0"/>
          </a:p>
        </p:txBody>
      </p:sp>
      <p:sp>
        <p:nvSpPr>
          <p:cNvPr id="7" name="Shape 4"/>
          <p:cNvSpPr/>
          <p:nvPr/>
        </p:nvSpPr>
        <p:spPr>
          <a:xfrm>
            <a:off x="548640" y="1737360"/>
            <a:ext cx="3566160" cy="2377440"/>
          </a:xfrm>
          <a:prstGeom prst="roundRect">
            <a:avLst>
              <a:gd name="adj" fmla="val 4615"/>
            </a:avLst>
          </a:prstGeom>
          <a:solidFill>
            <a:srgbClr val="13263B"/>
          </a:solidFill>
          <a:ln w="12700">
            <a:solidFill>
              <a:srgbClr val="13263B"/>
            </a:solidFill>
            <a:prstDash val="solid"/>
          </a:ln>
        </p:spPr>
      </p:sp>
      <p:sp>
        <p:nvSpPr>
          <p:cNvPr id="8" name="Shape 5"/>
          <p:cNvSpPr/>
          <p:nvPr/>
        </p:nvSpPr>
        <p:spPr>
          <a:xfrm>
            <a:off x="731520" y="1920240"/>
            <a:ext cx="411480" cy="411480"/>
          </a:xfrm>
          <a:prstGeom prst="ellipse">
            <a:avLst/>
          </a:prstGeom>
          <a:solidFill>
            <a:srgbClr val="2BA3C7"/>
          </a:solidFill>
          <a:ln w="12700">
            <a:solidFill>
              <a:srgbClr val="2BA3C7"/>
            </a:solidFill>
            <a:prstDash val="solid"/>
          </a:ln>
        </p:spPr>
      </p:sp>
      <p:sp>
        <p:nvSpPr>
          <p:cNvPr id="9" name="Text 6"/>
          <p:cNvSpPr txBox="1"/>
          <p:nvPr/>
        </p:nvSpPr>
        <p:spPr>
          <a:xfrm>
            <a:off x="731520" y="19202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1</a:t>
            </a:r>
            <a:endParaRPr lang="en-US" sz="1500" dirty="0"/>
          </a:p>
        </p:txBody>
      </p:sp>
      <p:sp>
        <p:nvSpPr>
          <p:cNvPr id="10" name="Text 7"/>
          <p:cNvSpPr txBox="1"/>
          <p:nvPr/>
        </p:nvSpPr>
        <p:spPr>
          <a:xfrm>
            <a:off x="1280160" y="1901952"/>
            <a:ext cx="265176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The harness makes it reliable</a:t>
            </a:r>
            <a:endParaRPr lang="en-US" sz="1700" dirty="0"/>
          </a:p>
        </p:txBody>
      </p:sp>
      <p:sp>
        <p:nvSpPr>
          <p:cNvPr id="11" name="Text 8"/>
          <p:cNvSpPr txBox="1"/>
          <p:nvPr/>
        </p:nvSpPr>
        <p:spPr>
          <a:xfrm>
            <a:off x="777240" y="2423160"/>
            <a:ext cx="3108960" cy="155448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same model, different harness, different results</a:t>
            </a:r>
            <a:endParaRPr lang="en-US" sz="1500" dirty="0"/>
          </a:p>
        </p:txBody>
      </p:sp>
      <p:sp>
        <p:nvSpPr>
          <p:cNvPr id="12" name="Shape 9"/>
          <p:cNvSpPr/>
          <p:nvPr/>
        </p:nvSpPr>
        <p:spPr>
          <a:xfrm>
            <a:off x="4297680" y="1737360"/>
            <a:ext cx="3566160" cy="2377440"/>
          </a:xfrm>
          <a:prstGeom prst="roundRect">
            <a:avLst>
              <a:gd name="adj" fmla="val 4615"/>
            </a:avLst>
          </a:prstGeom>
          <a:solidFill>
            <a:srgbClr val="13263B"/>
          </a:solidFill>
          <a:ln w="12700">
            <a:solidFill>
              <a:srgbClr val="13263B"/>
            </a:solidFill>
            <a:prstDash val="solid"/>
          </a:ln>
        </p:spPr>
      </p:sp>
      <p:sp>
        <p:nvSpPr>
          <p:cNvPr id="13" name="Shape 10"/>
          <p:cNvSpPr/>
          <p:nvPr/>
        </p:nvSpPr>
        <p:spPr>
          <a:xfrm>
            <a:off x="4480560" y="1920240"/>
            <a:ext cx="411480" cy="411480"/>
          </a:xfrm>
          <a:prstGeom prst="ellipse">
            <a:avLst/>
          </a:prstGeom>
          <a:solidFill>
            <a:srgbClr val="E0645A"/>
          </a:solidFill>
          <a:ln w="12700">
            <a:solidFill>
              <a:srgbClr val="E0645A"/>
            </a:solidFill>
            <a:prstDash val="solid"/>
          </a:ln>
        </p:spPr>
      </p:sp>
      <p:sp>
        <p:nvSpPr>
          <p:cNvPr id="14" name="Text 11"/>
          <p:cNvSpPr txBox="1"/>
          <p:nvPr/>
        </p:nvSpPr>
        <p:spPr>
          <a:xfrm>
            <a:off x="4480560" y="19202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2</a:t>
            </a:r>
            <a:endParaRPr lang="en-US" sz="1500" dirty="0"/>
          </a:p>
        </p:txBody>
      </p:sp>
      <p:sp>
        <p:nvSpPr>
          <p:cNvPr id="15" name="Text 12"/>
          <p:cNvSpPr txBox="1"/>
          <p:nvPr/>
        </p:nvSpPr>
        <p:spPr>
          <a:xfrm>
            <a:off x="5029200" y="1901952"/>
            <a:ext cx="2651760" cy="457200"/>
          </a:xfrm>
          <a:prstGeom prst="rect">
            <a:avLst/>
          </a:prstGeom>
          <a:noFill/>
          <a:ln/>
        </p:spPr>
        <p:txBody>
          <a:bodyPr wrap="square" lIns="0" tIns="0" rIns="0" bIns="0" rtlCol="0" anchor="ctr"/>
          <a:lstStyle/>
          <a:p>
            <a:pPr indent="0" marL="0">
              <a:buNone/>
            </a:pPr>
            <a:r>
              <a:rPr lang="en-US" sz="1700" b="1" dirty="0">
                <a:solidFill>
                  <a:srgbClr val="E0645A"/>
                </a:solidFill>
                <a:latin typeface="Calibri" pitchFamily="34" charset="0"/>
                <a:ea typeface="Calibri" pitchFamily="34" charset="-122"/>
                <a:cs typeface="Calibri" pitchFamily="34" charset="-120"/>
              </a:rPr>
              <a:t>Rules belong in code</a:t>
            </a:r>
            <a:endParaRPr lang="en-US" sz="1700" dirty="0"/>
          </a:p>
        </p:txBody>
      </p:sp>
      <p:sp>
        <p:nvSpPr>
          <p:cNvPr id="16" name="Text 13"/>
          <p:cNvSpPr txBox="1"/>
          <p:nvPr/>
        </p:nvSpPr>
        <p:spPr>
          <a:xfrm>
            <a:off x="4526280" y="2423160"/>
            <a:ext cx="3108960" cy="155448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a rule in a prompt is a wish</a:t>
            </a:r>
            <a:endParaRPr lang="en-US" sz="1500" dirty="0"/>
          </a:p>
        </p:txBody>
      </p:sp>
      <p:sp>
        <p:nvSpPr>
          <p:cNvPr id="17" name="Shape 14"/>
          <p:cNvSpPr/>
          <p:nvPr/>
        </p:nvSpPr>
        <p:spPr>
          <a:xfrm>
            <a:off x="8046720" y="1737360"/>
            <a:ext cx="3566160" cy="2377440"/>
          </a:xfrm>
          <a:prstGeom prst="roundRect">
            <a:avLst>
              <a:gd name="adj" fmla="val 4615"/>
            </a:avLst>
          </a:prstGeom>
          <a:solidFill>
            <a:srgbClr val="13263B"/>
          </a:solidFill>
          <a:ln w="12700">
            <a:solidFill>
              <a:srgbClr val="13263B"/>
            </a:solidFill>
            <a:prstDash val="solid"/>
          </a:ln>
        </p:spPr>
      </p:sp>
      <p:sp>
        <p:nvSpPr>
          <p:cNvPr id="18" name="Shape 15"/>
          <p:cNvSpPr/>
          <p:nvPr/>
        </p:nvSpPr>
        <p:spPr>
          <a:xfrm>
            <a:off x="8229600" y="1920240"/>
            <a:ext cx="411480" cy="411480"/>
          </a:xfrm>
          <a:prstGeom prst="ellipse">
            <a:avLst/>
          </a:prstGeom>
          <a:solidFill>
            <a:srgbClr val="D4AF37"/>
          </a:solidFill>
          <a:ln w="12700">
            <a:solidFill>
              <a:srgbClr val="D4AF37"/>
            </a:solidFill>
            <a:prstDash val="solid"/>
          </a:ln>
        </p:spPr>
      </p:sp>
      <p:sp>
        <p:nvSpPr>
          <p:cNvPr id="19" name="Text 16"/>
          <p:cNvSpPr txBox="1"/>
          <p:nvPr/>
        </p:nvSpPr>
        <p:spPr>
          <a:xfrm>
            <a:off x="8229600" y="19202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3</a:t>
            </a:r>
            <a:endParaRPr lang="en-US" sz="1500" dirty="0"/>
          </a:p>
        </p:txBody>
      </p:sp>
      <p:sp>
        <p:nvSpPr>
          <p:cNvPr id="20" name="Text 17"/>
          <p:cNvSpPr txBox="1"/>
          <p:nvPr/>
        </p:nvSpPr>
        <p:spPr>
          <a:xfrm>
            <a:off x="8778240" y="1901952"/>
            <a:ext cx="265176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Learning needs guardrails</a:t>
            </a:r>
            <a:endParaRPr lang="en-US" sz="1700" dirty="0"/>
          </a:p>
        </p:txBody>
      </p:sp>
      <p:sp>
        <p:nvSpPr>
          <p:cNvPr id="21" name="Text 18"/>
          <p:cNvSpPr txBox="1"/>
          <p:nvPr/>
        </p:nvSpPr>
        <p:spPr>
          <a:xfrm>
            <a:off x="8275320" y="2423160"/>
            <a:ext cx="3108960" cy="155448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memory, skills, verifiers — that can't be cheated</a:t>
            </a:r>
            <a:endParaRPr lang="en-US" sz="1500" dirty="0"/>
          </a:p>
        </p:txBody>
      </p:sp>
      <p:sp>
        <p:nvSpPr>
          <p:cNvPr id="22" name="Text 19"/>
          <p:cNvSpPr txBox="1"/>
          <p:nvPr/>
        </p:nvSpPr>
        <p:spPr>
          <a:xfrm>
            <a:off x="548640" y="4572000"/>
            <a:ext cx="10972800" cy="914400"/>
          </a:xfrm>
          <a:prstGeom prst="rect">
            <a:avLst/>
          </a:prstGeom>
          <a:noFill/>
          <a:ln/>
        </p:spPr>
        <p:txBody>
          <a:bodyPr wrap="square" lIns="0" tIns="0" rIns="0" bIns="0" rtlCol="0" anchor="ctr"/>
          <a:lstStyle/>
          <a:p>
            <a:pPr indent="0" marL="0">
              <a:buNone/>
            </a:pPr>
            <a:r>
              <a:rPr lang="en-US" sz="4000" b="1" dirty="0">
                <a:solidFill>
                  <a:srgbClr val="EEF3F9"/>
                </a:solidFill>
                <a:latin typeface="Cambria" pitchFamily="34" charset="0"/>
                <a:ea typeface="Cambria" pitchFamily="34" charset="-122"/>
                <a:cs typeface="Cambria" pitchFamily="34" charset="-120"/>
              </a:rPr>
              <a:t>Questions?</a:t>
            </a:r>
            <a:endParaRPr lang="en-US" sz="4000" dirty="0"/>
          </a:p>
        </p:txBody>
      </p:sp>
      <p:sp>
        <p:nvSpPr>
          <p:cNvPr id="23" name="Text 20"/>
          <p:cNvSpPr txBox="1"/>
          <p:nvPr/>
        </p:nvSpPr>
        <p:spPr>
          <a:xfrm>
            <a:off x="548640" y="5440680"/>
            <a:ext cx="10972800" cy="365760"/>
          </a:xfrm>
          <a:prstGeom prst="rect">
            <a:avLst/>
          </a:prstGeom>
          <a:noFill/>
          <a:ln/>
        </p:spPr>
        <p:txBody>
          <a:bodyPr wrap="square" lIns="0" tIns="0" rIns="0" bIns="0" rtlCol="0" anchor="ctr"/>
          <a:lstStyle/>
          <a:p>
            <a:pPr indent="0" marL="0">
              <a:buNone/>
            </a:pPr>
            <a:r>
              <a:rPr lang="en-US" sz="1400" dirty="0">
                <a:solidFill>
                  <a:srgbClr val="2BA3C7"/>
                </a:solidFill>
                <a:latin typeface="Courier New" pitchFamily="34" charset="0"/>
                <a:ea typeface="Courier New" pitchFamily="34" charset="-122"/>
                <a:cs typeface="Courier New" pitchFamily="34" charset="-120"/>
              </a:rPr>
              <a:t>github.com/Kaginari/agent-one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the LLM to the harness — and Agent-One</dc:title>
  <dc:subject>PptxGenJS Presentation</dc:subject>
  <dc:creator>PptxGenJS</dc:creator>
  <cp:lastModifiedBy>PptxGenJS</cp:lastModifiedBy>
  <cp:revision>1</cp:revision>
  <dcterms:created xsi:type="dcterms:W3CDTF">2026-10-11T10:15:29Z</dcterms:created>
  <dcterms:modified xsi:type="dcterms:W3CDTF">2026-10-11T10:15:29Z</dcterms:modified>
</cp:coreProperties>
</file>