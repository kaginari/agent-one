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CACACE"/>
                </a:solidFill>
                <a:latin typeface="Arial"/>
              </a:defRPr>
            </a:pPr>
            <a:r>
              <a:rPr sz="1200" b="0" i="0" u="none" strike="noStrike">
                <a:solidFill>
                  <a:srgbClr val="CACACE"/>
                </a:solidFill>
                <a:latin typeface="Arial"/>
              </a:rPr>
              <a:t>weights in each score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land / pass</c:v>
                </c:pt>
              </c:strCache>
            </c:strRef>
          </c:tx>
          <c:spPr>
            <a:solidFill>
              <a:srgbClr val="3CD6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author</c:v>
                  </c:pt>
                  <c:pt idx="1">
                    <c:v>gate</c:v>
                  </c:pt>
                  <c:pt idx="2">
                    <c:v>planner</c:v>
                  </c:pt>
                  <c:pt idx="3">
                    <c:v>steward</c:v>
                  </c:pt>
                  <c:pt idx="4">
                    <c:v>auditor</c:v>
                  </c:pt>
                  <c:pt idx="5">
                    <c:v>root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</c:v>
                </c:pt>
                <c:pt idx="1">
                  <c:v>0.2</c:v>
                </c:pt>
                <c:pt idx="2">
                  <c:v>0.2</c:v>
                </c:pt>
                <c:pt idx="3">
                  <c:v>0.3</c:v>
                </c:pt>
                <c:pt idx="4">
                  <c:v>0.3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own job signal</c:v>
                </c:pt>
              </c:strCache>
            </c:strRef>
          </c:tx>
          <c:spPr>
            <a:solidFill>
              <a:srgbClr val="FF855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author</c:v>
                  </c:pt>
                  <c:pt idx="1">
                    <c:v>gate</c:v>
                  </c:pt>
                  <c:pt idx="2">
                    <c:v>planner</c:v>
                  </c:pt>
                  <c:pt idx="3">
                    <c:v>steward</c:v>
                  </c:pt>
                  <c:pt idx="4">
                    <c:v>auditor</c:v>
                  </c:pt>
                  <c:pt idx="5">
                    <c:v>root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0.3</c:v>
                </c:pt>
                <c:pt idx="1">
                  <c:v>0.5</c:v>
                </c:pt>
                <c:pt idx="2">
                  <c:v>0.6</c:v>
                </c:pt>
                <c:pt idx="3">
                  <c:v>0.7</c:v>
                </c:pt>
                <c:pt idx="4">
                  <c:v>0.7</c:v>
                </c:pt>
                <c:pt idx="5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health of those below</c:v>
                </c:pt>
              </c:strCache>
            </c:strRef>
          </c:tx>
          <c:spPr>
            <a:solidFill>
              <a:srgbClr val="55A9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author</c:v>
                  </c:pt>
                  <c:pt idx="1">
                    <c:v>gate</c:v>
                  </c:pt>
                  <c:pt idx="2">
                    <c:v>planner</c:v>
                  </c:pt>
                  <c:pt idx="3">
                    <c:v>steward</c:v>
                  </c:pt>
                  <c:pt idx="4">
                    <c:v>auditor</c:v>
                  </c:pt>
                  <c:pt idx="5">
                    <c:v>root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0.3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penalty (holes, re-asks)</c:v>
                </c:pt>
              </c:strCache>
            </c:strRef>
          </c:tx>
          <c:spPr>
            <a:solidFill>
              <a:srgbClr val="FE81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author</c:v>
                  </c:pt>
                  <c:pt idx="1">
                    <c:v>gate</c:v>
                  </c:pt>
                  <c:pt idx="2">
                    <c:v>planner</c:v>
                  </c:pt>
                  <c:pt idx="3">
                    <c:v>steward</c:v>
                  </c:pt>
                  <c:pt idx="4">
                    <c:v>auditor</c:v>
                  </c:pt>
                  <c:pt idx="5">
                    <c:v>root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-0.1</c:v>
                </c:pt>
                <c:pt idx="1">
                  <c:v>0</c:v>
                </c:pt>
                <c:pt idx="2">
                  <c:v>-0.2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ACAC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-0.4"/>
        </c:scaling>
        <c:delete val="0"/>
        <c:axPos val="b"/>
        <c:majorGridlines>
          <c:spPr>
            <a:ln w="6350" cap="flat">
              <a:solidFill>
                <a:srgbClr val="3C3C4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3A3A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31318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CACAC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points</c:v>
                </c:pt>
              </c:strCache>
            </c:strRef>
          </c:tx>
          <c:spPr>
            <a:solidFill>
              <a:srgbClr val="3CD6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E8E8E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CD68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5A9F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E818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F855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0.6 × landRate 80</c:v>
                  </c:pt>
                  <c:pt idx="1">
                    <c:v>0.3 × gateRate 70</c:v>
                  </c:pt>
                  <c:pt idx="2">
                    <c:v>− 0.1 × holeRate 10</c:v>
                  </c:pt>
                  <c:pt idx="3">
                    <c:v>score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</c:v>
                </c:pt>
                <c:pt idx="1">
                  <c:v>21</c:v>
                </c:pt>
                <c:pt idx="2">
                  <c:v>-1</c:v>
                </c:pt>
                <c:pt idx="3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E8E8E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ACAC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-10"/>
        </c:scaling>
        <c:delete val="0"/>
        <c:axPos val="l"/>
        <c:majorGridlines>
          <c:spPr>
            <a:ln w="6350" cap="flat">
              <a:solidFill>
                <a:srgbClr val="3C3C4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3A3A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31318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CACACE"/>
                </a:solidFill>
                <a:latin typeface="Arial"/>
              </a:defRPr>
            </a:pPr>
            <a:r>
              <a:rPr sz="1200" b="0" i="0" u="none" strike="noStrike">
                <a:solidFill>
                  <a:srgbClr val="CACACE"/>
                </a:solidFill>
                <a:latin typeface="Arial"/>
              </a:rPr>
              <a:t>worked example: one body's strain over nine runs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strain</c:v>
                </c:pt>
              </c:strCache>
            </c:strRef>
          </c:tx>
          <c:spPr>
            <a:solidFill>
              <a:srgbClr val="FF8550"/>
            </a:solidFill>
            <a:ln w="38100" cap="flat">
              <a:solidFill>
                <a:srgbClr val="FF855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F8550"/>
              </a:solidFill>
              <a:ln w="9525" cap="flat">
                <a:solidFill>
                  <a:srgbClr val="FF855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  <c:pt idx="4">
                    <c:v>r5</c:v>
                  </c:pt>
                  <c:pt idx="5">
                    <c:v>r6</c:v>
                  </c:pt>
                  <c:pt idx="6">
                    <c:v>r7</c:v>
                  </c:pt>
                  <c:pt idx="7">
                    <c:v>r8</c:v>
                  </c:pt>
                  <c:pt idx="8">
                    <c:v>r9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6</c:v>
                </c:pt>
                <c:pt idx="5">
                  <c:v>8</c:v>
                </c:pt>
                <c:pt idx="6">
                  <c:v>0</c:v>
                </c:pt>
                <c:pt idx="7">
                  <c:v>0</c:v>
                </c:pt>
                <c:pt idx="8">
                  <c:v>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escalateAt 5 — warrant</c:v>
                </c:pt>
              </c:strCache>
            </c:strRef>
          </c:tx>
          <c:spPr>
            <a:solidFill>
              <a:srgbClr val="FFB300"/>
            </a:solidFill>
            <a:ln w="38100" cap="flat">
              <a:solidFill>
                <a:srgbClr val="FFB3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FB300"/>
              </a:solidFill>
              <a:ln w="9525" cap="flat">
                <a:solidFill>
                  <a:srgbClr val="FFB3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  <c:pt idx="4">
                    <c:v>r5</c:v>
                  </c:pt>
                  <c:pt idx="5">
                    <c:v>r6</c:v>
                  </c:pt>
                  <c:pt idx="6">
                    <c:v>r7</c:v>
                  </c:pt>
                  <c:pt idx="7">
                    <c:v>r8</c:v>
                  </c:pt>
                  <c:pt idx="8">
                    <c:v>r9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5</c:v>
                </c:pt>
                <c:pt idx="6">
                  <c:v>5</c:v>
                </c:pt>
                <c:pt idx="7">
                  <c:v>5</c:v>
                </c:pt>
                <c:pt idx="8">
                  <c:v>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relieveAt 7 — relief</c:v>
                </c:pt>
              </c:strCache>
            </c:strRef>
          </c:tx>
          <c:spPr>
            <a:solidFill>
              <a:srgbClr val="FE8184"/>
            </a:solidFill>
            <a:ln w="38100" cap="flat">
              <a:solidFill>
                <a:srgbClr val="FE818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E8184"/>
              </a:solidFill>
              <a:ln w="9525" cap="flat">
                <a:solidFill>
                  <a:srgbClr val="FE818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  <c:pt idx="4">
                    <c:v>r5</c:v>
                  </c:pt>
                  <c:pt idx="5">
                    <c:v>r6</c:v>
                  </c:pt>
                  <c:pt idx="6">
                    <c:v>r7</c:v>
                  </c:pt>
                  <c:pt idx="7">
                    <c:v>r8</c:v>
                  </c:pt>
                  <c:pt idx="8">
                    <c:v>r9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7</c:v>
                </c:pt>
                <c:pt idx="1">
                  <c:v>7</c:v>
                </c:pt>
                <c:pt idx="2">
                  <c:v>7</c:v>
                </c:pt>
                <c:pt idx="3">
                  <c:v>7</c:v>
                </c:pt>
                <c:pt idx="4">
                  <c:v>7</c:v>
                </c:pt>
                <c:pt idx="5">
                  <c:v>7</c:v>
                </c:pt>
                <c:pt idx="6">
                  <c:v>7</c:v>
                </c:pt>
                <c:pt idx="7">
                  <c:v>7</c:v>
                </c:pt>
                <c:pt idx="8">
                  <c:v>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ACAC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0"/>
        </c:scaling>
        <c:delete val="0"/>
        <c:axPos val="l"/>
        <c:majorGridlines>
          <c:spPr>
            <a:ln w="6350" cap="flat">
              <a:solidFill>
                <a:srgbClr val="3C3C4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3A3A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31318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CACAC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Agent-One measures two things about every agent: how well it does its own job (value), and whether it keeps failing (stress). Value is a score per family; stress is a strain count that calls a council, then relief, then evolution. This deck walks both with the engine's real defaults.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readings, one loop. Every run lands in the value ledger; a family's score turns the ledger into one number and a meter. Separately, an agent whose runs never land accrues strain. Strain past a line draws the council; further, relief changes the zone; a stressed agent whose working notes overflows evolves. And stress feeds back into the managers'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ledger is instruments/value.jsonl. Each report's status word is classed by three lists. A success the human reopens within reopenTurns turns (the same paths rewritten) is counted as a failure. Below minRecord runs an agent is shown but never ranked.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score is an expression over signals. Each signal is folded per body over the window. A signal a race never produces (a planner's planLandRate on a rank that never dispatches) is refused at load as a hole, so a score can never be built on a standing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family's default score, from value/family.go. The weights are the family's idea of its job: an author is judged on landing, a gate on verdicts that hold up, a planner on plans that land minus the re-asks a warrant forced. Any of these can be replaced per family (law.value.families) or per rank (ranks.&lt;r&gt;.value.score).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worked example, not world data: a zone worker over the 28-day window with landRate 80%, gateRate 70%, holeRate 10%. 0.6×80 + 0.3×70 − 0.1×10 = 48 + 21 − 1 = 68. The score bands (ok ≥ 70, warn ≥ 40) read it as warn; the zone worker's own meter shows landRate, 80%, which is ok (its bands are ok ≥ 80, warn ≥ 50).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Meters are what the faces draw: the terminal's races tile and the dashboard's rings. A meter is one signal with a label, a scale and bands; config replaces any of them, per family or per rank.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Strain is counted per agent: every run that never lands adds its governance sent-backs plus one, and the first clean landing clears it. This is a worked example of one agent's runs — not world data — crossing the warrant line at 5 and the relief line at 7. The working notes is the other half of stress: more than notesMax notes on a stressed agent triggers evolution.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ladder, with the defaults. At strain 5 the agent's report carries a council warrant its dispatcher must answer on its next step: instruct (rewrite the spec), split the order, or escalate. After 3 consults the run hardens to @S ESCALATE and rises to the operator. At strain 7 the council stops warning and relieves: the zone itself changes. A change to a lane's genome is never silent: it is drafted for the operator to 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Evolution is the agent healing itself. Stressed means strain at stressAt (0 reads as escalateAt), the last 3 gate verdicts failed, or a doom checkpoint — and the working notes holds more than notesMax. One arm is chosen from evidence, deterministically. Every arm is a plan of file writes staged under .agent-one/tmp/evolution, proven before it lands — new verify lines green, the ontology over the planned docs carrying no new finding — and only then swapped in. A cooldown of 10 runs separates two evolutions of one agent. Mode propose queues the plan instead: agent-one evolve list, show, apply, reject.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mechanism in config, with the defaults. Every key here is listed in status when it is switched off or set to a value that disables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tells you which agents do their job; stress tells you which ones keep breaking and makes their managers answer for it. Neither is advice to the model: both are code, journaled, and visible on the dashboard's meters and in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0C10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5394960"/>
            <a:ext cx="12188952" cy="109728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504688"/>
            <a:ext cx="12188952" cy="45720"/>
          </a:xfrm>
          <a:prstGeom prst="rect">
            <a:avLst/>
          </a:prstGeom>
          <a:solidFill>
            <a:srgbClr val="0088FF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188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8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· THE POLICY AS CODE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31520" y="17373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E8E8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Stress and value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731520" y="30632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C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harness knows an agent is struggling — and what it does about it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31520" y="39319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A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 ledger · family scores · meters · strain · council · relief · evolution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3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STRESS AND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8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E8E8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Two readings: value says how well, stress says how often it breaks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2011680"/>
            <a:ext cx="1920240" cy="146304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2011680"/>
            <a:ext cx="1920240" cy="64008"/>
          </a:xfrm>
          <a:prstGeom prst="rect">
            <a:avLst/>
          </a:prstGeom>
          <a:solidFill>
            <a:srgbClr val="55A9FF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" y="21762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5A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lands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31520" y="257860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AC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· fail · neutral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2487168" y="2743200"/>
            <a:ext cx="329184" cy="0"/>
          </a:xfrm>
          <a:prstGeom prst="line">
            <a:avLst/>
          </a:prstGeom>
          <a:noFill/>
          <a:ln w="25400">
            <a:solidFill>
              <a:srgbClr val="FF8550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2834640" y="2011680"/>
            <a:ext cx="1920240" cy="146304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834640" y="2011680"/>
            <a:ext cx="1920240" cy="64008"/>
          </a:xfrm>
          <a:prstGeom prst="rect">
            <a:avLst/>
          </a:prstGeom>
          <a:solidFill>
            <a:srgbClr val="3CD68C"/>
          </a:solidFill>
          <a:ln/>
        </p:spPr>
      </p:sp>
      <p:sp>
        <p:nvSpPr>
          <p:cNvPr id="15" name="Text 12"/>
          <p:cNvSpPr/>
          <p:nvPr/>
        </p:nvSpPr>
        <p:spPr>
          <a:xfrm>
            <a:off x="3017520" y="21762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D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017520" y="257860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AC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score per family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773168" y="2743200"/>
            <a:ext cx="329184" cy="0"/>
          </a:xfrm>
          <a:prstGeom prst="line">
            <a:avLst/>
          </a:prstGeom>
          <a:noFill/>
          <a:ln w="25400">
            <a:solidFill>
              <a:srgbClr val="FF8550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5120640" y="2011680"/>
            <a:ext cx="1920240" cy="146304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120640" y="2011680"/>
            <a:ext cx="1920240" cy="64008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20" name="Text 17"/>
          <p:cNvSpPr/>
          <p:nvPr/>
        </p:nvSpPr>
        <p:spPr>
          <a:xfrm>
            <a:off x="5303520" y="21762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303520" y="257860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AC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that never land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7059168" y="2743200"/>
            <a:ext cx="329184" cy="0"/>
          </a:xfrm>
          <a:prstGeom prst="line">
            <a:avLst/>
          </a:prstGeom>
          <a:noFill/>
          <a:ln w="25400">
            <a:solidFill>
              <a:srgbClr val="FF8550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7406640" y="2011680"/>
            <a:ext cx="1920240" cy="146304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06640" y="2011680"/>
            <a:ext cx="1920240" cy="64008"/>
          </a:xfrm>
          <a:prstGeom prst="rect">
            <a:avLst/>
          </a:prstGeom>
          <a:solidFill>
            <a:srgbClr val="FF8550"/>
          </a:solidFill>
          <a:ln/>
        </p:spPr>
      </p:sp>
      <p:sp>
        <p:nvSpPr>
          <p:cNvPr id="25" name="Text 22"/>
          <p:cNvSpPr/>
          <p:nvPr/>
        </p:nvSpPr>
        <p:spPr>
          <a:xfrm>
            <a:off x="7589520" y="21762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8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Council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7589520" y="257860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AC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manager must answer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9345168" y="2743200"/>
            <a:ext cx="329184" cy="0"/>
          </a:xfrm>
          <a:prstGeom prst="line">
            <a:avLst/>
          </a:prstGeom>
          <a:noFill/>
          <a:ln w="25400">
            <a:solidFill>
              <a:srgbClr val="FF8550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9692640" y="2011680"/>
            <a:ext cx="1920240" cy="146304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692640" y="2011680"/>
            <a:ext cx="1920240" cy="64008"/>
          </a:xfrm>
          <a:prstGeom prst="rect">
            <a:avLst/>
          </a:prstGeom>
          <a:solidFill>
            <a:srgbClr val="FE8184"/>
          </a:solidFill>
          <a:ln/>
        </p:spPr>
      </p:sp>
      <p:sp>
        <p:nvSpPr>
          <p:cNvPr id="30" name="Text 27"/>
          <p:cNvSpPr/>
          <p:nvPr/>
        </p:nvSpPr>
        <p:spPr>
          <a:xfrm>
            <a:off x="9875520" y="21762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E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Relief / evolution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9875520" y="257860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AC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zone or the agent changes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548640" y="40233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flows back into value: a domain owner's score reads the strain of the agents it dispatched (zoneHealth), a coordinator's the re-asks a warrant forced (reaskRate).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3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here is policy.value, policy.stress and policy.evolution — on by default, every switch listed when it is off.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3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STRESS AND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8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LEDGER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E8E8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Every run is one line: pass, fail or neutral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1737360"/>
            <a:ext cx="3566160" cy="201168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1737360"/>
            <a:ext cx="3566160" cy="64008"/>
          </a:xfrm>
          <a:prstGeom prst="rect">
            <a:avLst/>
          </a:prstGeom>
          <a:solidFill>
            <a:srgbClr val="3CD68C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" y="190195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D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31520" y="2304288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AC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· PASS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297680" y="1737360"/>
            <a:ext cx="3566160" cy="201168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97680" y="1737360"/>
            <a:ext cx="3566160" cy="64008"/>
          </a:xfrm>
          <a:prstGeom prst="rect">
            <a:avLst/>
          </a:prstGeom>
          <a:solidFill>
            <a:srgbClr val="FE8184"/>
          </a:solidFill>
          <a:ln/>
        </p:spPr>
      </p:sp>
      <p:sp>
        <p:nvSpPr>
          <p:cNvPr id="14" name="Text 11"/>
          <p:cNvSpPr/>
          <p:nvPr/>
        </p:nvSpPr>
        <p:spPr>
          <a:xfrm>
            <a:off x="4480560" y="190195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E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480560" y="2304288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AC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· ESCALATE · CHECKPOINT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046720" y="1737360"/>
            <a:ext cx="3566160" cy="201168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46720" y="1737360"/>
            <a:ext cx="3566160" cy="64008"/>
          </a:xfrm>
          <a:prstGeom prst="rect">
            <a:avLst/>
          </a:prstGeom>
          <a:solidFill>
            <a:srgbClr val="A3A3AD"/>
          </a:solidFill>
          <a:ln/>
        </p:spPr>
      </p:sp>
      <p:sp>
        <p:nvSpPr>
          <p:cNvPr id="18" name="Text 15"/>
          <p:cNvSpPr/>
          <p:nvPr/>
        </p:nvSpPr>
        <p:spPr>
          <a:xfrm>
            <a:off x="8229600" y="190195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3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8229600" y="2304288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AC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DENIED · INTERRUPTED · DRY · SUSPENDED — the human said no, or nothing ran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48640" y="4023360"/>
            <a:ext cx="11064240" cy="1737360"/>
          </a:xfrm>
          <a:prstGeom prst="rect">
            <a:avLst/>
          </a:prstGeom>
          <a:solidFill>
            <a:srgbClr val="131318"/>
          </a:solidFill>
          <a:ln w="9525">
            <a:solidFill>
              <a:srgbClr val="3C3C46"/>
            </a:solidFill>
          </a:ln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policy.value: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window: 28d        # how far back the score looks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reopenTurns: 3     # a pass reopened this soon counts as a fail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minRecord: 5       # runs before an agent is ranked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families: {}       # each family's score and meter (next slides)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3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STRESS AND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8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SIGNALS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E8E8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 score is built from signals the ledger folds per body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400800"/>
                <a:gridCol w="24688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8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8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counts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8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produces 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5A9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landRate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CACA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reports that landed: DONE, no fail word, no gate failed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CACA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body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5A9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holeRate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CACA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reports carrying at least one harness hole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CACA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body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5A9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gateRate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CACA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gated runs that passed the gate on the first try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CACA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authors (zone worker)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5A9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verifyGreenRate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CACA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verify lines that ran green at the gate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CACA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5A9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gateRight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CACA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verdicts held that were not overturned later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CACA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gates (domain owner)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5A9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zoneHealth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CACA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100 − the mean strain of the bodies it dispatched (% of escalateAt)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CACA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dispatchers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5A9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planLandRate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CACA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its dispatches that landed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CACA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planners (coordinator)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5A9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reaskRate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CACA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dispatches that re-commissioned a body after a warrant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CACA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5A9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askDoneRate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CACA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human's turns closed with a pass and not reopened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CACA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root (the orchestrator)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5A9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upheldRate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CACA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reports that filed findings (@F) and landed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CACA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3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STRESS AND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8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SCORES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E8E8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Each family is judged by its own job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548640" y="16459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8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· zone worker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200400" y="1645920"/>
            <a:ext cx="4023360" cy="548640"/>
          </a:xfrm>
          <a:prstGeom prst="rect">
            <a:avLst/>
          </a:prstGeom>
          <a:solidFill>
            <a:srgbClr val="202028"/>
          </a:solidFill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0.6·landRate + 0.3·gateRate − 0.1·holeRate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235915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8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· domain owner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0" y="2359152"/>
            <a:ext cx="4023360" cy="548640"/>
          </a:xfrm>
          <a:prstGeom prst="rect">
            <a:avLst/>
          </a:prstGeom>
          <a:solidFill>
            <a:srgbClr val="202028"/>
          </a:solidFill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0.5·gateRight + 0.3·zoneHealth + 0.2·landRate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307238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8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 · coordinator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200400" y="3072384"/>
            <a:ext cx="4023360" cy="548640"/>
          </a:xfrm>
          <a:prstGeom prst="rect">
            <a:avLst/>
          </a:prstGeom>
          <a:solidFill>
            <a:srgbClr val="202028"/>
          </a:solidFill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0.6·planLandRate − 0.2·reaskRate + 0.2·landRate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48640" y="378561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8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steward · service owner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200400" y="3785616"/>
            <a:ext cx="4023360" cy="548640"/>
          </a:xfrm>
          <a:prstGeom prst="rect">
            <a:avLst/>
          </a:prstGeom>
          <a:solidFill>
            <a:srgbClr val="202028"/>
          </a:solidFill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0.7·verifyGreenRate + 0.3·landRate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48640" y="449884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8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 · auditor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3200400" y="4498848"/>
            <a:ext cx="4023360" cy="548640"/>
          </a:xfrm>
          <a:prstGeom prst="rect">
            <a:avLst/>
          </a:prstGeom>
          <a:solidFill>
            <a:srgbClr val="202028"/>
          </a:solidFill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0.7·upheldRate + 0.3·passRate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48640" y="52120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8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· the orchestrator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3200400" y="5212080"/>
            <a:ext cx="4023360" cy="548640"/>
          </a:xfrm>
          <a:prstGeom prst="rect">
            <a:avLst/>
          </a:prstGeom>
          <a:solidFill>
            <a:srgbClr val="202028"/>
          </a:solidFill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askDoneRate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7406640" y="1554480"/>
          <a:ext cx="42976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3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STRESS AND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8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E8E8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zone worker, one score: 68</a:t>
            </a:r>
            <a:endParaRPr lang="en-US" sz="2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554480"/>
          <a:ext cx="667512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5"/>
          <p:cNvSpPr/>
          <p:nvPr/>
        </p:nvSpPr>
        <p:spPr>
          <a:xfrm>
            <a:off x="7498080" y="1554480"/>
            <a:ext cx="4114800" cy="205740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0" y="1554480"/>
            <a:ext cx="4114800" cy="64008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11" name="Text 7"/>
          <p:cNvSpPr/>
          <p:nvPr/>
        </p:nvSpPr>
        <p:spPr>
          <a:xfrm>
            <a:off x="7680960" y="171907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score: 68 → warn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7680960" y="2121408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AC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bands: ok ≥ 70 · warn ≥ 40 · bad below. One number to rank and tint the net.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498080" y="3794760"/>
            <a:ext cx="4114800" cy="224028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498080" y="3794760"/>
            <a:ext cx="4114800" cy="64008"/>
          </a:xfrm>
          <a:prstGeom prst="rect">
            <a:avLst/>
          </a:prstGeom>
          <a:solidFill>
            <a:srgbClr val="3CD68C"/>
          </a:solidFill>
          <a:ln/>
        </p:spPr>
      </p:sp>
      <p:sp>
        <p:nvSpPr>
          <p:cNvPr id="15" name="Text 11"/>
          <p:cNvSpPr/>
          <p:nvPr/>
        </p:nvSpPr>
        <p:spPr>
          <a:xfrm>
            <a:off x="7680960" y="39593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D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meter: landRate 80% → ok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7680960" y="4361688"/>
            <a:ext cx="3749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AC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zone worker's meter shows its own job's signal, banded ok ≥ 80 · warn ≥ 50 — what the sidebar and the dashboard draw.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3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STRESS AND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8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METERS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E8E8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 meter is one signal, banded — what the faces draw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6766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474720"/>
                <a:gridCol w="914400"/>
                <a:gridCol w="9144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signal · label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CD6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 ≥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B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warn ≥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ACA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ACAC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landRate · Landed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CD6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B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ACA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ACAC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gateRight · Gate right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CD6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B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ACA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ACAC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planLandRate · Plans landed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CD6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B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ACA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steward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ACAC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verifyGreenRate · Verify green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CD6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B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ACA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ACAC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upheldRate · Upheld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CD6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B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ACA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ACAC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askDoneRate · Asks done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CD6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B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ACA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ACAC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the score itself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CD6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B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3C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028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7589520" y="1645920"/>
            <a:ext cx="4023360" cy="4297680"/>
          </a:xfrm>
          <a:prstGeom prst="rect">
            <a:avLst/>
          </a:prstGeom>
          <a:solidFill>
            <a:srgbClr val="131318"/>
          </a:solidFill>
          <a:ln w="9525">
            <a:solidFill>
              <a:srgbClr val="3C3C46"/>
            </a:solidFill>
          </a:ln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ranks: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zone: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value: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score: "0.5*landRate + 0.5*gateRate"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meter: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signal: gateRate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bands: { ok: 85, warn: 60 }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meters: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score: { signal: score,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bands: { ok: 75, warn: 45 } }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3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STRESS AND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8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E8E8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Strain: every run that never lands adds to it; a clean landing clears it</a:t>
            </a:r>
            <a:endParaRPr lang="en-US" sz="2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554480"/>
          <a:ext cx="69494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5"/>
          <p:cNvSpPr/>
          <p:nvPr/>
        </p:nvSpPr>
        <p:spPr>
          <a:xfrm>
            <a:off x="7772400" y="1554480"/>
            <a:ext cx="3840480" cy="137160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772400" y="1554480"/>
            <a:ext cx="3840480" cy="64008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11" name="Text 7"/>
          <p:cNvSpPr/>
          <p:nvPr/>
        </p:nvSpPr>
        <p:spPr>
          <a:xfrm>
            <a:off x="7955280" y="17190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7955280" y="2121408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AC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 ended FAIL or CHECKPOINT, or the body's own word was FAIL / ESCALATE: its sent-backs + 1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772400" y="3063240"/>
            <a:ext cx="3840480" cy="128016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772400" y="3063240"/>
            <a:ext cx="3840480" cy="64008"/>
          </a:xfrm>
          <a:prstGeom prst="rect">
            <a:avLst/>
          </a:prstGeom>
          <a:solidFill>
            <a:srgbClr val="3CD68C"/>
          </a:solidFill>
          <a:ln/>
        </p:spPr>
      </p:sp>
      <p:sp>
        <p:nvSpPr>
          <p:cNvPr id="15" name="Text 11"/>
          <p:cNvSpPr/>
          <p:nvPr/>
        </p:nvSpPr>
        <p:spPr>
          <a:xfrm>
            <a:off x="7955280" y="32278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D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clears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7955280" y="3630168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AC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body's first clean landing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7772400" y="4480560"/>
            <a:ext cx="3840480" cy="155448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772400" y="4480560"/>
            <a:ext cx="3840480" cy="64008"/>
          </a:xfrm>
          <a:prstGeom prst="rect">
            <a:avLst/>
          </a:prstGeom>
          <a:solidFill>
            <a:srgbClr val="55A9FF"/>
          </a:solidFill>
          <a:ln/>
        </p:spPr>
      </p:sp>
      <p:sp>
        <p:nvSpPr>
          <p:cNvPr id="19" name="Text 15"/>
          <p:cNvSpPr/>
          <p:nvPr/>
        </p:nvSpPr>
        <p:spPr>
          <a:xfrm>
            <a:off x="7955280" y="464515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5A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 notes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7955280" y="5047488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AC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memory: over notesMax (7) notes on a stressed agent is the evolution trigger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3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STRESS AND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8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COUNCIL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E8E8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Past a line, the agent's manager must answer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1600200"/>
            <a:ext cx="2011680" cy="914400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6002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0C1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strain ≥ 5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560320" y="1600200"/>
            <a:ext cx="9052560" cy="91440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743200" y="16002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warrant  </a:t>
            </a:r>
            <a:pPr indent="0" marL="0">
              <a:buNone/>
            </a:pPr>
            <a:r>
              <a:rPr lang="en-US" sz="1400" dirty="0">
                <a:solidFill>
                  <a:srgbClr val="CAC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carries @? council warrant; the dispatcher answers @INSTRUCT, @SPLIT or @ESCALATE (sideways counsel allowed)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548640" y="2679192"/>
            <a:ext cx="2011680" cy="914400"/>
          </a:xfrm>
          <a:prstGeom prst="rect">
            <a:avLst/>
          </a:prstGeom>
          <a:solidFill>
            <a:srgbClr val="FF8550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2679192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0C1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consults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2560320" y="2679192"/>
            <a:ext cx="9052560" cy="91440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743200" y="2679192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8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 </a:t>
            </a:r>
            <a:pPr indent="0" marL="0">
              <a:buNone/>
            </a:pPr>
            <a:r>
              <a:rPr lang="en-US" sz="1400" dirty="0">
                <a:solidFill>
                  <a:srgbClr val="CAC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strained after maxConsults: the run ends @S ESCALATE and rises to the operator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3758184"/>
            <a:ext cx="2011680" cy="914400"/>
          </a:xfrm>
          <a:prstGeom prst="rect">
            <a:avLst/>
          </a:prstGeom>
          <a:solidFill>
            <a:srgbClr val="FE8184"/>
          </a:solidFill>
          <a:ln/>
        </p:spPr>
      </p:sp>
      <p:sp>
        <p:nvSpPr>
          <p:cNvPr id="17" name="Text 14"/>
          <p:cNvSpPr/>
          <p:nvPr/>
        </p:nvSpPr>
        <p:spPr>
          <a:xfrm>
            <a:off x="548640" y="3758184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0C1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strain ≥ 7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2560320" y="3758184"/>
            <a:ext cx="9052560" cy="91440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743200" y="3758184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E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relief  </a:t>
            </a:r>
            <a:pPr indent="0" marL="0">
              <a:buNone/>
            </a:pPr>
            <a:r>
              <a:rPr lang="en-US" sz="1400" dirty="0">
                <a:solidFill>
                  <a:srgbClr val="CAC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zone is wrong, not the worker: split a ≥2-prefix zone into two young ones, or retire a narrower one (memory kept, no soil)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48640" y="4837176"/>
            <a:ext cx="2011680" cy="914400"/>
          </a:xfrm>
          <a:prstGeom prst="rect">
            <a:avLst/>
          </a:prstGeom>
          <a:solidFill>
            <a:srgbClr val="A999FD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4837176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0C1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genome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2560320" y="4837176"/>
            <a:ext cx="9052560" cy="91440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743200" y="4837176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999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operator's word  </a:t>
            </a:r>
            <a:pPr indent="0" marL="0">
              <a:buNone/>
            </a:pPr>
            <a:r>
              <a:rPr lang="en-US" sz="1400" dirty="0">
                <a:solidFill>
                  <a:srgbClr val="CAC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shift of a lane's DNA is drafted to the slab, never applied silently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3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STRESS AND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8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EVOLUTION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E8E8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 stressed agent whose working notes overflows reshapes itself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1645920"/>
            <a:ext cx="3566160" cy="237744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1645920"/>
            <a:ext cx="3566160" cy="64008"/>
          </a:xfrm>
          <a:prstGeom prst="rect">
            <a:avLst/>
          </a:prstGeom>
          <a:solidFill>
            <a:srgbClr val="55A9FF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" y="18105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5A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31520" y="2212848"/>
            <a:ext cx="32004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AC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zone is large (1500 lines or 24 files) and its failures cluster: two young agents take a half each, the parent retires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297680" y="1645920"/>
            <a:ext cx="3566160" cy="237744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97680" y="1645920"/>
            <a:ext cx="3566160" cy="64008"/>
          </a:xfrm>
          <a:prstGeom prst="rect">
            <a:avLst/>
          </a:prstGeom>
          <a:solidFill>
            <a:srgbClr val="FF8550"/>
          </a:solidFill>
          <a:ln/>
        </p:spPr>
      </p:sp>
      <p:sp>
        <p:nvSpPr>
          <p:cNvPr id="14" name="Text 11"/>
          <p:cNvSpPr/>
          <p:nvPr/>
        </p:nvSpPr>
        <p:spPr>
          <a:xfrm>
            <a:off x="4480560" y="18105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8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mutate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480560" y="2212848"/>
            <a:ext cx="32004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AC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notes repeat a lesson: distilled into an invariant (and a verify line), a recurring "how" minted as a crafted skill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046720" y="1645920"/>
            <a:ext cx="3566160" cy="2377440"/>
          </a:xfrm>
          <a:prstGeom prst="rect">
            <a:avLst/>
          </a:prstGeom>
          <a:solidFill>
            <a:srgbClr val="202028"/>
          </a:solidFill>
          <a:ln w="9525">
            <a:solidFill>
              <a:srgbClr val="3C3C4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46720" y="1645920"/>
            <a:ext cx="3566160" cy="64008"/>
          </a:xfrm>
          <a:prstGeom prst="rect">
            <a:avLst/>
          </a:prstGeom>
          <a:solidFill>
            <a:srgbClr val="FE8184"/>
          </a:solidFill>
          <a:ln/>
        </p:spPr>
      </p:sp>
      <p:sp>
        <p:nvSpPr>
          <p:cNvPr id="18" name="Text 15"/>
          <p:cNvSpPr/>
          <p:nvPr/>
        </p:nvSpPr>
        <p:spPr>
          <a:xfrm>
            <a:off x="8229600" y="18105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E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rebirth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8229600" y="2212848"/>
            <a:ext cx="32004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AC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doc is stale (verify lines red, soil gone): a fresh doc from the code as it is, lessons kept, the old one in the attic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48640" y="4434840"/>
            <a:ext cx="1920240" cy="640080"/>
          </a:xfrm>
          <a:prstGeom prst="rect">
            <a:avLst/>
          </a:prstGeom>
          <a:solidFill>
            <a:srgbClr val="131318"/>
          </a:solidFill>
          <a:ln w="9525">
            <a:solidFill>
              <a:srgbClr val="3C3C4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stressed + full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487168" y="4754880"/>
            <a:ext cx="310896" cy="0"/>
          </a:xfrm>
          <a:prstGeom prst="line">
            <a:avLst/>
          </a:prstGeom>
          <a:noFill/>
          <a:ln w="25400">
            <a:solidFill>
              <a:srgbClr val="FF8550"/>
            </a:solidFill>
            <a:prstDash val="solid"/>
            <a:tailEnd type="triangle"/>
          </a:ln>
        </p:spPr>
      </p:sp>
      <p:sp>
        <p:nvSpPr>
          <p:cNvPr id="22" name="Text 19"/>
          <p:cNvSpPr/>
          <p:nvPr/>
        </p:nvSpPr>
        <p:spPr>
          <a:xfrm>
            <a:off x="2816352" y="4434840"/>
            <a:ext cx="1920240" cy="640080"/>
          </a:xfrm>
          <a:prstGeom prst="rect">
            <a:avLst/>
          </a:prstGeom>
          <a:solidFill>
            <a:srgbClr val="131318"/>
          </a:solidFill>
          <a:ln w="9525">
            <a:solidFill>
              <a:srgbClr val="3C3C4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8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 chosen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754880" y="4754880"/>
            <a:ext cx="310896" cy="0"/>
          </a:xfrm>
          <a:prstGeom prst="line">
            <a:avLst/>
          </a:prstGeom>
          <a:noFill/>
          <a:ln w="25400">
            <a:solidFill>
              <a:srgbClr val="FF8550"/>
            </a:solidFill>
            <a:prstDash val="solid"/>
            <a:tailEnd type="triangle"/>
          </a:ln>
        </p:spPr>
      </p:sp>
      <p:sp>
        <p:nvSpPr>
          <p:cNvPr id="24" name="Text 21"/>
          <p:cNvSpPr/>
          <p:nvPr/>
        </p:nvSpPr>
        <p:spPr>
          <a:xfrm>
            <a:off x="5084064" y="4434840"/>
            <a:ext cx="1920240" cy="640080"/>
          </a:xfrm>
          <a:prstGeom prst="rect">
            <a:avLst/>
          </a:prstGeom>
          <a:solidFill>
            <a:srgbClr val="131318"/>
          </a:solidFill>
          <a:ln w="9525">
            <a:solidFill>
              <a:srgbClr val="3C3C4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5A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022592" y="4754880"/>
            <a:ext cx="310896" cy="0"/>
          </a:xfrm>
          <a:prstGeom prst="line">
            <a:avLst/>
          </a:prstGeom>
          <a:noFill/>
          <a:ln w="25400">
            <a:solidFill>
              <a:srgbClr val="FF8550"/>
            </a:solidFill>
            <a:prstDash val="solid"/>
            <a:tailEnd type="triangle"/>
          </a:ln>
        </p:spPr>
      </p:sp>
      <p:sp>
        <p:nvSpPr>
          <p:cNvPr id="26" name="Text 23"/>
          <p:cNvSpPr/>
          <p:nvPr/>
        </p:nvSpPr>
        <p:spPr>
          <a:xfrm>
            <a:off x="7351776" y="4434840"/>
            <a:ext cx="1920240" cy="640080"/>
          </a:xfrm>
          <a:prstGeom prst="rect">
            <a:avLst/>
          </a:prstGeom>
          <a:solidFill>
            <a:srgbClr val="131318"/>
          </a:solidFill>
          <a:ln w="9525">
            <a:solidFill>
              <a:srgbClr val="3C3C4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D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9290304" y="4754880"/>
            <a:ext cx="310896" cy="0"/>
          </a:xfrm>
          <a:prstGeom prst="line">
            <a:avLst/>
          </a:prstGeom>
          <a:noFill/>
          <a:ln w="25400">
            <a:solidFill>
              <a:srgbClr val="FF8550"/>
            </a:solidFill>
            <a:prstDash val="solid"/>
            <a:tailEnd type="triangle"/>
          </a:ln>
        </p:spPr>
      </p:sp>
      <p:sp>
        <p:nvSpPr>
          <p:cNvPr id="28" name="Text 25"/>
          <p:cNvSpPr/>
          <p:nvPr/>
        </p:nvSpPr>
        <p:spPr>
          <a:xfrm>
            <a:off x="9619488" y="4434840"/>
            <a:ext cx="1920240" cy="640080"/>
          </a:xfrm>
          <a:prstGeom prst="rect">
            <a:avLst/>
          </a:prstGeom>
          <a:solidFill>
            <a:srgbClr val="131318"/>
          </a:solidFill>
          <a:ln w="9525">
            <a:solidFill>
              <a:srgbClr val="3C3C4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swapped in · logged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3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 auto (default) or propose · notesMax 7 · failStreak 3 · cooldownRuns 10 · arms split, mutate, rebirth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3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STRESS AND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8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E8E8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Every line of it is config — the defaults shown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548640" y="1600200"/>
            <a:ext cx="5486400" cy="4434840"/>
          </a:xfrm>
          <a:prstGeom prst="rect">
            <a:avLst/>
          </a:prstGeom>
          <a:solidFill>
            <a:srgbClr val="131318"/>
          </a:solidFill>
          <a:ln w="9525">
            <a:solidFill>
              <a:srgbClr val="3C3C46"/>
            </a:solidFill>
          </a:ln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policy: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value: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enabled: true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window: 28d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pass: [DONE, PASS]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fail: [FAIL, ESCALATE, CHECKPOINT]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neutral: [DENIED, INTERRUPTED, DRY, SUSPENDED]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reopenTurns: 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minRecord: 5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families: {}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217920" y="1600200"/>
            <a:ext cx="5394960" cy="4434840"/>
          </a:xfrm>
          <a:prstGeom prst="rect">
            <a:avLst/>
          </a:prstGeom>
          <a:solidFill>
            <a:srgbClr val="131318"/>
          </a:solidFill>
          <a:ln w="9525">
            <a:solidFill>
              <a:srgbClr val="3C3C46"/>
            </a:solidFill>
          </a:ln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policy: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stress: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escalateAt: 5     # 0 = council off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maxConsults: 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relieveAt: 7      # 0 = relief off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evolution: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enabled: true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mode: auto        # or propose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notesMax: 7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stressAt: 0       # 0 = escalateAt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failStreak: 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cooldownRuns: 10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arms: [split, mutate, rebirth]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3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AGENT-ONE ⋄ STRESS AND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31520" y="14630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E8E8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Measured, answered, healed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731520" y="2788920"/>
            <a:ext cx="109728" cy="457200"/>
          </a:xfrm>
          <a:prstGeom prst="rect">
            <a:avLst/>
          </a:prstGeom>
          <a:solidFill>
            <a:srgbClr val="3CD68C"/>
          </a:solidFill>
          <a:ln/>
        </p:spPr>
      </p:sp>
      <p:sp>
        <p:nvSpPr>
          <p:cNvPr id="8" name="Text 5"/>
          <p:cNvSpPr/>
          <p:nvPr/>
        </p:nvSpPr>
        <p:spPr>
          <a:xfrm>
            <a:off x="100584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C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— each family scored by its own job, banded on a meter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731520" y="3474720"/>
            <a:ext cx="109728" cy="457200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10" name="Text 7"/>
          <p:cNvSpPr/>
          <p:nvPr/>
        </p:nvSpPr>
        <p:spPr>
          <a:xfrm>
            <a:off x="1005840" y="34290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C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— strain from runs that never land, cleared by a clean one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731520" y="4160520"/>
            <a:ext cx="109728" cy="457200"/>
          </a:xfrm>
          <a:prstGeom prst="rect">
            <a:avLst/>
          </a:prstGeom>
          <a:solidFill>
            <a:srgbClr val="FF8550"/>
          </a:solidFill>
          <a:ln/>
        </p:spPr>
      </p:sp>
      <p:sp>
        <p:nvSpPr>
          <p:cNvPr id="12" name="Text 9"/>
          <p:cNvSpPr/>
          <p:nvPr/>
        </p:nvSpPr>
        <p:spPr>
          <a:xfrm>
            <a:off x="100584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C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council — the manager answers before the agent drowns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731520" y="4846320"/>
            <a:ext cx="109728" cy="457200"/>
          </a:xfrm>
          <a:prstGeom prst="rect">
            <a:avLst/>
          </a:prstGeom>
          <a:solidFill>
            <a:srgbClr val="FE8184"/>
          </a:solidFill>
          <a:ln/>
        </p:spPr>
      </p:sp>
      <p:sp>
        <p:nvSpPr>
          <p:cNvPr id="14" name="Text 11"/>
          <p:cNvSpPr/>
          <p:nvPr/>
        </p:nvSpPr>
        <p:spPr>
          <a:xfrm>
            <a:off x="1005840" y="48006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C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Relief and evolution — the zone or the agent changes, proven first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Agent-One — stress and value</dc:title>
  <dc:subject>PptxGenJS Presentation</dc:subject>
  <dc:creator>PptxGenJS</dc:creator>
  <cp:lastModifiedBy>PptxGenJS</cp:lastModifiedBy>
  <cp:revision>1</cp:revision>
  <dcterms:created xsi:type="dcterms:W3CDTF">2026-10-11T09:19:34Z</dcterms:created>
  <dcterms:modified xsi:type="dcterms:W3CDTF">2026-10-11T09:19:34Z</dcterms:modified>
</cp:coreProperties>
</file>